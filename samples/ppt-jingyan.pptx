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mp4" ContentType="video/mp4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10.xml" ContentType="application/vnd.openxmlformats-officedocument.presentationml.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6.xml" ContentType="application/vnd.openxmlformats-officedocument.presentationml.notesSlide+xml"/>
  <Override PartName="/ppt/slides/slide11.xml" ContentType="application/vnd.openxmlformats-officedocument.presentationml.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7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1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62" r:id="rId1"/>
  </p:sldMasterIdLst>
  <p:notesMasterIdLst>
    <p:notesMasterId r:id="rId2"/>
  </p:notesMasterIdLst>
  <p:sldIdLst>
    <p:sldId id="286" r:id="rId3"/>
    <p:sldId id="287" r:id="rId4"/>
    <p:sldId id="288" r:id="rId5"/>
    <p:sldId id="289" r:id="rId6"/>
    <p:sldId id="290" r:id="rId7"/>
    <p:sldId id="291" r:id="rId8"/>
    <p:sldId id="292" r:id="rId9"/>
    <p:sldId id="293" r:id="rId10"/>
    <p:sldId id="294" r:id="rId11"/>
    <p:sldId id="295" r:id="rId12"/>
    <p:sldId id="297" r:id="rId13"/>
    <p:sldId id="298" r:id="rId14"/>
    <p:sldId id="299" r:id="rId15"/>
    <p:sldId id="300" r:id="rId16"/>
    <p:sldId id="301" r:id="rId17"/>
  </p:sldIdLst>
  <p:sldSz type="screen16x9" cy="6858000" cx="12192000"/>
  <p:notesSz cx="6858000" cy="9144000"/>
  <p:defaultTextStyle>
    <a:defPPr>
      <a:defRPr lang="en-US"/>
    </a:defPPr>
    <a:lvl1pPr algn="l" defTabSz="914400" indent="0" mar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indent="0" marL="45720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indent="0" marL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indent="0" marL="137160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indent="0" marL="182880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indent="0" marL="228600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indent="0" marL="274320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indent="0" marL="3200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indent="0" marL="36576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20"/>
    <p:restoredTop sz="94660"/>
  </p:normalViewPr>
  <p:slideViewPr>
    <p:cSldViewPr>
      <p:cViewPr>
        <p:scale>
          <a:sx n="0" d="0"/>
          <a:sy n="0" d="0"/>
        </p:scale>
        <p:origin x="0" y="0"/>
      </p:cViewPr>
    </p:cSldViewPr>
  </p:slide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tableStyles" Target="tableStyles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57" name=""/>
        <p:cNvGrpSpPr/>
        <p:nvPr/>
      </p:nvGrpSpPr>
      <p:grpSpPr>
        <a:xfrm/>
      </p:grpSpPr>
      <p:sp>
        <p:nvSpPr>
          <p:cNvPr id="1048711" name="Header Placeholder"/>
          <p:cNvSpPr/>
          <p:nvPr>
            <p:ph type="hdr" sz="quarter"/>
          </p:nvPr>
        </p:nvSpPr>
        <p:spPr>
          <a:prstGeom prst="rect"/>
        </p:spPr>
        <p:txBody>
          <a:bodyPr/>
          <a:p/>
        </p:txBody>
      </p:sp>
      <p:sp>
        <p:nvSpPr>
          <p:cNvPr id="1048712" name="Date Placeholder"/>
          <p:cNvSpPr/>
          <p:nvPr>
            <p:ph type="dt" sz="quarter" idx="1"/>
          </p:nvPr>
        </p:nvSpPr>
        <p:spPr>
          <a:prstGeom prst="rect"/>
        </p:spPr>
        <p:txBody>
          <a:bodyPr/>
          <a:p/>
        </p:txBody>
      </p:sp>
      <p:sp>
        <p:nvSpPr>
          <p:cNvPr id="1048713" name="Slide Image Placeholder"/>
          <p:cNvSpPr/>
          <p:nvPr>
            <p:ph type="sldImg" idx="2"/>
          </p:nvPr>
        </p:nvSpPr>
        <p:spPr>
          <a:prstGeom prst="rect"/>
        </p:spPr>
        <p:txBody>
          <a:bodyPr/>
          <a:p/>
        </p:txBody>
      </p:sp>
      <p:sp>
        <p:nvSpPr>
          <p:cNvPr id="1048714" name="Notes Placeholder"/>
          <p:cNvSpPr/>
          <p:nvPr>
            <p:ph type="body" sz="quarter" idx="3"/>
          </p:nvPr>
        </p:nvSpPr>
        <p:spPr>
          <a:prstGeom prst="rect"/>
        </p:spPr>
        <p:txBody>
          <a:bodyPr/>
          <a:p/>
        </p:txBody>
      </p:sp>
      <p:sp>
        <p:nvSpPr>
          <p:cNvPr id="1048715" name="Footer Placeholder"/>
          <p:cNvSpPr/>
          <p:nvPr>
            <p:ph type="ftr" sz="quarter" idx="4"/>
          </p:nvPr>
        </p:nvSpPr>
        <p:spPr>
          <a:prstGeom prst="rect"/>
        </p:spPr>
        <p:txBody>
          <a:bodyPr/>
          <a:p/>
        </p:txBody>
      </p:sp>
      <p:sp>
        <p:nvSpPr>
          <p:cNvPr id="1048716" name="Slide Number Placeholder"/>
          <p:cNvSpPr/>
          <p:nvPr>
            <p:ph type="sldNum" sz="quarter" idx="5"/>
          </p:nvPr>
        </p:nvSpPr>
        <p:spPr>
          <a:prstGeom prst="rect"/>
        </p:spPr>
        <p:txBody>
          <a:bodyPr/>
          <a:p/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/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" name=""/>
        <p:cNvGrpSpPr/>
        <p:nvPr/>
      </p:nvGrpSpPr>
      <p:grpSpPr>
        <a:xfrm/>
      </p:grpSpPr>
      <p:sp>
        <p:nvSpPr>
          <p:cNvPr id="104858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104858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t>大家好，我是庞月宁。这次我们团队获得了陕西省电子设计竞赛一等奖，我主要负责底盘，另外两位同学分别负责视觉和 STM32。今天想和大家聊聊我们怎样提前准备、怎样一起做项目，以及整个方案的一些选型思考。</a:t>
            </a:r>
            <a:endParaRPr altLang="en-US" lang="zh-CN"/>
          </a:p>
        </p:txBody>
      </p:sp>
      <p:sp>
        <p:nvSpPr>
          <p:cNvPr id="104858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/>
      </p:grpSpPr>
      <p:sp>
        <p:nvSpPr>
          <p:cNvPr id="1048595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104859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t>这里强调我们在题目出来之前主动做了准备：复刻 2025 年 E 题时主要参考了优秀的 2025 年 TI 杯项目，也复刻了 2024 年 H 题。</a:t>
            </a:r>
            <a:endParaRPr altLang="en-US" lang="zh-CN"/>
          </a:p>
        </p:txBody>
      </p:sp>
      <p:sp>
        <p:nvSpPr>
          <p:cNvPr id="1048597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/>
      </p:grpSpPr>
      <p:sp>
        <p:nvSpPr>
          <p:cNvPr id="1048609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104861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t>这一页是给新同学的复刻建议，不假定你们当时每一步都严格这样做。我更建议大家先跑通，再看懂关键部分，最后自己改一点。参考优秀项目很有用，但只下载代码和实际把装置调起来，是两种不同的收获。</a:t>
            </a:r>
            <a:endParaRPr altLang="en-US" lang="zh-CN"/>
          </a:p>
        </p:txBody>
      </p:sp>
      <p:sp>
        <p:nvSpPr>
          <p:cNvPr id="1048611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/>
      </p:grpSpPr>
      <p:sp>
        <p:nvSpPr>
          <p:cNvPr id="1048620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104862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/>
        </p:txBody>
      </p:sp>
      <p:sp>
        <p:nvSpPr>
          <p:cNvPr id="1048622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/>
      </p:grpSpPr>
      <p:sp>
        <p:nvSpPr>
          <p:cNvPr id="1048636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104863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t>简单介绍真实分工即可：我负责底盘，一位同学负责视觉，另一位同学负责 STM32。想强调的是互相配合。</a:t>
            </a:r>
            <a:endParaRPr altLang="en-US" lang="zh-CN"/>
          </a:p>
        </p:txBody>
      </p:sp>
      <p:sp>
        <p:nvSpPr>
          <p:cNvPr id="1048638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"/>
        <p:cNvGrpSpPr/>
        <p:nvPr/>
      </p:nvGrpSpPr>
      <p:grpSpPr>
        <a:xfrm/>
      </p:grpSpPr>
      <p:sp>
        <p:nvSpPr>
          <p:cNvPr id="1048650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104865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t>硬件只讲到这个程度：MSPM0 管底盘，RK3588 和摄像头处理视觉，STM32 管执行机构。灰度用来看路线，角度传感器用来看机构转到了哪里。</a:t>
            </a:r>
            <a:endParaRPr altLang="en-US" lang="zh-CN"/>
          </a:p>
        </p:txBody>
      </p:sp>
      <p:sp>
        <p:nvSpPr>
          <p:cNvPr id="1048652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" name=""/>
        <p:cNvGrpSpPr/>
        <p:nvPr/>
      </p:nvGrpSpPr>
      <p:grpSpPr>
        <a:xfrm/>
      </p:grpSpPr>
      <p:sp>
        <p:nvSpPr>
          <p:cNvPr id="1048665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104866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t>这页是结合项目提出的选型思考。</a:t>
            </a:r>
            <a:endParaRPr altLang="en-US" lang="zh-CN"/>
          </a:p>
        </p:txBody>
      </p:sp>
      <p:sp>
        <p:nvSpPr>
          <p:cNvPr id="1048667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" name=""/>
        <p:cNvGrpSpPr/>
        <p:nvPr/>
      </p:nvGrpSpPr>
      <p:grpSpPr>
        <a:xfrm/>
      </p:grpSpPr>
      <p:sp>
        <p:nvSpPr>
          <p:cNvPr id="1048676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104867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/>
        </p:txBody>
      </p:sp>
      <p:sp>
        <p:nvSpPr>
          <p:cNvPr id="1048678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" name=""/>
        <p:cNvGrpSpPr/>
        <p:nvPr/>
      </p:nvGrpSpPr>
      <p:grpSpPr>
        <a:xfrm/>
      </p:grpSpPr>
      <p:sp>
        <p:nvSpPr>
          <p:cNvPr id="1048686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104868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t>这一页简短带过。AI 在我们的项目实践中确实有很大帮助，大家也要学会使用。可以让它解释代码、帮助梳理查错思路、整理资料。问的时候把硬件、代码和实际现象交代清楚；改完还是要上板看看结果。</a:t>
            </a:r>
            <a:endParaRPr altLang="en-US" lang="zh-CN"/>
          </a:p>
        </p:txBody>
      </p:sp>
      <p:sp>
        <p:nvSpPr>
          <p:cNvPr id="1048688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"/>
        <p:cNvGrpSpPr/>
        <p:nvPr/>
      </p:nvGrpSpPr>
      <p:grpSpPr>
        <a:xfrm/>
      </p:grpSpPr>
      <p:sp>
        <p:nvSpPr>
          <p:cNvPr id="1048700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104870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t>多动手、及时问、留记录，不给大家安排额外考核或学习指标。</a:t>
            </a:r>
            <a:endParaRPr altLang="en-US" lang="zh-CN"/>
          </a:p>
        </p:txBody>
      </p:sp>
      <p:sp>
        <p:nvSpPr>
          <p:cNvPr id="1048702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6" name=""/>
        <p:cNvGrpSpPr/>
        <p:nvPr/>
      </p:nvGrpSpPr>
      <p:grpSpPr>
        <a:xfrm/>
      </p:grpSpPr>
      <p:sp>
        <p:nvSpPr>
          <p:cNvPr id="1048708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104870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t>最后回到今天的经历：赛前主动复刻、三个人各有分工、一起完成这次 H 题项目。</a:t>
            </a:r>
            <a:endParaRPr altLang="en-US" lang="zh-CN"/>
          </a:p>
        </p:txBody>
      </p:sp>
      <p:sp>
        <p:nvSpPr>
          <p:cNvPr id="1048710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4" name=""/>
        <p:cNvGrpSpPr/>
        <p:nvPr/>
      </p:nvGrpSpPr>
      <p:grpSpPr>
        <a:xfrm/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2" name=""/>
        <p:cNvGrpSpPr/>
        <p:nvPr/>
      </p:nvGrpSpPr>
      <p:grpSpPr>
        <a:xfrm/>
      </p:grpSpPr>
    </p:spTree>
  </p:cSld>
  <p:clrMap accent1="accent1" accent2="accent2" accent3="accent3" accent4="accent4" accent5="accent5" accent6="accent6" bg1="lt1" bg2="lt2" tx1="dk1" tx2="dk2" hlink="hlink" folHlink="folHlink"/>
  <p:sldLayoutIdLst>
    <p:sldLayoutId id="2147483663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algn="l" indent="-228600" marL="228600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algn="l" indent="-228600" marL="685800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algn="l" indent="-228600" marL="1143000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algn="l" indent="-228600" marL="1600200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algn="l" indent="-228600" marL="2057400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algn="l" indent="-228600" marL="2514600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algn="l" indent="-228600" marL="2971800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algn="l" indent="-228600" marL="3429000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algn="l" indent="-228600" marL="3886200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algn="l" marL="0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algn="l" marL="457200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algn="l" marL="914400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algn="l" marL="1371600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algn="l" marL="1828800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algn="l" marL="2286000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algn="l" marL="2743200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algn="l" marL="3200400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algn="l" marL="3657600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video" Target="../media/media1.mp4"/><Relationship Id="rId2" Type="http://schemas.microsoft.com/office/2007/relationships/media" Target="../media/media1.mp4"/><Relationship Id="rId3" Type="http://schemas.openxmlformats.org/officeDocument/2006/relationships/image" Target="../media/image5.png"/><Relationship Id="rId4" Type="http://schemas.openxmlformats.org/officeDocument/2006/relationships/video" Target="../media/media2.mp4"/><Relationship Id="rId5" Type="http://schemas.microsoft.com/office/2007/relationships/media" Target="../media/media2.mp4"/><Relationship Id="rId6" Type="http://schemas.openxmlformats.org/officeDocument/2006/relationships/image" Target="../media/image6.png"/><Relationship Id="rId7" Type="http://schemas.openxmlformats.org/officeDocument/2006/relationships/video" Target="../media/media3.mp4"/><Relationship Id="rId8" Type="http://schemas.microsoft.com/office/2007/relationships/media" Target="../media/media3.mp4"/><Relationship Id="rId9" Type="http://schemas.openxmlformats.org/officeDocument/2006/relationships/image" Target="../media/image7.png"/><Relationship Id="rId10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hyperlink" Target="https://res.nuedc-training.com.cn/topic/2026/topic_140.html" TargetMode="External"/><Relationship Id="rId3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video" Target="../media/media4.mp4"/><Relationship Id="rId2" Type="http://schemas.microsoft.com/office/2007/relationships/media" Target="../media/media4.mp4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video" Target="../media/media5.mp4"/><Relationship Id="rId2" Type="http://schemas.microsoft.com/office/2007/relationships/media" Target="../media/media5.mp4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tags" Target="../tags/tag9.xml"/><Relationship Id="rId4" Type="http://schemas.openxmlformats.org/officeDocument/2006/relationships/tags" Target="../tags/tag10.xml"/><Relationship Id="rId5" Type="http://schemas.openxmlformats.org/officeDocument/2006/relationships/tags" Target="../tags/tag11.xml"/><Relationship Id="rId6" Type="http://schemas.openxmlformats.org/officeDocument/2006/relationships/tags" Target="../tags/tag12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tags" Target="../tags/tag14.xml"/><Relationship Id="rId3" Type="http://schemas.openxmlformats.org/officeDocument/2006/relationships/tags" Target="../tags/tag15.xml"/><Relationship Id="rId4" Type="http://schemas.openxmlformats.org/officeDocument/2006/relationships/tags" Target="../tags/tag16.xml"/><Relationship Id="rId5" Type="http://schemas.openxmlformats.org/officeDocument/2006/relationships/tags" Target="../tags/tag17.xml"/><Relationship Id="rId6" Type="http://schemas.openxmlformats.org/officeDocument/2006/relationships/tags" Target="../tags/tag18.xml"/><Relationship Id="rId7" Type="http://schemas.openxmlformats.org/officeDocument/2006/relationships/tags" Target="../tags/tag19.xml"/><Relationship Id="rId8" Type="http://schemas.openxmlformats.org/officeDocument/2006/relationships/tags" Target="../tags/tag20.xml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5" name=""/>
        <p:cNvGrpSpPr/>
        <p:nvPr/>
      </p:nvGrpSpPr>
      <p:grpSpPr>
        <a:xfrm/>
      </p:grpSpPr>
      <p:sp>
        <p:nvSpPr>
          <p:cNvPr id="1048576" name="eyebrow"/>
          <p:cNvSpPr>
            <a:spLocks noGrp="1"/>
          </p:cNvSpPr>
          <p:nvPr/>
        </p:nvSpPr>
        <p:spPr>
          <a:xfrm>
            <a:off x="609600" y="495300"/>
            <a:ext cx="9525000" cy="38100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0" sz="210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2026 · </a:t>
            </a:r>
            <a:r>
              <a:rPr lang="zh-CN"/>
              <a:t>全国大学生</a:t>
            </a:r>
            <a:r>
              <a:t>电子设计竞赛</a:t>
            </a:r>
          </a:p>
        </p:txBody>
      </p:sp>
      <p:sp>
        <p:nvSpPr>
          <p:cNvPr id="1048577" name="title"/>
          <p:cNvSpPr>
            <a:spLocks noGrp="1"/>
          </p:cNvSpPr>
          <p:nvPr/>
        </p:nvSpPr>
        <p:spPr>
          <a:xfrm>
            <a:off x="551815" y="980440"/>
            <a:ext cx="10972800" cy="116205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1" sz="600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电赛</a:t>
            </a:r>
            <a:r>
              <a:rPr lang="zh-CN"/>
              <a:t>经验分享</a:t>
            </a:r>
            <a:endParaRPr lang="zh-CN"/>
          </a:p>
        </p:txBody>
      </p:sp>
      <p:sp>
        <p:nvSpPr>
          <p:cNvPr id="1048578" name="subtitle"/>
          <p:cNvSpPr>
            <a:spLocks noGrp="1"/>
          </p:cNvSpPr>
          <p:nvPr/>
        </p:nvSpPr>
        <p:spPr>
          <a:xfrm>
            <a:off x="551815" y="2204720"/>
            <a:ext cx="10972800" cy="55245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0" sz="270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赛前复刻、团队合作与项目实践</a:t>
            </a:r>
          </a:p>
        </p:txBody>
      </p:sp>
      <p:sp>
        <p:nvSpPr>
          <p:cNvPr id="1048579" name="award"/>
          <p:cNvSpPr>
            <a:spLocks noGrp="1"/>
          </p:cNvSpPr>
          <p:nvPr/>
        </p:nvSpPr>
        <p:spPr>
          <a:xfrm>
            <a:off x="551815" y="2924810"/>
            <a:ext cx="10972800" cy="45720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1" sz="2400">
                <a:solidFill>
                  <a:srgbClr val="2563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2026年陕西省电子设计竞赛一等奖</a:t>
            </a:r>
          </a:p>
        </p:txBody>
      </p:sp>
      <p:sp>
        <p:nvSpPr>
          <p:cNvPr id="1048580" name="presenter"/>
          <p:cNvSpPr>
            <a:spLocks noGrp="1"/>
          </p:cNvSpPr>
          <p:nvPr/>
        </p:nvSpPr>
        <p:spPr>
          <a:xfrm>
            <a:off x="609600" y="3789045"/>
            <a:ext cx="10972800" cy="38100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0" sz="195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分享人：</a:t>
            </a:r>
            <a:r>
              <a:rPr lang="zh-CN"/>
              <a:t>庞月宁</a:t>
            </a:r>
            <a:r>
              <a:t>  </a:t>
            </a:r>
          </a:p>
          <a:p>
            <a:pPr algn="l">
              <a:defRPr b="0" sz="195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/>
              <a:t>电子信息学院</a:t>
            </a:r>
            <a:r>
              <a:rPr altLang="zh-CN" lang="en-US"/>
              <a:t>  2025</a:t>
            </a:r>
            <a:r>
              <a:rPr altLang="en-US" lang="zh-CN"/>
              <a:t>级微电子科学</a:t>
            </a:r>
            <a:r>
              <a:rPr altLang="en-US" lang="zh-CN"/>
              <a:t>与工程</a:t>
            </a:r>
            <a:endParaRPr altLang="en-US" lang="zh-CN"/>
          </a:p>
        </p:txBody>
      </p:sp>
      <p:sp>
        <p:nvSpPr>
          <p:cNvPr id="1048581" name="文本框 6"/>
          <p:cNvSpPr txBox="1"/>
          <p:nvPr/>
        </p:nvSpPr>
        <p:spPr>
          <a:xfrm>
            <a:off x="551815" y="5156835"/>
            <a:ext cx="7094855" cy="1424940"/>
          </a:xfrm>
          <a:prstGeom prst="rect"/>
          <a:noFill/>
        </p:spPr>
        <p:txBody>
          <a:bodyPr rtlCol="0" wrap="square">
            <a:spAutoFit/>
          </a:bodyPr>
          <a:p>
            <a:r>
              <a:rPr altLang="en-US" lang="zh-CN"/>
              <a:t>团队人员：</a:t>
            </a:r>
            <a:endParaRPr altLang="en-US" lang="zh-CN"/>
          </a:p>
          <a:p>
            <a:r>
              <a:rPr altLang="en-US" lang="zh-CN"/>
              <a:t>郭可盈</a:t>
            </a:r>
            <a:r>
              <a:rPr altLang="zh-CN" lang="en-US"/>
              <a:t>  </a:t>
            </a:r>
            <a:r>
              <a:rPr lang="zh-CN">
                <a:sym typeface="+mn-ea"/>
              </a:rPr>
              <a:t>电子信息学院</a:t>
            </a:r>
            <a:r>
              <a:rPr altLang="zh-CN" lang="en-US">
                <a:sym typeface="+mn-ea"/>
              </a:rPr>
              <a:t>   2025</a:t>
            </a:r>
            <a:r>
              <a:rPr altLang="en-US" lang="zh-CN">
                <a:sym typeface="+mn-ea"/>
              </a:rPr>
              <a:t>级电子科学与技术</a:t>
            </a:r>
            <a:endParaRPr altLang="en-US" lang="zh-CN">
              <a:sym typeface="+mn-ea"/>
            </a:endParaRPr>
          </a:p>
          <a:p>
            <a:r>
              <a:rPr lang="zh-CN">
                <a:sym typeface="+mn-ea"/>
              </a:rPr>
              <a:t>庞月宁</a:t>
            </a:r>
            <a:r>
              <a:rPr>
                <a:sym typeface="+mn-ea"/>
              </a:rPr>
              <a:t> </a:t>
            </a:r>
            <a:r>
              <a:rPr lang="en-US">
                <a:sym typeface="+mn-ea"/>
              </a:rPr>
              <a:t> </a:t>
            </a:r>
            <a:r>
              <a:rPr lang="zh-CN">
                <a:sym typeface="+mn-ea"/>
              </a:rPr>
              <a:t>电子信息学院</a:t>
            </a:r>
            <a:r>
              <a:rPr altLang="zh-CN" lang="en-US">
                <a:sym typeface="+mn-ea"/>
              </a:rPr>
              <a:t>   2025</a:t>
            </a:r>
            <a:r>
              <a:rPr altLang="en-US" lang="zh-CN">
                <a:sym typeface="+mn-ea"/>
              </a:rPr>
              <a:t>级微电子科学与工程</a:t>
            </a:r>
            <a:endParaRPr altLang="en-US" lang="zh-CN"/>
          </a:p>
          <a:p>
            <a:r>
              <a:rPr altLang="en-US" lang="zh-CN"/>
              <a:t>闫张明</a:t>
            </a:r>
            <a:r>
              <a:rPr altLang="zh-CN" lang="en-US"/>
              <a:t>  </a:t>
            </a:r>
            <a:r>
              <a:rPr altLang="en-US" lang="zh-CN"/>
              <a:t>计算机学院</a:t>
            </a:r>
            <a:r>
              <a:rPr altLang="zh-CN" lang="en-US"/>
              <a:t>        2025</a:t>
            </a:r>
            <a:r>
              <a:rPr altLang="en-US" lang="zh-CN"/>
              <a:t>级</a:t>
            </a:r>
            <a:r>
              <a:rPr altLang="en-US" lang="zh-CN"/>
              <a:t>计算机科学与技术</a:t>
            </a:r>
            <a:endParaRPr altLang="en-US" lang="zh-CN"/>
          </a:p>
          <a:p>
            <a:endParaRPr altLang="en-US" lang="zh-CN"/>
          </a:p>
        </p:txBody>
      </p:sp>
      <p:pic>
        <p:nvPicPr>
          <p:cNvPr id="2097152" name="图片 7" descr="88f7ba135e243b179e2003d68f7e7bfe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rcRect t="31491" r="-3656" b="22306"/>
          <a:stretch>
            <a:fillRect/>
          </a:stretch>
        </p:blipFill>
        <p:spPr>
          <a:xfrm>
            <a:off x="5880100" y="1916430"/>
            <a:ext cx="6241415" cy="3711575"/>
          </a:xfrm>
          <a:prstGeom prst="rect"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3" name=""/>
        <p:cNvGrpSpPr/>
        <p:nvPr/>
      </p:nvGrpSpPr>
      <p:grpSpPr>
        <a:xfrm/>
      </p:grpSpPr>
      <p:sp>
        <p:nvSpPr>
          <p:cNvPr id="1048585" name="title"/>
          <p:cNvSpPr>
            <a:spLocks noGrp="1"/>
          </p:cNvSpPr>
          <p:nvPr/>
        </p:nvSpPr>
        <p:spPr>
          <a:xfrm>
            <a:off x="609600" y="457200"/>
            <a:ext cx="10972800" cy="80010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1" sz="360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题目出来</a:t>
            </a:r>
            <a:r>
              <a:rPr lang="zh-CN"/>
              <a:t>之前，</a:t>
            </a:r>
            <a:r>
              <a:t>我们</a:t>
            </a:r>
            <a:r>
              <a:rPr lang="zh-CN"/>
              <a:t>提前复刻</a:t>
            </a:r>
            <a:r>
              <a:rPr lang="zh-CN"/>
              <a:t>赛题</a:t>
            </a:r>
            <a:endParaRPr lang="zh-CN"/>
          </a:p>
        </p:txBody>
      </p:sp>
      <p:sp>
        <p:nvSpPr>
          <p:cNvPr id="1048586" name="intro"/>
          <p:cNvSpPr>
            <a:spLocks noGrp="1"/>
          </p:cNvSpPr>
          <p:nvPr/>
        </p:nvSpPr>
        <p:spPr>
          <a:xfrm>
            <a:off x="609600" y="1196340"/>
            <a:ext cx="10972800" cy="51435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0" sz="225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赛前主动复刻了两道往年题</a:t>
            </a:r>
          </a:p>
        </p:txBody>
      </p:sp>
      <p:sp>
        <p:nvSpPr>
          <p:cNvPr id="1048587" name="heading-0"/>
          <p:cNvSpPr>
            <a:spLocks noGrp="1"/>
          </p:cNvSpPr>
          <p:nvPr/>
        </p:nvSpPr>
        <p:spPr>
          <a:xfrm>
            <a:off x="623570" y="1628775"/>
            <a:ext cx="5257800" cy="57150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1" sz="270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2025 年 E 题</a:t>
            </a:r>
          </a:p>
        </p:txBody>
      </p:sp>
      <p:sp>
        <p:nvSpPr>
          <p:cNvPr id="1048588" name="body-0"/>
          <p:cNvSpPr>
            <a:spLocks noGrp="1"/>
          </p:cNvSpPr>
          <p:nvPr/>
        </p:nvSpPr>
        <p:spPr>
          <a:xfrm>
            <a:off x="623570" y="2420620"/>
            <a:ext cx="6095365" cy="1053465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0" sz="210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主要参考 2025 年 TI 杯优秀项目
</a:t>
            </a:r>
            <a:r>
              <a:rPr lang="zh-CN"/>
              <a:t>【</a:t>
            </a:r>
            <a:r>
              <a:rPr altLang="zh-CN" lang="en-US">
                <a:sym typeface="+mn-ea"/>
              </a:rPr>
              <a:t>https://oshwhub.com/auhdbwiuda/jiangnan-university-25-electric-</a:t>
            </a:r>
            <a:r>
              <a:t>】</a:t>
            </a:r>
          </a:p>
        </p:txBody>
      </p:sp>
      <p:sp>
        <p:nvSpPr>
          <p:cNvPr id="1048589" name="heading-1"/>
          <p:cNvSpPr>
            <a:spLocks noGrp="1"/>
          </p:cNvSpPr>
          <p:nvPr/>
        </p:nvSpPr>
        <p:spPr>
          <a:xfrm>
            <a:off x="6888480" y="1635125"/>
            <a:ext cx="5257800" cy="57150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1" sz="270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2024 年 H 题</a:t>
            </a:r>
          </a:p>
        </p:txBody>
      </p:sp>
      <p:sp>
        <p:nvSpPr>
          <p:cNvPr id="1048590" name="body-1"/>
          <p:cNvSpPr>
            <a:spLocks noGrp="1"/>
          </p:cNvSpPr>
          <p:nvPr/>
        </p:nvSpPr>
        <p:spPr>
          <a:xfrm>
            <a:off x="6888480" y="2420620"/>
            <a:ext cx="5257800" cy="2143125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0" sz="210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作为另一次完整项目实践
</a:t>
            </a:r>
          </a:p>
          <a:p>
            <a:pPr algn="l">
              <a:defRPr b="0" sz="210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p:txBody>
      </p:sp>
      <p:sp>
        <p:nvSpPr>
          <p:cNvPr id="1048591" name="bottom"/>
          <p:cNvSpPr>
            <a:spLocks noGrp="1"/>
          </p:cNvSpPr>
          <p:nvPr/>
        </p:nvSpPr>
        <p:spPr>
          <a:xfrm>
            <a:off x="609600" y="5905500"/>
            <a:ext cx="10972800" cy="40005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0" sz="1950">
                <a:solidFill>
                  <a:srgbClr val="2563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先接触真实项目，再面对新的题目。</a:t>
            </a:r>
          </a:p>
        </p:txBody>
      </p:sp>
      <p:sp>
        <p:nvSpPr>
          <p:cNvPr id="1048592" name="footer"/>
          <p:cNvSpPr>
            <a:spLocks noGrp="1"/>
          </p:cNvSpPr>
          <p:nvPr/>
        </p:nvSpPr>
        <p:spPr>
          <a:xfrm>
            <a:off x="609600" y="6419850"/>
            <a:ext cx="4762500" cy="26670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0" sz="165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电赛经验分享</a:t>
            </a:r>
          </a:p>
        </p:txBody>
      </p:sp>
      <p:sp>
        <p:nvSpPr>
          <p:cNvPr id="1048593" name="page"/>
          <p:cNvSpPr>
            <a:spLocks noGrp="1"/>
          </p:cNvSpPr>
          <p:nvPr/>
        </p:nvSpPr>
        <p:spPr>
          <a:xfrm>
            <a:off x="10763250" y="6419850"/>
            <a:ext cx="819150" cy="266700"/>
          </a:xfrm>
          <a:prstGeom prst="rect"/>
        </p:spPr>
        <p:txBody>
          <a:bodyPr anchor="t" bIns="0" lIns="0" rIns="0" tIns="0" wrap="square">
            <a:noAutofit/>
          </a:bodyPr>
          <a:p>
            <a:pPr algn="r">
              <a:defRPr b="0" sz="165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03</a:t>
            </a:r>
          </a:p>
        </p:txBody>
      </p:sp>
      <p:pic>
        <p:nvPicPr>
          <p:cNvPr id="2097153" name="图片 10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6915150" y="2819400"/>
            <a:ext cx="4390390" cy="2580005"/>
          </a:xfrm>
          <a:prstGeom prst="rect"/>
        </p:spPr>
      </p:pic>
      <p:sp>
        <p:nvSpPr>
          <p:cNvPr id="1048594" name="文本框 11"/>
          <p:cNvSpPr txBox="1"/>
          <p:nvPr/>
        </p:nvSpPr>
        <p:spPr>
          <a:xfrm>
            <a:off x="5881370" y="5487670"/>
            <a:ext cx="6096000" cy="1158240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lang="zh-CN"/>
              <a:t>【电赛真题带练#1，24</a:t>
            </a:r>
            <a:r>
              <a:rPr altLang="zh-CN" lang="en-US"/>
              <a:t>H</a:t>
            </a:r>
            <a:r>
              <a:rPr altLang="en-US" lang="zh-CN"/>
              <a:t>题分析与准备工作】 </a:t>
            </a:r>
            <a:r>
              <a:rPr altLang="zh-CN" lang="en-US"/>
              <a:t>https://www.bilibili.com/video/BV1SuNu6dEV7/?share_source=copy_web&amp;vd_source=4757a7194a3d429862d80de0ebbe1a3f</a:t>
            </a:r>
            <a:endParaRPr altLang="en-US" lang="zh-CN"/>
          </a:p>
        </p:txBody>
      </p:sp>
      <p:pic>
        <p:nvPicPr>
          <p:cNvPr id="2097154" name="图片 12" descr="509d7246709176e58f69aa50bae6444e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264160" y="3574415"/>
            <a:ext cx="2779395" cy="2085340"/>
          </a:xfrm>
          <a:prstGeom prst="rect"/>
        </p:spPr>
      </p:pic>
      <p:pic>
        <p:nvPicPr>
          <p:cNvPr id="2097155" name="图片 13" descr="889e12c29e0aa7aa067e1e7536036019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3072130" y="3573145"/>
            <a:ext cx="2781300" cy="2086610"/>
          </a:xfrm>
          <a:prstGeom prst="rect"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/>
      </p:grpSpPr>
      <p:pic>
        <p:nvPicPr>
          <p:cNvPr id="2097156" name="5fc0f971f07c06b1ac812057952f5b56">
            <a:hlinkClick r:id="" action="ppaction://media"/>
          </p:cNvPr>
          <p:cNvPicPr>
            <a:picLocks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191770" y="908685"/>
            <a:ext cx="8647430" cy="4892675"/>
          </a:xfrm>
          <a:prstGeom prst="rect"/>
        </p:spPr>
      </p:pic>
      <p:pic>
        <p:nvPicPr>
          <p:cNvPr id="2097157" name="5b095597d05bf6ec7e0140bad049ade4_raw">
            <a:hlinkClick r:id="" action="ppaction://media"/>
          </p:cNvPr>
          <p:cNvPicPr>
            <a:picLocks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xmlns:r="http://schemas.openxmlformats.org/officeDocument/2006/relationships" r:embed="rId6"/>
          <a:stretch>
            <a:fillRect/>
          </a:stretch>
        </p:blipFill>
        <p:spPr>
          <a:xfrm>
            <a:off x="8976360" y="548640"/>
            <a:ext cx="2952750" cy="2485390"/>
          </a:xfrm>
          <a:prstGeom prst="rect"/>
        </p:spPr>
      </p:pic>
      <p:pic>
        <p:nvPicPr>
          <p:cNvPr id="2097158" name="5c74db6fb7388e8f21b19381ffa25196">
            <a:hlinkClick r:id="" action="ppaction://media"/>
          </p:cNvPr>
          <p:cNvPicPr>
            <a:picLocks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xmlns:r="http://schemas.openxmlformats.org/officeDocument/2006/relationships" r:embed="rId9"/>
          <a:stretch>
            <a:fillRect/>
          </a:stretch>
        </p:blipFill>
        <p:spPr>
          <a:xfrm>
            <a:off x="8904605" y="4076700"/>
            <a:ext cx="2966720" cy="2099945"/>
          </a:xfrm>
          <a:prstGeom prst="rect"/>
        </p:spPr>
      </p:pic>
    </p:spTree>
  </p:cSld>
  <p:clrMapOvr>
    <a:masterClrMapping/>
  </p:clrMapOvr>
  <p:timing>
    <p:tnLst>
      <p:par>
        <p:cTn dur="indefinite" id="1" nodeType="tmRoot" restart="never">
          <p:childTnLst>
            <p:video fullScrn="0">
              <p:cMediaNode>
                <p:cTn display="1" fill="hold" id="2">
                  <p:stCondLst>
                    <p:cond delay="indefinite"/>
                  </p:stCondLst>
                </p:cTn>
                <p:tgtEl>
                  <p:spTgt spid="2097156"/>
                </p:tgtEl>
              </p:cMediaNode>
            </p:video>
            <p:seq concurrent="1" nextAc="seek">
              <p:cTn evtFilter="cancelBubble" fill="hold" id="3" nodeType="interactiveSeq" restart="whenNotActive">
                <p:stCondLst>
                  <p:cond evt="onClick" delay="0">
                    <p:tgtEl>
                      <p:spTgt spid="20971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fill="hold" id="4">
                      <p:stCondLst>
                        <p:cond delay="0"/>
                      </p:stCondLst>
                      <p:childTnLst>
                        <p:par>
                          <p:cTn fill="hold" id="5">
                            <p:stCondLst>
                              <p:cond delay="0"/>
                            </p:stCondLst>
                            <p:childTnLst>
                              <p:par>
                                <p:cTn fill="hold" id="6" nodeType="clickEffect" presetClass="mediacall" presetID="2" presetSubtype="0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dur="1" fill="hold" id="7"/>
                                        <p:tgtEl>
                                          <p:spTgt spid="209715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97156"/>
                  </p:tgtEl>
                </p:cond>
              </p:nextCondLst>
            </p:seq>
            <p:video fullScrn="0">
              <p:cMediaNode>
                <p:cTn display="1" fill="hold" id="8">
                  <p:stCondLst>
                    <p:cond delay="indefinite"/>
                  </p:stCondLst>
                </p:cTn>
                <p:tgtEl>
                  <p:spTgt spid="2097157"/>
                </p:tgtEl>
              </p:cMediaNode>
            </p:video>
            <p:seq concurrent="1" nextAc="seek">
              <p:cTn evtFilter="cancelBubble" fill="hold" id="9" nodeType="interactiveSeq" restart="whenNotActive">
                <p:stCondLst>
                  <p:cond evt="onClick" delay="0">
                    <p:tgtEl>
                      <p:spTgt spid="20971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fill="hold" id="10">
                      <p:stCondLst>
                        <p:cond delay="0"/>
                      </p:stCondLst>
                      <p:childTnLst>
                        <p:par>
                          <p:cTn fill="hold" id="11">
                            <p:stCondLst>
                              <p:cond delay="0"/>
                            </p:stCondLst>
                            <p:childTnLst>
                              <p:par>
                                <p:cTn fill="hold" id="12" nodeType="clickEffect" presetClass="mediacall" presetID="2" presetSubtype="0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dur="1" fill="hold" id="13"/>
                                        <p:tgtEl>
                                          <p:spTgt spid="209715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97157"/>
                  </p:tgtEl>
                </p:cond>
              </p:nextCondLst>
            </p:seq>
            <p:video fullScrn="0">
              <p:cMediaNode>
                <p:cTn display="1" fill="hold" id="14">
                  <p:stCondLst>
                    <p:cond delay="indefinite"/>
                  </p:stCondLst>
                </p:cTn>
                <p:tgtEl>
                  <p:spTgt spid="2097158"/>
                </p:tgtEl>
              </p:cMediaNode>
            </p:video>
            <p:seq concurrent="1" nextAc="seek">
              <p:cTn evtFilter="cancelBubble" fill="hold" id="15" nodeType="interactiveSeq" restart="whenNotActive">
                <p:stCondLst>
                  <p:cond evt="onClick" delay="0">
                    <p:tgtEl>
                      <p:spTgt spid="20971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fill="hold" id="16">
                      <p:stCondLst>
                        <p:cond delay="0"/>
                      </p:stCondLst>
                      <p:childTnLst>
                        <p:par>
                          <p:cTn fill="hold" id="17">
                            <p:stCondLst>
                              <p:cond delay="0"/>
                            </p:stCondLst>
                            <p:childTnLst>
                              <p:par>
                                <p:cTn fill="hold" id="18" nodeType="clickEffect" presetClass="mediacall" presetID="2" presetSubtype="0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dur="1" fill="hold" id="19"/>
                                        <p:tgtEl>
                                          <p:spTgt spid="209715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97158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7" name=""/>
        <p:cNvGrpSpPr/>
        <p:nvPr/>
      </p:nvGrpSpPr>
      <p:grpSpPr>
        <a:xfrm/>
      </p:grpSpPr>
      <p:sp>
        <p:nvSpPr>
          <p:cNvPr id="1048598" name="title"/>
          <p:cNvSpPr>
            <a:spLocks noGrp="1"/>
          </p:cNvSpPr>
          <p:nvPr/>
        </p:nvSpPr>
        <p:spPr>
          <a:xfrm>
            <a:off x="609600" y="457200"/>
            <a:ext cx="10972800" cy="80010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1" sz="360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复刻时，值得</a:t>
            </a:r>
            <a:r>
              <a:rPr lang="zh-CN"/>
              <a:t>学习</a:t>
            </a:r>
            <a:r>
              <a:t>东西？</a:t>
            </a:r>
          </a:p>
        </p:txBody>
      </p:sp>
      <p:sp>
        <p:nvSpPr>
          <p:cNvPr id="1048599" name="intro"/>
          <p:cNvSpPr>
            <a:spLocks noGrp="1"/>
          </p:cNvSpPr>
          <p:nvPr/>
        </p:nvSpPr>
        <p:spPr>
          <a:xfrm>
            <a:off x="609600" y="1476375"/>
            <a:ext cx="10972800" cy="51435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0" sz="225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把参考项目变成自己的经验</a:t>
            </a:r>
          </a:p>
        </p:txBody>
      </p:sp>
      <p:sp>
        <p:nvSpPr>
          <p:cNvPr id="1048600" name="heading-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09600" y="2800350"/>
            <a:ext cx="3352800" cy="62865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1" sz="255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先跑起来</a:t>
            </a:r>
          </a:p>
        </p:txBody>
      </p:sp>
      <p:sp>
        <p:nvSpPr>
          <p:cNvPr id="1048601" name="body-0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09600" y="3619500"/>
            <a:ext cx="3352800" cy="203835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0" sz="2025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了解需要哪些模块
经历接线、下载和调试</a:t>
            </a:r>
          </a:p>
        </p:txBody>
      </p:sp>
      <p:sp>
        <p:nvSpPr>
          <p:cNvPr id="1048602" name="heading-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419600" y="2800350"/>
            <a:ext cx="3352800" cy="62865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1" sz="255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再弄明白</a:t>
            </a:r>
          </a:p>
        </p:txBody>
      </p:sp>
      <p:sp>
        <p:nvSpPr>
          <p:cNvPr id="1048603" name="body-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4419600" y="3619500"/>
            <a:ext cx="3352800" cy="203835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0" sz="2025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每个部分负责什么
数据怎样传到下一部分</a:t>
            </a:r>
          </a:p>
        </p:txBody>
      </p:sp>
      <p:sp>
        <p:nvSpPr>
          <p:cNvPr id="1048604" name="heading-2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8229600" y="2800350"/>
            <a:ext cx="3352800" cy="62865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1" sz="255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试着改一点</a:t>
            </a:r>
          </a:p>
        </p:txBody>
      </p:sp>
      <p:sp>
        <p:nvSpPr>
          <p:cNvPr id="1048605" name="body-2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8229600" y="3619500"/>
            <a:ext cx="3352800" cy="203835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0" sz="2025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改变一个条件
观察结果，记录原因</a:t>
            </a:r>
          </a:p>
        </p:txBody>
      </p:sp>
      <p:sp>
        <p:nvSpPr>
          <p:cNvPr id="1048606" name="bottom"/>
          <p:cNvSpPr>
            <a:spLocks noGrp="1"/>
          </p:cNvSpPr>
          <p:nvPr/>
        </p:nvSpPr>
        <p:spPr>
          <a:xfrm>
            <a:off x="609600" y="5905500"/>
            <a:ext cx="10972800" cy="40005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0" sz="1950">
                <a:solidFill>
                  <a:srgbClr val="2563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资料可以参考；真正动手，才会发现自己哪里</a:t>
            </a:r>
            <a:r>
              <a:rPr lang="zh-CN"/>
              <a:t>不会，需要改进些什么</a:t>
            </a:r>
            <a:r>
              <a:t>。</a:t>
            </a:r>
          </a:p>
        </p:txBody>
      </p:sp>
      <p:sp>
        <p:nvSpPr>
          <p:cNvPr id="1048607" name="footer"/>
          <p:cNvSpPr>
            <a:spLocks noGrp="1"/>
          </p:cNvSpPr>
          <p:nvPr/>
        </p:nvSpPr>
        <p:spPr>
          <a:xfrm>
            <a:off x="609600" y="6419850"/>
            <a:ext cx="4762500" cy="26670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0" sz="165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电赛经验分享</a:t>
            </a:r>
          </a:p>
        </p:txBody>
      </p:sp>
      <p:sp>
        <p:nvSpPr>
          <p:cNvPr id="1048608" name="page"/>
          <p:cNvSpPr>
            <a:spLocks noGrp="1"/>
          </p:cNvSpPr>
          <p:nvPr/>
        </p:nvSpPr>
        <p:spPr>
          <a:xfrm>
            <a:off x="10763250" y="6419850"/>
            <a:ext cx="819150" cy="266700"/>
          </a:xfrm>
          <a:prstGeom prst="rect"/>
        </p:spPr>
        <p:txBody>
          <a:bodyPr anchor="t" bIns="0" lIns="0" rIns="0" tIns="0" wrap="square">
            <a:noAutofit/>
          </a:bodyPr>
          <a:p>
            <a:pPr algn="r">
              <a:defRPr b="0" sz="165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30" name=""/>
        <p:cNvGrpSpPr/>
        <p:nvPr/>
      </p:nvGrpSpPr>
      <p:grpSpPr>
        <a:xfrm/>
      </p:grpSpPr>
      <p:sp>
        <p:nvSpPr>
          <p:cNvPr id="1048612" name="title"/>
          <p:cNvSpPr>
            <a:spLocks noGrp="1"/>
          </p:cNvSpPr>
          <p:nvPr/>
        </p:nvSpPr>
        <p:spPr>
          <a:xfrm>
            <a:off x="609600" y="457200"/>
            <a:ext cx="10972800" cy="80010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1" sz="360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我们做的是怎样一个项目？</a:t>
            </a:r>
          </a:p>
        </p:txBody>
      </p:sp>
      <p:sp>
        <p:nvSpPr>
          <p:cNvPr id="1048613" name="heading"/>
          <p:cNvSpPr>
            <a:spLocks noGrp="1"/>
          </p:cNvSpPr>
          <p:nvPr/>
        </p:nvSpPr>
        <p:spPr>
          <a:xfrm>
            <a:off x="609600" y="2209800"/>
            <a:ext cx="5000625" cy="57150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1" sz="270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H 题：车载平衡滚球</a:t>
            </a:r>
          </a:p>
        </p:txBody>
      </p:sp>
      <p:sp>
        <p:nvSpPr>
          <p:cNvPr id="1048614" name="body"/>
          <p:cNvSpPr>
            <a:spLocks noGrp="1"/>
          </p:cNvSpPr>
          <p:nvPr/>
        </p:nvSpPr>
        <p:spPr>
          <a:xfrm>
            <a:off x="609600" y="3000375"/>
            <a:ext cx="5000625" cy="243840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0" sz="210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小车沿路线行驶，
车上的钢球要到达或</a:t>
            </a:r>
            <a:r>
              <a:rPr>
                <a:sym typeface="+mn-ea"/>
              </a:rPr>
              <a:t>稳住</a:t>
            </a:r>
            <a:r>
              <a:t>保持目标位置。
</a:t>
            </a:r>
          </a:p>
        </p:txBody>
      </p:sp>
      <p:sp>
        <p:nvSpPr>
          <p:cNvPr id="1048615" name="project-media-backing"/>
          <p:cNvSpPr>
            <a:spLocks noGrp="1"/>
          </p:cNvSpPr>
          <p:nvPr/>
        </p:nvSpPr>
        <p:spPr>
          <a:xfrm>
            <a:off x="6191250" y="1771650"/>
            <a:ext cx="5391150" cy="3848100"/>
          </a:xfrm>
          <a:prstGeom prst="rect"/>
          <a:solidFill>
            <a:srgbClr val="F0F1F3"/>
          </a:solidFill>
          <a:ln w="9525">
            <a:solidFill>
              <a:srgbClr val="D9DDE2"/>
            </a:solidFill>
            <a:prstDash val="solid"/>
          </a:ln>
        </p:spPr>
        <p:txBody>
          <a:bodyPr/>
          <a:p>
            <a:endParaRPr altLang="en-US" lang="zh-CN"/>
          </a:p>
        </p:txBody>
      </p:sp>
      <p:sp>
        <p:nvSpPr>
          <p:cNvPr id="1048616" name="project-media-label"/>
          <p:cNvSpPr>
            <a:spLocks noGrp="1"/>
          </p:cNvSpPr>
          <p:nvPr/>
        </p:nvSpPr>
        <p:spPr>
          <a:xfrm>
            <a:off x="6457950" y="3314700"/>
            <a:ext cx="4857750" cy="857250"/>
          </a:xfrm>
          <a:prstGeom prst="rect"/>
        </p:spPr>
        <p:txBody>
          <a:bodyPr anchor="t" bIns="0" lIns="0" rIns="0" tIns="0" wrap="square">
            <a:noAutofit/>
          </a:bodyPr>
          <a:p>
            <a:pPr algn="ctr">
              <a:defRPr b="0" sz="195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放入整机照片或演示视频封面</a:t>
            </a:r>
          </a:p>
        </p:txBody>
      </p:sp>
      <p:sp>
        <p:nvSpPr>
          <p:cNvPr id="1048617" name="caption"/>
          <p:cNvSpPr>
            <a:spLocks noGrp="1"/>
          </p:cNvSpPr>
          <p:nvPr/>
        </p:nvSpPr>
        <p:spPr>
          <a:xfrm>
            <a:off x="609600" y="5905500"/>
            <a:ext cx="10972800" cy="38100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0" sz="180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2026 年 H 题 · 车载平衡滚球运动控制系统</a:t>
            </a:r>
          </a:p>
        </p:txBody>
      </p:sp>
      <p:sp>
        <p:nvSpPr>
          <p:cNvPr id="1048618" name="footer"/>
          <p:cNvSpPr>
            <a:spLocks noGrp="1"/>
          </p:cNvSpPr>
          <p:nvPr/>
        </p:nvSpPr>
        <p:spPr>
          <a:xfrm>
            <a:off x="609600" y="6419850"/>
            <a:ext cx="4762500" cy="26670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0" sz="165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电赛经验分享</a:t>
            </a:r>
          </a:p>
        </p:txBody>
      </p:sp>
      <p:sp>
        <p:nvSpPr>
          <p:cNvPr id="1048619" name="page"/>
          <p:cNvSpPr>
            <a:spLocks noGrp="1"/>
          </p:cNvSpPr>
          <p:nvPr/>
        </p:nvSpPr>
        <p:spPr>
          <a:xfrm>
            <a:off x="10763250" y="6419850"/>
            <a:ext cx="819150" cy="266700"/>
          </a:xfrm>
          <a:prstGeom prst="rect"/>
        </p:spPr>
        <p:txBody>
          <a:bodyPr anchor="t" bIns="0" lIns="0" rIns="0" tIns="0" wrap="square">
            <a:noAutofit/>
          </a:bodyPr>
          <a:p>
            <a:pPr algn="r">
              <a:defRPr b="0" sz="165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02</a:t>
            </a:r>
          </a:p>
        </p:txBody>
      </p:sp>
      <p:pic>
        <p:nvPicPr>
          <p:cNvPr id="2097159" name="图片 9" descr="81ddf177d9b80f53e4be5b2ff2244673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6191250" y="1701165"/>
            <a:ext cx="5356860" cy="3964305"/>
          </a:xfrm>
          <a:prstGeom prst="rect"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/>
      </p:grpSpPr>
      <p:sp>
        <p:nvSpPr>
          <p:cNvPr id="1048623" name="文本框 4"/>
          <p:cNvSpPr txBox="1"/>
          <p:nvPr/>
        </p:nvSpPr>
        <p:spPr>
          <a:xfrm>
            <a:off x="407670" y="620395"/>
            <a:ext cx="3766820" cy="3599815"/>
          </a:xfrm>
          <a:prstGeom prst="rect"/>
          <a:noFill/>
        </p:spPr>
        <p:txBody>
          <a:bodyPr anchor="t" rtlCol="0" wrap="square">
            <a:noAutofit/>
          </a:bodyPr>
          <a:p>
            <a:r>
              <a:rPr altLang="zh-CN" lang="en-US"/>
              <a:t>        </a:t>
            </a:r>
            <a:r>
              <a:rPr altLang="en-US" lang="zh-CN"/>
              <a:t>设计制作一辆载有平衡滚球运动控制装置的循线小车，小车可沿黑色环形路线行驶，行驶过程中钢球可在滚球运动控制装置内保持相对稳定，如图1所示。车载平衡滚球运动控制系统由小车、带凹槽的摆杆、摆杆控制机构和钢球组成，如图2所示，摆杆左端用铰链或者合页固定，距离小车平板高度</a:t>
            </a:r>
            <a:r>
              <a:rPr altLang="zh-CN" lang="en-US"/>
              <a:t>h≥5cm，</a:t>
            </a:r>
            <a:r>
              <a:rPr altLang="en-US" lang="zh-CN"/>
              <a:t>另一端连接至摆杆角度控制机构，可控制钢球稳定在指定位置。</a:t>
            </a:r>
            <a:endParaRPr altLang="en-US" lang="zh-CN"/>
          </a:p>
        </p:txBody>
      </p:sp>
      <p:pic>
        <p:nvPicPr>
          <p:cNvPr id="2097160" name="图片 2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rcRect t="2249"/>
          <a:stretch>
            <a:fillRect/>
          </a:stretch>
        </p:blipFill>
        <p:spPr>
          <a:xfrm>
            <a:off x="4584065" y="332740"/>
            <a:ext cx="7618095" cy="6338570"/>
          </a:xfrm>
          <a:prstGeom prst="rect"/>
        </p:spPr>
      </p:pic>
      <p:sp>
        <p:nvSpPr>
          <p:cNvPr id="1048624" name="文本框 1"/>
          <p:cNvSpPr txBox="1"/>
          <p:nvPr/>
        </p:nvSpPr>
        <p:spPr>
          <a:xfrm>
            <a:off x="479425" y="4725035"/>
            <a:ext cx="3561080" cy="1251585"/>
          </a:xfrm>
          <a:prstGeom prst="rect"/>
        </p:spPr>
        <p:txBody>
          <a:bodyPr>
            <a:noAutofit/>
          </a:bodyPr>
          <a:p>
            <a:r>
              <a:rPr altLang="en-US" sz="1600" lang="zh-CN">
                <a:hlinkClick r:id="rId2"/>
              </a:rPr>
              <a:t>车载平衡滚球运动控制系统</a:t>
            </a:r>
            <a:r>
              <a:rPr altLang="zh-CN" sz="1600" lang="en-US">
                <a:hlinkClick r:id="rId2"/>
              </a:rPr>
              <a:t>-</a:t>
            </a:r>
            <a:r>
              <a:rPr altLang="en-US" sz="1600" lang="zh-CN">
                <a:hlinkClick r:id="rId2"/>
              </a:rPr>
              <a:t>全国大学生电子设计竞赛培训网</a:t>
            </a:r>
            <a:r>
              <a:rPr altLang="zh-CN" sz="1600" lang="en-US">
                <a:hlinkClick r:id="rId2"/>
              </a:rPr>
              <a:t> </a:t>
            </a:r>
            <a:endParaRPr altLang="zh-CN" sz="1600" lang="en-US">
              <a:hlinkClick r:id="rId2"/>
            </a:endParaRPr>
          </a:p>
          <a:p>
            <a:endParaRPr altLang="zh-CN" sz="1600" lang="en-US">
              <a:hlinkClick r:id="rId2"/>
            </a:endParaRPr>
          </a:p>
          <a:p>
            <a:r>
              <a:rPr altLang="zh-CN" sz="1600" lang="en-US">
                <a:hlinkClick r:id="rId2"/>
              </a:rPr>
              <a:t>https://res.nuedc-training.com.cn/topic/2026/topic_140.html</a:t>
            </a:r>
            <a:endParaRPr altLang="zh-CN" sz="1600"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/>
      </p:grpSpPr>
      <p:pic>
        <p:nvPicPr>
          <p:cNvPr id="2097161" name="0b0eb25a375ca59de3a6a3900347b717">
            <a:hlinkClick r:id="" action="ppaction://media"/>
          </p:cNvPr>
          <p:cNvPicPr>
            <a:picLocks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47625" y="116840"/>
            <a:ext cx="12073255" cy="6677025"/>
          </a:xfrm>
          <a:prstGeom prst="rect"/>
        </p:spPr>
      </p:pic>
    </p:spTree>
  </p:cSld>
  <p:clrMapOvr>
    <a:masterClrMapping/>
  </p:clrMapOvr>
  <p:timing>
    <p:tnLst>
      <p:par>
        <p:cTn dur="indefinite" id="1" nodeType="tmRoot" restart="never">
          <p:childTnLst>
            <p:video fullScrn="0">
              <p:cMediaNode vol="96000">
                <p:cTn display="1" fill="hold" id="2">
                  <p:stCondLst>
                    <p:cond delay="indefinite"/>
                  </p:stCondLst>
                </p:cTn>
                <p:tgtEl>
                  <p:spTgt spid="2097161"/>
                </p:tgtEl>
              </p:cMediaNode>
            </p:video>
            <p:seq concurrent="1" nextAc="seek">
              <p:cTn evtFilter="cancelBubble" fill="hold" id="3" nodeType="interactiveSeq" restart="whenNotActive">
                <p:stCondLst>
                  <p:cond evt="onClick" delay="0">
                    <p:tgtEl>
                      <p:spTgt spid="20971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fill="hold" id="4">
                      <p:stCondLst>
                        <p:cond delay="0"/>
                      </p:stCondLst>
                      <p:childTnLst>
                        <p:par>
                          <p:cTn fill="hold" id="5">
                            <p:stCondLst>
                              <p:cond delay="0"/>
                            </p:stCondLst>
                            <p:childTnLst>
                              <p:par>
                                <p:cTn fill="hold" id="6" nodeType="clickEffect" presetClass="mediacall" presetID="2" presetSubtype="0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dur="1" fill="hold" id="7"/>
                                        <p:tgtEl>
                                          <p:spTgt spid="209716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97161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/>
      </p:grpSpPr>
      <p:pic>
        <p:nvPicPr>
          <p:cNvPr id="2097162" name="1dd74db0d1e16b32b2621e2f429d889b">
            <a:hlinkClick r:id="" action="ppaction://media"/>
          </p:cNvPr>
          <p:cNvPicPr>
            <a:picLocks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191135" y="44450"/>
            <a:ext cx="11931650" cy="6721475"/>
          </a:xfrm>
          <a:prstGeom prst="rect"/>
        </p:spPr>
      </p:pic>
    </p:spTree>
  </p:cSld>
  <p:clrMapOvr>
    <a:masterClrMapping/>
  </p:clrMapOvr>
  <p:timing>
    <p:tnLst>
      <p:par>
        <p:cTn dur="indefinite" id="1" nodeType="tmRoot" restart="never">
          <p:childTnLst>
            <p:video fullScrn="0">
              <p:cMediaNode>
                <p:cTn display="1" fill="hold" id="2">
                  <p:stCondLst>
                    <p:cond delay="indefinite"/>
                  </p:stCondLst>
                </p:cTn>
                <p:tgtEl>
                  <p:spTgt spid="2097162"/>
                </p:tgtEl>
              </p:cMediaNode>
            </p:video>
            <p:seq concurrent="1" nextAc="seek">
              <p:cTn evtFilter="cancelBubble" fill="hold" id="3" nodeType="interactiveSeq" restart="whenNotActive">
                <p:stCondLst>
                  <p:cond evt="onClick" delay="0">
                    <p:tgtEl>
                      <p:spTgt spid="20971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fill="hold" id="4">
                      <p:stCondLst>
                        <p:cond delay="0"/>
                      </p:stCondLst>
                      <p:childTnLst>
                        <p:par>
                          <p:cTn fill="hold" id="5">
                            <p:stCondLst>
                              <p:cond delay="0"/>
                            </p:stCondLst>
                            <p:childTnLst>
                              <p:par>
                                <p:cTn fill="hold" id="6" nodeType="clickEffect" presetClass="mediacall" presetID="2" presetSubtype="0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dur="1" fill="hold" id="7"/>
                                        <p:tgtEl>
                                          <p:spTgt spid="209716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97162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36" name=""/>
        <p:cNvGrpSpPr/>
        <p:nvPr/>
      </p:nvGrpSpPr>
      <p:grpSpPr>
        <a:xfrm/>
      </p:grpSpPr>
      <p:sp>
        <p:nvSpPr>
          <p:cNvPr id="1048625" name="title"/>
          <p:cNvSpPr>
            <a:spLocks noGrp="1"/>
          </p:cNvSpPr>
          <p:nvPr/>
        </p:nvSpPr>
        <p:spPr>
          <a:xfrm>
            <a:off x="609600" y="457200"/>
            <a:ext cx="10972800" cy="80010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1" sz="360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三个人分工，共同完成一个作品</a:t>
            </a:r>
          </a:p>
        </p:txBody>
      </p:sp>
      <p:sp>
        <p:nvSpPr>
          <p:cNvPr id="1048626" name="intro"/>
          <p:cNvSpPr>
            <a:spLocks noGrp="1"/>
          </p:cNvSpPr>
          <p:nvPr/>
        </p:nvSpPr>
        <p:spPr>
          <a:xfrm>
            <a:off x="609600" y="1476375"/>
            <a:ext cx="10972800" cy="51435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0" sz="225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每个人负责一块，也要知道整机要做什么</a:t>
            </a:r>
          </a:p>
        </p:txBody>
      </p:sp>
      <p:sp>
        <p:nvSpPr>
          <p:cNvPr id="1048627" name="heading-0"/>
          <p:cNvSpPr>
            <a:spLocks noGrp="1"/>
          </p:cNvSpPr>
          <p:nvPr/>
        </p:nvSpPr>
        <p:spPr>
          <a:xfrm>
            <a:off x="609600" y="2800350"/>
            <a:ext cx="3352800" cy="62865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1" sz="255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我：底盘</a:t>
            </a:r>
          </a:p>
        </p:txBody>
      </p:sp>
      <p:sp>
        <p:nvSpPr>
          <p:cNvPr id="1048628" name="body-0"/>
          <p:cNvSpPr>
            <a:spLocks noGrp="1"/>
          </p:cNvSpPr>
          <p:nvPr/>
        </p:nvSpPr>
        <p:spPr>
          <a:xfrm>
            <a:off x="609600" y="3619500"/>
            <a:ext cx="3352800" cy="203835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0" sz="2025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让小车行驶、循迹
配合整机运动</a:t>
            </a:r>
          </a:p>
        </p:txBody>
      </p:sp>
      <p:sp>
        <p:nvSpPr>
          <p:cNvPr id="1048629" name="heading-1"/>
          <p:cNvSpPr>
            <a:spLocks noGrp="1"/>
          </p:cNvSpPr>
          <p:nvPr/>
        </p:nvSpPr>
        <p:spPr>
          <a:xfrm>
            <a:off x="4419600" y="2800350"/>
            <a:ext cx="3352800" cy="62865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1" sz="255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/>
              <a:t>郭可盈</a:t>
            </a:r>
            <a:r>
              <a:t>：视觉</a:t>
            </a:r>
          </a:p>
        </p:txBody>
      </p:sp>
      <p:sp>
        <p:nvSpPr>
          <p:cNvPr id="1048630" name="body-1"/>
          <p:cNvSpPr>
            <a:spLocks noGrp="1"/>
          </p:cNvSpPr>
          <p:nvPr/>
        </p:nvSpPr>
        <p:spPr>
          <a:xfrm>
            <a:off x="4419600" y="3619500"/>
            <a:ext cx="3352800" cy="203835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0" sz="2025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识别钢球
提供位置数据
</a:t>
            </a:r>
          </a:p>
        </p:txBody>
      </p:sp>
      <p:sp>
        <p:nvSpPr>
          <p:cNvPr id="1048631" name="heading-2"/>
          <p:cNvSpPr>
            <a:spLocks noGrp="1"/>
          </p:cNvSpPr>
          <p:nvPr/>
        </p:nvSpPr>
        <p:spPr>
          <a:xfrm>
            <a:off x="8229600" y="2800350"/>
            <a:ext cx="3352800" cy="62865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1" sz="255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/>
              <a:t>闫张明</a:t>
            </a:r>
            <a:r>
              <a:t>：STM32</a:t>
            </a:r>
          </a:p>
        </p:txBody>
      </p:sp>
      <p:sp>
        <p:nvSpPr>
          <p:cNvPr id="1048632" name="body-2"/>
          <p:cNvSpPr>
            <a:spLocks noGrp="1"/>
          </p:cNvSpPr>
          <p:nvPr/>
        </p:nvSpPr>
        <p:spPr>
          <a:xfrm>
            <a:off x="8229600" y="3619500"/>
            <a:ext cx="3352800" cy="203835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0" sz="2025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接收位置和任务信息
控制滚球执行机构
</a:t>
            </a:r>
          </a:p>
        </p:txBody>
      </p:sp>
      <p:sp>
        <p:nvSpPr>
          <p:cNvPr id="1048633" name="bottom"/>
          <p:cNvSpPr>
            <a:spLocks noGrp="1"/>
          </p:cNvSpPr>
          <p:nvPr/>
        </p:nvSpPr>
        <p:spPr>
          <a:xfrm>
            <a:off x="609600" y="5905500"/>
            <a:ext cx="10972800" cy="40005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0" sz="1950">
                <a:solidFill>
                  <a:srgbClr val="2563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最终交付的是能一起工作的整机。</a:t>
            </a:r>
          </a:p>
        </p:txBody>
      </p:sp>
      <p:sp>
        <p:nvSpPr>
          <p:cNvPr id="1048634" name="footer"/>
          <p:cNvSpPr>
            <a:spLocks noGrp="1"/>
          </p:cNvSpPr>
          <p:nvPr/>
        </p:nvSpPr>
        <p:spPr>
          <a:xfrm>
            <a:off x="609600" y="6419850"/>
            <a:ext cx="4762500" cy="26670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0" sz="165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电赛经验分享</a:t>
            </a:r>
          </a:p>
        </p:txBody>
      </p:sp>
      <p:sp>
        <p:nvSpPr>
          <p:cNvPr id="1048635" name="page"/>
          <p:cNvSpPr>
            <a:spLocks noGrp="1"/>
          </p:cNvSpPr>
          <p:nvPr/>
        </p:nvSpPr>
        <p:spPr>
          <a:xfrm>
            <a:off x="10763250" y="6419850"/>
            <a:ext cx="819150" cy="266700"/>
          </a:xfrm>
          <a:prstGeom prst="rect"/>
        </p:spPr>
        <p:txBody>
          <a:bodyPr anchor="t" bIns="0" lIns="0" rIns="0" tIns="0" wrap="square">
            <a:noAutofit/>
          </a:bodyPr>
          <a:p>
            <a:pPr algn="r">
              <a:defRPr b="0" sz="165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39" name=""/>
        <p:cNvGrpSpPr/>
        <p:nvPr/>
      </p:nvGrpSpPr>
      <p:grpSpPr>
        <a:xfrm/>
      </p:grpSpPr>
      <p:sp>
        <p:nvSpPr>
          <p:cNvPr id="1048639" name="title"/>
          <p:cNvSpPr>
            <a:spLocks noGrp="1"/>
          </p:cNvSpPr>
          <p:nvPr/>
        </p:nvSpPr>
        <p:spPr>
          <a:xfrm>
            <a:off x="609600" y="457200"/>
            <a:ext cx="10972800" cy="80010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1" sz="360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我们的硬件，分别解决什么问题？</a:t>
            </a:r>
          </a:p>
        </p:txBody>
      </p:sp>
      <p:sp>
        <p:nvSpPr>
          <p:cNvPr id="1048640" name="intro"/>
          <p:cNvSpPr>
            <a:spLocks noGrp="1"/>
          </p:cNvSpPr>
          <p:nvPr/>
        </p:nvSpPr>
        <p:spPr>
          <a:xfrm>
            <a:off x="609600" y="1476375"/>
            <a:ext cx="10972800" cy="51435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0" sz="225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先记住职责，型号只是这次项目的选择</a:t>
            </a:r>
          </a:p>
        </p:txBody>
      </p:sp>
      <p:sp>
        <p:nvSpPr>
          <p:cNvPr id="1048641" name="heading-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09600" y="2800350"/>
            <a:ext cx="3352800" cy="62865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1" sz="255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小车怎么走</a:t>
            </a:r>
          </a:p>
        </p:txBody>
      </p:sp>
      <p:sp>
        <p:nvSpPr>
          <p:cNvPr id="1048642" name="body-0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09600" y="3619500"/>
            <a:ext cx="3352800" cy="203835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0" sz="2025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MSPM0G3507
灰度传感器、IMU
感知路线和运动状态</a:t>
            </a:r>
          </a:p>
        </p:txBody>
      </p:sp>
      <p:sp>
        <p:nvSpPr>
          <p:cNvPr id="1048643" name="heading-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419600" y="2800350"/>
            <a:ext cx="3352800" cy="62865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1" sz="255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钢球在哪里</a:t>
            </a:r>
          </a:p>
        </p:txBody>
      </p:sp>
      <p:sp>
        <p:nvSpPr>
          <p:cNvPr id="1048644" name="body-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4419600" y="3619500"/>
            <a:ext cx="3352800" cy="203835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0" sz="2025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RK3588
USB 摄像头
处理画面，输出位置</a:t>
            </a:r>
          </a:p>
        </p:txBody>
      </p:sp>
      <p:sp>
        <p:nvSpPr>
          <p:cNvPr id="1048645" name="heading-2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8229600" y="2800350"/>
            <a:ext cx="3352800" cy="62865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1" sz="255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管道怎么调</a:t>
            </a:r>
          </a:p>
        </p:txBody>
      </p:sp>
      <p:sp>
        <p:nvSpPr>
          <p:cNvPr id="1048646" name="body-2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8229600" y="3619500"/>
            <a:ext cx="3352800" cy="203835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0" sz="2025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STM32F103
步进电机、角度传感器
调整管道倾角</a:t>
            </a:r>
          </a:p>
        </p:txBody>
      </p:sp>
      <p:sp>
        <p:nvSpPr>
          <p:cNvPr id="1048647" name="bottom"/>
          <p:cNvSpPr>
            <a:spLocks noGrp="1"/>
          </p:cNvSpPr>
          <p:nvPr/>
        </p:nvSpPr>
        <p:spPr>
          <a:xfrm>
            <a:off x="609600" y="5905500"/>
            <a:ext cx="10972800" cy="40005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0" sz="1950">
                <a:solidFill>
                  <a:srgbClr val="2563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三个部分通过通信配合，组成完整系统。</a:t>
            </a:r>
          </a:p>
        </p:txBody>
      </p:sp>
      <p:sp>
        <p:nvSpPr>
          <p:cNvPr id="1048648" name="footer"/>
          <p:cNvSpPr>
            <a:spLocks noGrp="1"/>
          </p:cNvSpPr>
          <p:nvPr/>
        </p:nvSpPr>
        <p:spPr>
          <a:xfrm>
            <a:off x="609600" y="6419850"/>
            <a:ext cx="4762500" cy="26670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0" sz="165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电赛经验分享</a:t>
            </a:r>
          </a:p>
        </p:txBody>
      </p:sp>
      <p:sp>
        <p:nvSpPr>
          <p:cNvPr id="1048649" name="page"/>
          <p:cNvSpPr>
            <a:spLocks noGrp="1"/>
          </p:cNvSpPr>
          <p:nvPr/>
        </p:nvSpPr>
        <p:spPr>
          <a:xfrm>
            <a:off x="10763250" y="6419850"/>
            <a:ext cx="819150" cy="266700"/>
          </a:xfrm>
          <a:prstGeom prst="rect"/>
        </p:spPr>
        <p:txBody>
          <a:bodyPr anchor="t" bIns="0" lIns="0" rIns="0" tIns="0" wrap="square">
            <a:noAutofit/>
          </a:bodyPr>
          <a:p>
            <a:pPr algn="r">
              <a:defRPr b="0" sz="165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42" name=""/>
        <p:cNvGrpSpPr/>
        <p:nvPr/>
      </p:nvGrpSpPr>
      <p:grpSpPr>
        <a:xfrm/>
      </p:grpSpPr>
      <p:sp>
        <p:nvSpPr>
          <p:cNvPr id="1048653" name="title"/>
          <p:cNvSpPr>
            <a:spLocks noGrp="1"/>
          </p:cNvSpPr>
          <p:nvPr/>
        </p:nvSpPr>
        <p:spPr>
          <a:xfrm>
            <a:off x="609600" y="457200"/>
            <a:ext cx="10972800" cy="80010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1" sz="360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选型时，我更想分享这些考虑</a:t>
            </a:r>
          </a:p>
        </p:txBody>
      </p:sp>
      <p:sp>
        <p:nvSpPr>
          <p:cNvPr id="1048654" name="heading-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09600" y="2152650"/>
            <a:ext cx="5257800" cy="55245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1" sz="255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能不能完成任务</a:t>
            </a:r>
          </a:p>
        </p:txBody>
      </p:sp>
      <p:sp>
        <p:nvSpPr>
          <p:cNvPr id="1048655" name="body-0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09600" y="2876550"/>
            <a:ext cx="5257800" cy="809625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0" sz="210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先想清楚要测什么、控制什么。</a:t>
            </a:r>
          </a:p>
        </p:txBody>
      </p:sp>
      <p:sp>
        <p:nvSpPr>
          <p:cNvPr id="1048656" name="heading-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324600" y="2152650"/>
            <a:ext cx="5257800" cy="55245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1" sz="255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我们能不能调通</a:t>
            </a:r>
          </a:p>
        </p:txBody>
      </p:sp>
      <p:sp>
        <p:nvSpPr>
          <p:cNvPr id="1048657" name="body-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324600" y="2876550"/>
            <a:ext cx="5257800" cy="809625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0" sz="210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熟悉程度、例程和资料都很重要。</a:t>
            </a:r>
          </a:p>
        </p:txBody>
      </p:sp>
      <p:sp>
        <p:nvSpPr>
          <p:cNvPr id="1048658" name="heading-2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09600" y="3981450"/>
            <a:ext cx="5257800" cy="55245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1" sz="255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能不能连在一起</a:t>
            </a:r>
          </a:p>
        </p:txBody>
      </p:sp>
      <p:sp>
        <p:nvSpPr>
          <p:cNvPr id="1048659" name="body-2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09600" y="4705350"/>
            <a:ext cx="5257800" cy="809625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0" sz="210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供电、接口和机械安装要匹配。</a:t>
            </a:r>
          </a:p>
        </p:txBody>
      </p:sp>
      <p:sp>
        <p:nvSpPr>
          <p:cNvPr id="1048660" name="heading-3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324600" y="3981450"/>
            <a:ext cx="5257800" cy="55245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1" sz="255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值不值得现在换</a:t>
            </a:r>
          </a:p>
        </p:txBody>
      </p:sp>
      <p:sp>
        <p:nvSpPr>
          <p:cNvPr id="1048661" name="body-3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324600" y="4705350"/>
            <a:ext cx="5257800" cy="809625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0" sz="210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新方案可能更强，也需要重新调试。</a:t>
            </a:r>
          </a:p>
        </p:txBody>
      </p:sp>
      <p:sp>
        <p:nvSpPr>
          <p:cNvPr id="1048662" name="bottom"/>
          <p:cNvSpPr>
            <a:spLocks noGrp="1"/>
          </p:cNvSpPr>
          <p:nvPr/>
        </p:nvSpPr>
        <p:spPr>
          <a:xfrm>
            <a:off x="609600" y="5905500"/>
            <a:ext cx="10972800" cy="40005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0" sz="1950">
                <a:solidFill>
                  <a:srgbClr val="2563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选型要同时考虑功能、时间和团队的实际能力。</a:t>
            </a:r>
          </a:p>
        </p:txBody>
      </p:sp>
      <p:sp>
        <p:nvSpPr>
          <p:cNvPr id="1048663" name="footer"/>
          <p:cNvSpPr>
            <a:spLocks noGrp="1"/>
          </p:cNvSpPr>
          <p:nvPr/>
        </p:nvSpPr>
        <p:spPr>
          <a:xfrm>
            <a:off x="609600" y="6419850"/>
            <a:ext cx="4762500" cy="26670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0" sz="165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电赛经验分享</a:t>
            </a:r>
          </a:p>
        </p:txBody>
      </p:sp>
      <p:sp>
        <p:nvSpPr>
          <p:cNvPr id="1048664" name="page"/>
          <p:cNvSpPr>
            <a:spLocks noGrp="1"/>
          </p:cNvSpPr>
          <p:nvPr/>
        </p:nvSpPr>
        <p:spPr>
          <a:xfrm>
            <a:off x="10763250" y="6419850"/>
            <a:ext cx="819150" cy="266700"/>
          </a:xfrm>
          <a:prstGeom prst="rect"/>
        </p:spPr>
        <p:txBody>
          <a:bodyPr anchor="t" bIns="0" lIns="0" rIns="0" tIns="0" wrap="square">
            <a:noAutofit/>
          </a:bodyPr>
          <a:p>
            <a:pPr algn="r">
              <a:defRPr b="0" sz="165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45" name=""/>
        <p:cNvGrpSpPr/>
        <p:nvPr/>
      </p:nvGrpSpPr>
      <p:grpSpPr>
        <a:xfrm/>
      </p:grpSpPr>
      <p:sp>
        <p:nvSpPr>
          <p:cNvPr id="1048668" name="title"/>
          <p:cNvSpPr>
            <a:spLocks noGrp="1"/>
          </p:cNvSpPr>
          <p:nvPr/>
        </p:nvSpPr>
        <p:spPr>
          <a:xfrm>
            <a:off x="609600" y="457200"/>
            <a:ext cx="10972800" cy="80010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1" sz="360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协作时，要把话说具体</a:t>
            </a:r>
          </a:p>
        </p:txBody>
      </p:sp>
      <p:sp>
        <p:nvSpPr>
          <p:cNvPr id="1048669" name="heading-0"/>
          <p:cNvSpPr>
            <a:spLocks noGrp="1"/>
          </p:cNvSpPr>
          <p:nvPr/>
        </p:nvSpPr>
        <p:spPr>
          <a:xfrm>
            <a:off x="609600" y="2476500"/>
            <a:ext cx="5257800" cy="57150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1" sz="270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交接时说清楚</a:t>
            </a:r>
          </a:p>
        </p:txBody>
      </p:sp>
      <p:sp>
        <p:nvSpPr>
          <p:cNvPr id="1048670" name="body-0"/>
          <p:cNvSpPr>
            <a:spLocks noGrp="1"/>
          </p:cNvSpPr>
          <p:nvPr/>
        </p:nvSpPr>
        <p:spPr>
          <a:xfrm>
            <a:off x="609600" y="3228975"/>
            <a:ext cx="5257800" cy="2143125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0" sz="210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我需要什么数据？
我能提供什么结果？
现在还有什么问题？</a:t>
            </a:r>
          </a:p>
        </p:txBody>
      </p:sp>
      <p:sp>
        <p:nvSpPr>
          <p:cNvPr id="1048671" name="heading-1"/>
          <p:cNvSpPr>
            <a:spLocks noGrp="1"/>
          </p:cNvSpPr>
          <p:nvPr/>
        </p:nvSpPr>
        <p:spPr>
          <a:xfrm>
            <a:off x="6324600" y="2476500"/>
            <a:ext cx="5257800" cy="57150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1" sz="270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尽早接在一起试</a:t>
            </a:r>
          </a:p>
        </p:txBody>
      </p:sp>
      <p:sp>
        <p:nvSpPr>
          <p:cNvPr id="1048672" name="body-1"/>
          <p:cNvSpPr>
            <a:spLocks noGrp="1"/>
          </p:cNvSpPr>
          <p:nvPr/>
        </p:nvSpPr>
        <p:spPr>
          <a:xfrm>
            <a:off x="6324600" y="3228975"/>
            <a:ext cx="5257800" cy="2143125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0" sz="210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先各自跑通一个小功能
尽早观察整机表现
一起定位，及时同步修改</a:t>
            </a:r>
          </a:p>
        </p:txBody>
      </p:sp>
      <p:sp>
        <p:nvSpPr>
          <p:cNvPr id="1048673" name="bottom"/>
          <p:cNvSpPr>
            <a:spLocks noGrp="1"/>
          </p:cNvSpPr>
          <p:nvPr/>
        </p:nvSpPr>
        <p:spPr>
          <a:xfrm>
            <a:off x="609600" y="5905500"/>
            <a:ext cx="10972800" cy="40005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0" sz="1950">
                <a:solidFill>
                  <a:srgbClr val="2563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“我的部分能用”之后，还要看它能否和队友配合。</a:t>
            </a:r>
          </a:p>
        </p:txBody>
      </p:sp>
      <p:sp>
        <p:nvSpPr>
          <p:cNvPr id="1048674" name="footer"/>
          <p:cNvSpPr>
            <a:spLocks noGrp="1"/>
          </p:cNvSpPr>
          <p:nvPr/>
        </p:nvSpPr>
        <p:spPr>
          <a:xfrm>
            <a:off x="609600" y="6419850"/>
            <a:ext cx="4762500" cy="26670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0" sz="165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电赛经验分享</a:t>
            </a:r>
          </a:p>
        </p:txBody>
      </p:sp>
      <p:sp>
        <p:nvSpPr>
          <p:cNvPr id="1048675" name="page"/>
          <p:cNvSpPr>
            <a:spLocks noGrp="1"/>
          </p:cNvSpPr>
          <p:nvPr/>
        </p:nvSpPr>
        <p:spPr>
          <a:xfrm>
            <a:off x="10763250" y="6419850"/>
            <a:ext cx="819150" cy="266700"/>
          </a:xfrm>
          <a:prstGeom prst="rect"/>
        </p:spPr>
        <p:txBody>
          <a:bodyPr anchor="t" bIns="0" lIns="0" rIns="0" tIns="0" wrap="square">
            <a:noAutofit/>
          </a:bodyPr>
          <a:p>
            <a:pPr algn="r">
              <a:defRPr b="0" sz="165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48" name=""/>
        <p:cNvGrpSpPr/>
        <p:nvPr/>
      </p:nvGrpSpPr>
      <p:grpSpPr>
        <a:xfrm/>
      </p:grpSpPr>
      <p:sp>
        <p:nvSpPr>
          <p:cNvPr id="1048679" name="title"/>
          <p:cNvSpPr>
            <a:spLocks noGrp="1"/>
          </p:cNvSpPr>
          <p:nvPr/>
        </p:nvSpPr>
        <p:spPr>
          <a:xfrm>
            <a:off x="609600" y="457200"/>
            <a:ext cx="10972800" cy="80010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1" sz="360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也要学会使用强大的 AI</a:t>
            </a:r>
          </a:p>
        </p:txBody>
      </p:sp>
      <p:sp>
        <p:nvSpPr>
          <p:cNvPr id="1048680" name="lead"/>
          <p:cNvSpPr>
            <a:spLocks noGrp="1"/>
          </p:cNvSpPr>
          <p:nvPr/>
        </p:nvSpPr>
        <p:spPr>
          <a:xfrm>
            <a:off x="609600" y="2038350"/>
            <a:ext cx="10972800" cy="64770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1" sz="2700">
                <a:solidFill>
                  <a:srgbClr val="2563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AI 在我们的项目实践中帮了很多忙。</a:t>
            </a:r>
          </a:p>
        </p:txBody>
      </p:sp>
      <p:sp>
        <p:nvSpPr>
          <p:cNvPr id="1048681" name="body"/>
          <p:cNvSpPr>
            <a:spLocks noGrp="1"/>
          </p:cNvSpPr>
          <p:nvPr/>
        </p:nvSpPr>
        <p:spPr>
          <a:xfrm>
            <a:off x="609600" y="3133725"/>
            <a:ext cx="10972800" cy="192405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0" sz="240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理解陌生代码与知识点
梳理报错与排查思路
辅助整理资料、比较方案</a:t>
            </a:r>
          </a:p>
        </p:txBody>
      </p:sp>
      <p:sp>
        <p:nvSpPr>
          <p:cNvPr id="1048682" name="bottom"/>
          <p:cNvSpPr>
            <a:spLocks noGrp="1"/>
          </p:cNvSpPr>
          <p:nvPr/>
        </p:nvSpPr>
        <p:spPr>
          <a:xfrm>
            <a:off x="609600" y="5905500"/>
            <a:ext cx="10972800" cy="40005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0" sz="1950">
                <a:solidFill>
                  <a:srgbClr val="2563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把问题和现象说清楚，再用实际运行结果验证。</a:t>
            </a:r>
          </a:p>
        </p:txBody>
      </p:sp>
      <p:sp>
        <p:nvSpPr>
          <p:cNvPr id="1048683" name="footer"/>
          <p:cNvSpPr>
            <a:spLocks noGrp="1"/>
          </p:cNvSpPr>
          <p:nvPr/>
        </p:nvSpPr>
        <p:spPr>
          <a:xfrm>
            <a:off x="609600" y="6419850"/>
            <a:ext cx="4762500" cy="26670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0" sz="165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电赛经验分享</a:t>
            </a:r>
          </a:p>
        </p:txBody>
      </p:sp>
      <p:sp>
        <p:nvSpPr>
          <p:cNvPr id="1048684" name="page"/>
          <p:cNvSpPr>
            <a:spLocks noGrp="1"/>
          </p:cNvSpPr>
          <p:nvPr/>
        </p:nvSpPr>
        <p:spPr>
          <a:xfrm>
            <a:off x="10763250" y="6419850"/>
            <a:ext cx="819150" cy="266700"/>
          </a:xfrm>
          <a:prstGeom prst="rect"/>
        </p:spPr>
        <p:txBody>
          <a:bodyPr anchor="t" bIns="0" lIns="0" rIns="0" tIns="0" wrap="square">
            <a:noAutofit/>
          </a:bodyPr>
          <a:p>
            <a:pPr algn="r">
              <a:defRPr b="0" sz="165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10</a:t>
            </a:r>
          </a:p>
        </p:txBody>
      </p:sp>
      <p:sp>
        <p:nvSpPr>
          <p:cNvPr id="1048685" name="文本框 7"/>
          <p:cNvSpPr txBox="1"/>
          <p:nvPr/>
        </p:nvSpPr>
        <p:spPr>
          <a:xfrm>
            <a:off x="520065" y="4607560"/>
            <a:ext cx="6728460" cy="891540"/>
          </a:xfrm>
          <a:prstGeom prst="rect"/>
          <a:noFill/>
        </p:spPr>
        <p:txBody>
          <a:bodyPr rtlCol="0" wrap="square">
            <a:spAutoFit/>
          </a:bodyPr>
          <a:p>
            <a:r>
              <a:rPr altLang="en-US" lang="zh-CN"/>
              <a:t>小</a:t>
            </a:r>
            <a:r>
              <a:rPr altLang="zh-CN" lang="en-US"/>
              <a:t>tips</a:t>
            </a:r>
            <a:r>
              <a:rPr altLang="en-US" lang="zh-CN">
                <a:ea typeface="宋体" panose="02010600030101010101" pitchFamily="2" charset="-122"/>
              </a:rPr>
              <a:t>：</a:t>
            </a:r>
            <a:r>
              <a:rPr altLang="en-US" lang="zh-CN"/>
              <a:t>强大</a:t>
            </a:r>
            <a:r>
              <a:rPr altLang="zh-CN" lang="en-US"/>
              <a:t>AI</a:t>
            </a:r>
            <a:r>
              <a:rPr altLang="en-US" lang="zh-CN"/>
              <a:t>指的是</a:t>
            </a:r>
            <a:r>
              <a:rPr altLang="zh-CN" lang="en-US"/>
              <a:t>gpt-6-astra,gpt-6.1-sol,opus-5-5</a:t>
            </a:r>
            <a:r>
              <a:rPr altLang="en-US" lang="zh-CN"/>
              <a:t>这种</a:t>
            </a:r>
            <a:endParaRPr altLang="en-US" lang="zh-CN"/>
          </a:p>
          <a:p>
            <a:r>
              <a:rPr altLang="en-US" lang="zh-CN"/>
              <a:t>（甚至</a:t>
            </a:r>
            <a:r>
              <a:rPr altLang="zh-CN" lang="en-US"/>
              <a:t>fable</a:t>
            </a:r>
            <a:r>
              <a:rPr altLang="en-US" lang="zh-CN"/>
              <a:t>）</a:t>
            </a:r>
            <a:endParaRPr altLang="en-US" lang="zh-CN"/>
          </a:p>
          <a:p>
            <a:endParaRPr altLang="en-US" lang="zh-CN"/>
          </a:p>
        </p:txBody>
      </p:sp>
      <p:pic>
        <p:nvPicPr>
          <p:cNvPr id="2097163" name="图片 9" descr="ffca617798a55092e328e480e551fa9b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6600190" y="332740"/>
            <a:ext cx="4919345" cy="6206490"/>
          </a:xfrm>
          <a:prstGeom prst="rect"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51" name=""/>
        <p:cNvGrpSpPr/>
        <p:nvPr/>
      </p:nvGrpSpPr>
      <p:grpSpPr>
        <a:xfrm/>
      </p:grpSpPr>
      <p:sp>
        <p:nvSpPr>
          <p:cNvPr id="1048689" name="title"/>
          <p:cNvSpPr>
            <a:spLocks noGrp="1"/>
          </p:cNvSpPr>
          <p:nvPr/>
        </p:nvSpPr>
        <p:spPr>
          <a:xfrm>
            <a:off x="609600" y="457200"/>
            <a:ext cx="10972800" cy="80010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1" sz="360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刚入门，可以先这样开始</a:t>
            </a:r>
          </a:p>
        </p:txBody>
      </p:sp>
      <p:sp>
        <p:nvSpPr>
          <p:cNvPr id="1048690" name="intro"/>
          <p:cNvSpPr>
            <a:spLocks noGrp="1"/>
          </p:cNvSpPr>
          <p:nvPr/>
        </p:nvSpPr>
        <p:spPr>
          <a:xfrm>
            <a:off x="609600" y="1476375"/>
            <a:ext cx="10972800" cy="51435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0" sz="225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跟着学长学姐的安排，先把手动起来</a:t>
            </a:r>
          </a:p>
        </p:txBody>
      </p:sp>
      <p:sp>
        <p:nvSpPr>
          <p:cNvPr id="1048691" name="heading-0"/>
          <p:cNvSpPr>
            <a:spLocks noGrp="1"/>
          </p:cNvSpPr>
          <p:nvPr/>
        </p:nvSpPr>
        <p:spPr>
          <a:xfrm>
            <a:off x="609600" y="2800350"/>
            <a:ext cx="3352800" cy="62865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1" sz="255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跟着做</a:t>
            </a:r>
          </a:p>
        </p:txBody>
      </p:sp>
      <p:sp>
        <p:nvSpPr>
          <p:cNvPr id="1048692" name="body-0"/>
          <p:cNvSpPr>
            <a:spLocks noGrp="1"/>
          </p:cNvSpPr>
          <p:nvPr/>
        </p:nvSpPr>
        <p:spPr>
          <a:xfrm>
            <a:off x="609600" y="3619500"/>
            <a:ext cx="3352800" cy="203835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0" sz="2025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按学长学姐的路线练习
遇到问题及时请教</a:t>
            </a:r>
          </a:p>
        </p:txBody>
      </p:sp>
      <p:sp>
        <p:nvSpPr>
          <p:cNvPr id="1048693" name="heading-1"/>
          <p:cNvSpPr>
            <a:spLocks noGrp="1"/>
          </p:cNvSpPr>
          <p:nvPr/>
        </p:nvSpPr>
        <p:spPr>
          <a:xfrm>
            <a:off x="4419600" y="2800350"/>
            <a:ext cx="3352800" cy="62865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1" sz="255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自己试</a:t>
            </a:r>
          </a:p>
        </p:txBody>
      </p:sp>
      <p:sp>
        <p:nvSpPr>
          <p:cNvPr id="1048694" name="body-1"/>
          <p:cNvSpPr>
            <a:spLocks noGrp="1"/>
          </p:cNvSpPr>
          <p:nvPr/>
        </p:nvSpPr>
        <p:spPr>
          <a:xfrm>
            <a:off x="4419600" y="3619500"/>
            <a:ext cx="3352800" cy="203835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0" sz="2025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把例程接到实物上
尝试完成一个小功能</a:t>
            </a:r>
          </a:p>
        </p:txBody>
      </p:sp>
      <p:sp>
        <p:nvSpPr>
          <p:cNvPr id="1048695" name="heading-2"/>
          <p:cNvSpPr>
            <a:spLocks noGrp="1"/>
          </p:cNvSpPr>
          <p:nvPr/>
        </p:nvSpPr>
        <p:spPr>
          <a:xfrm>
            <a:off x="8229600" y="2800350"/>
            <a:ext cx="3352800" cy="62865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1" sz="255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留下记录</a:t>
            </a:r>
          </a:p>
        </p:txBody>
      </p:sp>
      <p:sp>
        <p:nvSpPr>
          <p:cNvPr id="1048696" name="body-2"/>
          <p:cNvSpPr>
            <a:spLocks noGrp="1"/>
          </p:cNvSpPr>
          <p:nvPr/>
        </p:nvSpPr>
        <p:spPr>
          <a:xfrm>
            <a:off x="8229600" y="3619500"/>
            <a:ext cx="3352800" cy="203835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0" sz="2025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保存能运行的版本
记下问题和解决办法</a:t>
            </a:r>
          </a:p>
        </p:txBody>
      </p:sp>
      <p:sp>
        <p:nvSpPr>
          <p:cNvPr id="1048697" name="bottom"/>
          <p:cNvSpPr>
            <a:spLocks noGrp="1"/>
          </p:cNvSpPr>
          <p:nvPr/>
        </p:nvSpPr>
        <p:spPr>
          <a:xfrm>
            <a:off x="609600" y="5905500"/>
            <a:ext cx="10972800" cy="40005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0" sz="1950">
                <a:solidFill>
                  <a:srgbClr val="2563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不必等到什么都会了，才开始参加项目。</a:t>
            </a:r>
          </a:p>
        </p:txBody>
      </p:sp>
      <p:sp>
        <p:nvSpPr>
          <p:cNvPr id="1048698" name="footer"/>
          <p:cNvSpPr>
            <a:spLocks noGrp="1"/>
          </p:cNvSpPr>
          <p:nvPr/>
        </p:nvSpPr>
        <p:spPr>
          <a:xfrm>
            <a:off x="609600" y="6419850"/>
            <a:ext cx="4762500" cy="26670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0" sz="165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电赛经验分享</a:t>
            </a:r>
          </a:p>
        </p:txBody>
      </p:sp>
      <p:sp>
        <p:nvSpPr>
          <p:cNvPr id="1048699" name="page"/>
          <p:cNvSpPr>
            <a:spLocks noGrp="1"/>
          </p:cNvSpPr>
          <p:nvPr/>
        </p:nvSpPr>
        <p:spPr>
          <a:xfrm>
            <a:off x="10763250" y="6419850"/>
            <a:ext cx="819150" cy="266700"/>
          </a:xfrm>
          <a:prstGeom prst="rect"/>
        </p:spPr>
        <p:txBody>
          <a:bodyPr anchor="t" bIns="0" lIns="0" rIns="0" tIns="0" wrap="square">
            <a:noAutofit/>
          </a:bodyPr>
          <a:p>
            <a:pPr algn="r">
              <a:defRPr b="0" sz="165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54" name=""/>
        <p:cNvGrpSpPr/>
        <p:nvPr/>
      </p:nvGrpSpPr>
      <p:grpSpPr>
        <a:xfrm/>
      </p:grpSpPr>
      <p:sp>
        <p:nvSpPr>
          <p:cNvPr id="1048703" name="title"/>
          <p:cNvSpPr>
            <a:spLocks noGrp="1"/>
          </p:cNvSpPr>
          <p:nvPr/>
        </p:nvSpPr>
        <p:spPr>
          <a:xfrm>
            <a:off x="609600" y="1485900"/>
            <a:ext cx="10972800" cy="95250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1" sz="540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从</a:t>
            </a:r>
            <a:r>
              <a:rPr lang="zh-CN"/>
              <a:t>学习基础开始，从做</a:t>
            </a:r>
            <a:r>
              <a:t>一个小项目开始</a:t>
            </a:r>
          </a:p>
        </p:txBody>
      </p:sp>
      <p:sp>
        <p:nvSpPr>
          <p:cNvPr id="1048704" name="body"/>
          <p:cNvSpPr>
            <a:spLocks noGrp="1"/>
          </p:cNvSpPr>
          <p:nvPr/>
        </p:nvSpPr>
        <p:spPr>
          <a:xfrm>
            <a:off x="609600" y="3810000"/>
            <a:ext cx="10972800" cy="47625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0" sz="2250">
                <a:solidFill>
                  <a:srgbClr val="2563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提前实践 · 学会合作 · 善用工具</a:t>
            </a:r>
          </a:p>
        </p:txBody>
      </p:sp>
      <p:sp>
        <p:nvSpPr>
          <p:cNvPr id="1048705" name="placeholder"/>
          <p:cNvSpPr>
            <a:spLocks noGrp="1"/>
          </p:cNvSpPr>
          <p:nvPr/>
        </p:nvSpPr>
        <p:spPr>
          <a:xfrm>
            <a:off x="609600" y="5391150"/>
            <a:ext cx="10972800" cy="41910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0" sz="180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p:txBody>
      </p:sp>
      <p:sp>
        <p:nvSpPr>
          <p:cNvPr id="1048706" name="footer"/>
          <p:cNvSpPr>
            <a:spLocks noGrp="1"/>
          </p:cNvSpPr>
          <p:nvPr/>
        </p:nvSpPr>
        <p:spPr>
          <a:xfrm>
            <a:off x="609600" y="6419850"/>
            <a:ext cx="4762500" cy="266700"/>
          </a:xfrm>
          <a:prstGeom prst="rect"/>
        </p:spPr>
        <p:txBody>
          <a:bodyPr anchor="t" bIns="0" lIns="0" rIns="0" tIns="0" wrap="square">
            <a:noAutofit/>
          </a:bodyPr>
          <a:p>
            <a:pPr algn="l">
              <a:defRPr b="0" sz="165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电赛经验分享</a:t>
            </a:r>
          </a:p>
        </p:txBody>
      </p:sp>
      <p:sp>
        <p:nvSpPr>
          <p:cNvPr id="1048707" name="page"/>
          <p:cNvSpPr>
            <a:spLocks noGrp="1"/>
          </p:cNvSpPr>
          <p:nvPr/>
        </p:nvSpPr>
        <p:spPr>
          <a:xfrm>
            <a:off x="10763250" y="6419850"/>
            <a:ext cx="819150" cy="266700"/>
          </a:xfrm>
          <a:prstGeom prst="rect"/>
        </p:spPr>
        <p:txBody>
          <a:bodyPr anchor="t" bIns="0" lIns="0" rIns="0" tIns="0" wrap="square">
            <a:noAutofit/>
          </a:bodyPr>
          <a:p>
            <a:pPr algn="r">
              <a:defRPr b="0" sz="1650">
                <a:solidFill>
                  <a:srgbClr val="606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25,&quot;left&quot;:48,&quot;top&quot;:220.5,&quot;width&quot;:864}"/>
</p:tagLst>
</file>

<file path=ppt/tags/tag2.xml><?xml version="1.0" encoding="utf-8"?>
<p:tagLst xmlns:p="http://schemas.openxmlformats.org/presentationml/2006/main">
  <p:tag name="KSO_WM_DIAGRAM_VIRTUALLY_FRAME" val="{&quot;height&quot;:225,&quot;left&quot;:48,&quot;top&quot;:220.5,&quot;width&quot;:864}"/>
</p:tagLst>
</file>

<file path=ppt/tags/tag3.xml><?xml version="1.0" encoding="utf-8"?>
<p:tagLst xmlns:p="http://schemas.openxmlformats.org/presentationml/2006/main">
  <p:tag name="KSO_WM_DIAGRAM_VIRTUALLY_FRAME" val="{&quot;height&quot;:225,&quot;left&quot;:48,&quot;top&quot;:220.5,&quot;width&quot;:864}"/>
</p:tagLst>
</file>

<file path=ppt/tags/tag4.xml><?xml version="1.0" encoding="utf-8"?>
<p:tagLst xmlns:p="http://schemas.openxmlformats.org/presentationml/2006/main">
  <p:tag name="KSO_WM_DIAGRAM_VIRTUALLY_FRAME" val="{&quot;height&quot;:225,&quot;left&quot;:48,&quot;top&quot;:220.5,&quot;width&quot;:864}"/>
</p:tagLst>
</file>

<file path=ppt/tags/tag5.xml><?xml version="1.0" encoding="utf-8"?>
<p:tagLst xmlns:p="http://schemas.openxmlformats.org/presentationml/2006/main">
  <p:tag name="KSO_WM_DIAGRAM_VIRTUALLY_FRAME" val="{&quot;height&quot;:225,&quot;left&quot;:48,&quot;top&quot;:220.5,&quot;width&quot;:864}"/>
</p:tagLst>
</file>

<file path=ppt/tags/tag6.xml><?xml version="1.0" encoding="utf-8"?>
<p:tagLst xmlns:p="http://schemas.openxmlformats.org/presentationml/2006/main">
  <p:tag name="KSO_WM_DIAGRAM_VIRTUALLY_FRAME" val="{&quot;height&quot;:225,&quot;left&quot;:48,&quot;top&quot;:220.5,&quot;width&quot;:864}"/>
</p:tagLst>
</file>

<file path=ppt/tags/tag7.xml><?xml version="1.0" encoding="utf-8"?>
<p:tagLst xmlns:p="http://schemas.openxmlformats.org/presentationml/2006/main">
  <p:tag name="KSO_WM_DIAGRAM_VIRTUALLY_FRAME" val="{&quot;height&quot;:225,&quot;left&quot;:48,&quot;top&quot;:220.5,&quot;width&quot;:864}"/>
</p:tagLst>
</file>

<file path=ppt/tags/tag8.xml><?xml version="1.0" encoding="utf-8"?>
<p:tagLst xmlns:p="http://schemas.openxmlformats.org/presentationml/2006/main">
  <p:tag name="KSO_WM_DIAGRAM_VIRTUALLY_FRAME" val="{&quot;height&quot;:225,&quot;left&quot;:48,&quot;top&quot;:220.5,&quot;width&quot;:864}"/>
</p:tagLst>
</file>

<file path=ppt/tags/tag9.xml><?xml version="1.0" encoding="utf-8"?>
<p:tagLst xmlns:p="http://schemas.openxmlformats.org/presentationml/2006/main">
  <p:tag name="KSO_WM_DIAGRAM_VIRTUALLY_FRAME" val="{&quot;height&quot;:225,&quot;left&quot;:48,&quot;top&quot;:220.5,&quot;width&quot;:864}"/>
</p:tagLst>
</file>

<file path=ppt/tags/tag10.xml><?xml version="1.0" encoding="utf-8"?>
<p:tagLst xmlns:p="http://schemas.openxmlformats.org/presentationml/2006/main">
  <p:tag name="KSO_WM_DIAGRAM_VIRTUALLY_FRAME" val="{&quot;height&quot;:225,&quot;left&quot;:48,&quot;top&quot;:220.5,&quot;width&quot;:864}"/>
</p:tagLst>
</file>

<file path=ppt/tags/tag11.xml><?xml version="1.0" encoding="utf-8"?>
<p:tagLst xmlns:p="http://schemas.openxmlformats.org/presentationml/2006/main">
  <p:tag name="KSO_WM_DIAGRAM_VIRTUALLY_FRAME" val="{&quot;height&quot;:225,&quot;left&quot;:48,&quot;top&quot;:220.5,&quot;width&quot;:864}"/>
</p:tagLst>
</file>

<file path=ppt/tags/tag12.xml><?xml version="1.0" encoding="utf-8"?>
<p:tagLst xmlns:p="http://schemas.openxmlformats.org/presentationml/2006/main">
  <p:tag name="KSO_WM_DIAGRAM_VIRTUALLY_FRAME" val="{&quot;height&quot;:225,&quot;left&quot;:48,&quot;top&quot;:220.5,&quot;width&quot;:864}"/>
</p:tagLst>
</file>

<file path=ppt/tags/tag13.xml><?xml version="1.0" encoding="utf-8"?>
<p:tagLst xmlns:p="http://schemas.openxmlformats.org/presentationml/2006/main">
  <p:tag name="KSO_WM_DIAGRAM_VIRTUALLY_FRAME" val="{&quot;height&quot;:264.75,&quot;left&quot;:48,&quot;top&quot;:169.5,&quot;width&quot;:864}"/>
</p:tagLst>
</file>

<file path=ppt/tags/tag14.xml><?xml version="1.0" encoding="utf-8"?>
<p:tagLst xmlns:p="http://schemas.openxmlformats.org/presentationml/2006/main">
  <p:tag name="KSO_WM_DIAGRAM_VIRTUALLY_FRAME" val="{&quot;height&quot;:264.75,&quot;left&quot;:48,&quot;top&quot;:169.5,&quot;width&quot;:864}"/>
</p:tagLst>
</file>

<file path=ppt/tags/tag15.xml><?xml version="1.0" encoding="utf-8"?>
<p:tagLst xmlns:p="http://schemas.openxmlformats.org/presentationml/2006/main">
  <p:tag name="KSO_WM_DIAGRAM_VIRTUALLY_FRAME" val="{&quot;height&quot;:264.75,&quot;left&quot;:48,&quot;top&quot;:169.5,&quot;width&quot;:864}"/>
</p:tagLst>
</file>

<file path=ppt/tags/tag16.xml><?xml version="1.0" encoding="utf-8"?>
<p:tagLst xmlns:p="http://schemas.openxmlformats.org/presentationml/2006/main">
  <p:tag name="KSO_WM_DIAGRAM_VIRTUALLY_FRAME" val="{&quot;height&quot;:264.75,&quot;left&quot;:48,&quot;top&quot;:169.5,&quot;width&quot;:864}"/>
</p:tagLst>
</file>

<file path=ppt/tags/tag17.xml><?xml version="1.0" encoding="utf-8"?>
<p:tagLst xmlns:p="http://schemas.openxmlformats.org/presentationml/2006/main">
  <p:tag name="KSO_WM_DIAGRAM_VIRTUALLY_FRAME" val="{&quot;height&quot;:264.75,&quot;left&quot;:48,&quot;top&quot;:169.5,&quot;width&quot;:864}"/>
</p:tagLst>
</file>

<file path=ppt/tags/tag18.xml><?xml version="1.0" encoding="utf-8"?>
<p:tagLst xmlns:p="http://schemas.openxmlformats.org/presentationml/2006/main">
  <p:tag name="KSO_WM_DIAGRAM_VIRTUALLY_FRAME" val="{&quot;height&quot;:264.75,&quot;left&quot;:48,&quot;top&quot;:169.5,&quot;width&quot;:864}"/>
</p:tagLst>
</file>

<file path=ppt/tags/tag19.xml><?xml version="1.0" encoding="utf-8"?>
<p:tagLst xmlns:p="http://schemas.openxmlformats.org/presentationml/2006/main">
  <p:tag name="KSO_WM_DIAGRAM_VIRTUALLY_FRAME" val="{&quot;height&quot;:264.75,&quot;left&quot;:48,&quot;top&quot;:169.5,&quot;width&quot;:864}"/>
</p:tagLst>
</file>

<file path=ppt/tags/tag20.xml><?xml version="1.0" encoding="utf-8"?>
<p:tagLst xmlns:p="http://schemas.openxmlformats.org/presentationml/2006/main">
  <p:tag name="KSO_WM_DIAGRAM_VIRTUALLY_FRAME" val="{&quot;height&quot;:264.75,&quot;left&quot;:48,&quot;top&quot;:169.5,&quot;width&quot;:864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r="5400000" dist="19050">
              <a:srgbClr val="000000">
                <a:alpha val="16000"/>
              </a:srgbClr>
            </a:outerShdw>
          </a:effectLst>
        </a:effectStyle>
        <a:effectStyle>
          <a:effectLst>
            <a:outerShdw blurRad="19050" dir="5400000" dist="9525">
              <a:srgbClr val="000000">
                <a:alpha val="6000"/>
              </a:srgbClr>
            </a:outerShdw>
          </a:effectLst>
        </a:effectStyle>
        <a:effectStyle>
          <a:effectLst>
            <a:outerShdw blurRad="28575" dir="5400000" dist="9525">
              <a:srgbClr val="000000">
                <a:alpha val="8000"/>
              </a:srgbClr>
            </a:outerShdw>
          </a:effectLst>
        </a:effectStyle>
        <a:effectStyle>
          <a:effectLst>
            <a:outerShdw blurRad="57150" dir="5400000" dist="19050">
              <a:srgbClr val="000000">
                <a:alpha val="10000"/>
              </a:srgbClr>
            </a:outerShdw>
          </a:effectLst>
        </a:effectStyle>
        <a:effectStyle>
          <a:effectLst>
            <a:outerShdw blurRad="114300" dir="5400000" dist="38100">
              <a:srgbClr val="000000">
                <a:alpha val="12000"/>
              </a:srgbClr>
            </a:outerShdw>
          </a:effectLst>
        </a:effectStyle>
        <a:effectStyle>
          <a:effectLst>
            <a:outerShdw blurRad="171450" dir="5400000" dist="57150">
              <a:srgbClr val="000000">
                <a:alpha val="16000"/>
              </a:srgbClr>
            </a:outerShdw>
          </a:effectLst>
        </a:effectStyle>
        <a:effectStyle>
          <a:effectLst>
            <a:outerShdw blurRad="266700" dir="5400000" dist="9525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r="5400000" dist="19050">
              <a:srgbClr val="000000">
                <a:alpha val="16000"/>
              </a:srgbClr>
            </a:outerShdw>
          </a:effectLst>
        </a:effectStyle>
        <a:effectStyle>
          <a:effectLst>
            <a:outerShdw blurRad="19050" dir="5400000" dist="9525">
              <a:srgbClr val="000000">
                <a:alpha val="6000"/>
              </a:srgbClr>
            </a:outerShdw>
          </a:effectLst>
        </a:effectStyle>
        <a:effectStyle>
          <a:effectLst>
            <a:outerShdw blurRad="28575" dir="5400000" dist="9525">
              <a:srgbClr val="000000">
                <a:alpha val="8000"/>
              </a:srgbClr>
            </a:outerShdw>
          </a:effectLst>
        </a:effectStyle>
        <a:effectStyle>
          <a:effectLst>
            <a:outerShdw blurRad="57150" dir="5400000" dist="19050">
              <a:srgbClr val="000000">
                <a:alpha val="10000"/>
              </a:srgbClr>
            </a:outerShdw>
          </a:effectLst>
        </a:effectStyle>
        <a:effectStyle>
          <a:effectLst>
            <a:outerShdw blurRad="114300" dir="5400000" dist="38100">
              <a:srgbClr val="000000">
                <a:alpha val="12000"/>
              </a:srgbClr>
            </a:outerShdw>
          </a:effectLst>
        </a:effectStyle>
        <a:effectStyle>
          <a:effectLst>
            <a:outerShdw blurRad="171450" dir="5400000" dist="57150">
              <a:srgbClr val="000000">
                <a:alpha val="16000"/>
              </a:srgbClr>
            </a:outerShdw>
          </a:effectLst>
        </a:effectStyle>
        <a:effectStyle>
          <a:effectLst>
            <a:outerShdw blurRad="266700" dir="5400000" dist="9525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WPS 演示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Presentation</dc:title>
  <dc:creator/>
  <cp:lastModifiedBy/>
  <dcterms:created xsi:type="dcterms:W3CDTF">2026-10-10T00:48:40Z</dcterms:created>
  <dcterms:modified xsi:type="dcterms:W3CDTF">2026-10-11T12:33:48Z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3de6e43e64b840898a84c342b2cb4957_23</vt:lpwstr>
  </property>
</Properties>
</file>