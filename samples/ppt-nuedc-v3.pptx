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66" r:id="rId4"/>
    <p:sldMasterId id="2147483675" r:id="rId5"/>
  </p:sldMasterIdLst>
  <p:notesMasterIdLst>
    <p:notesMasterId r:id="rId7"/>
  </p:notesMasterIdLst>
  <p:sldIdLst>
    <p:sldId id="256" r:id="rId6"/>
    <p:sldId id="257" r:id="rId8"/>
    <p:sldId id="262" r:id="rId9"/>
    <p:sldId id="277" r:id="rId10"/>
    <p:sldId id="278" r:id="rId11"/>
    <p:sldId id="258" r:id="rId12"/>
    <p:sldId id="259" r:id="rId13"/>
    <p:sldId id="260" r:id="rId14"/>
    <p:sldId id="261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80" r:id="rId25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今天围绕全国大学生电子设计竞赛，介绍比赛怎样进行、能带来什么能力、有哪些常见技术方向，以及初次参赛的准备方法。本稿以全国赛通行章程和2025年全国赛文件为例。未来届次的具体日期与细则请查看当年通知。</a:t>
            </a:r>
          </a:p>
          <a:p/>
          <a:p>
            <a:r>
              <a:t>资料来源（核对日期：2026-10-06）：</a:t>
            </a:r>
          </a:p>
          <a:p>
            <a:r>
              <a:t>https://www.ti.com.cn/cn/lit/ug/zhcn003/zhcn003.pdf</a:t>
            </a:r>
          </a:p>
          <a:p>
            <a:r>
              <a:t>https://jwc.xjtu.edu.cn/info/1172/8971.htm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先把赛制说清楚，再讨论参赛价值，接着介绍题目与技能，最后给出可执行的备赛建议。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程明确将工程实践与团队协作作为比赛目的。本页对求职与科研价值的讨论属于经验分析，比赛经历能够提供项目素材，但并不保证就业、科研成果或推免结果。简历中应写明负责的模块、遇到的问题、验证方法以及真实结果。未核实西北大学具体加分政策，因此不宣称固定加分或直接保研。</a:t>
            </a:r>
          </a:p>
          <a:p/>
          <a:p>
            <a:r>
              <a:t>资料来源（核对日期：2026-10-06）：</a:t>
            </a:r>
          </a:p>
          <a:p>
            <a:r>
              <a:t>https://www.ti.com.cn/cn/lit/ug/zhcn003/zhcn003.pdf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程明确将工程实践与团队协作作为比赛目的。本页对求职与科研价值的讨论属于经验分析，比赛经历能够提供项目素材，但并不保证就业、科研成果或推免结果。简历中应写明负责的模块、遇到的问题、验证方法以及真实结果。未核实西北大学具体加分政策，因此不宣称固定加分或直接保研。</a:t>
            </a:r>
          </a:p>
          <a:p/>
          <a:p>
            <a:r>
              <a:t>资料来源（核对日期：2026-10-06）：</a:t>
            </a:r>
          </a:p>
          <a:p>
            <a:r>
              <a:t>https://www.ti.com.cn/cn/lit/ug/zhcn003/zhcn003.pdf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程明确将工程实践与团队协作作为比赛目的。本页对求职与科研价值的讨论属于经验分析，比赛经历能够提供项目素材，但并不保证就业、科研成果或推免结果。简历中应写明负责的模块、遇到的问题、验证方法以及真实结果。未核实西北大学具体加分政策，因此不宣称固定加分或直接保研。</a:t>
            </a:r>
          </a:p>
          <a:p/>
          <a:p>
            <a:r>
              <a:t>资料来源（核对日期：2026-10-06）：</a:t>
            </a:r>
          </a:p>
          <a:p>
            <a:r>
              <a:t>https://www.ti.com.cn/cn/lit/ug/zhcn003/zhcn003.pdf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国大学生电子设计竞赛强调理论联系实际。三名学生共同完成所选题目的理论设计、制作与调试。2025年赛期为84小时，这个数字来自起止时间计算，并不表示今后每一届都固定同一日期。队伍提交实物、报告及登记表。</a:t>
            </a:r>
          </a:p>
          <a:p/>
          <a:p>
            <a:r>
              <a:t>资料来源（核对日期：2026-10-06）：</a:t>
            </a:r>
          </a:p>
          <a:p>
            <a:r>
              <a:t>https://www.ti.com.cn/cn/lit/ug/zhcn003/zhcn003.pdf</a:t>
            </a:r>
          </a:p>
          <a:p>
            <a:r>
              <a:t>https://nuedc-sh.sjtu.edu.cn/post_detail.php?id=38</a:t>
            </a:r>
          </a:p>
          <a:p>
            <a:r>
              <a:t>https://nuedc.org/problems/2025_C%E9%A2%98_%E5%9F%BA%E4%BA%8E%E5%8D%95%E7%9B%AE%E8%A7%86%E8%A7%89%E7%9A%84%E7%9B%AE%E6%A0%87%E7%89%A9%E6%B5%8B%E9%87%8F%E8%A3%85%E7%BD%AE.pdf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章程规定全国赛通常在单数年举行，双数年可组织全国专题赛，并鼓励省市与学校开展竞赛。注意全国赛是在赛区完成统一题目的制作与测试，然后产生赛区奖和全国奖，并非所有队伍再参加一次新的国赛制作。2026年信息科技前沿专题赛存在独立报名与评审安排。</a:t>
            </a:r>
          </a:p>
          <a:p/>
          <a:p>
            <a:r>
              <a:t>资料来源（核对日期：2026-10-06）：</a:t>
            </a:r>
          </a:p>
          <a:p>
            <a:r>
              <a:t>https://www.ti.com.cn/cn/lit/ug/zhcn003/zhcn003.pdf</a:t>
            </a:r>
          </a:p>
          <a:p>
            <a:r>
              <a:t>https://www.nuedc-training.com.cn/index/news/details/new_id/342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规则与准备建议需要分开理解。2025赛题首页规定参赛资格、队员人数、教师回避和交付时间。2025实施过程说明要求队员全程参加竞赛及评审，并规定作品封存及测试现场携带物品的限制。不同题目还会限制某类商品模块或传感器，读题时应单独列一份约束清单。</a:t>
            </a:r>
          </a:p>
          <a:p/>
          <a:p>
            <a:r>
              <a:t>资料来源（核对日期：2026-10-06）：</a:t>
            </a:r>
          </a:p>
          <a:p>
            <a:r>
              <a:t>https://nuedc.org/problems/2025_C%E9%A2%98_%E5%9F%BA%E4%BA%8E%E5%8D%95%E7%9B%AE%E8%A7%86%E8%A7%89%E7%9A%84%E7%9B%AE%E6%A0%87%E7%89%A9%E6%B5%8B%E9%87%8F%E8%A3%85%E7%BD%AE.pdf</a:t>
            </a:r>
          </a:p>
          <a:p>
            <a:r>
              <a:t>https://nuedc-sh.sjtu.edu.cn/post_detail.php?id=38</a:t>
            </a:r>
          </a:p>
          <a:p>
            <a:r>
              <a:t>https://www.nuedc-training.com.cn/index/news/details/new_id/333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2025年官方通知采用一次竞赛、两级评奖。全国评审包括综合测评、复测等环节。奖项和比例用于说明评审层级与竞争程度，不是单个队伍的获奖概率。旧章程与2025通知的赛区比例存在更新，因而本页只列2025通知中的推荐及全国奖比例，不沿用旧章程的赛区比例。</a:t>
            </a:r>
          </a:p>
          <a:p/>
          <a:p>
            <a:r>
              <a:t>资料来源（核对日期：2026-10-06）：</a:t>
            </a:r>
          </a:p>
          <a:p>
            <a:r>
              <a:t>https://jwc.xjtu.edu.cn/info/1172/8971.htm</a:t>
            </a:r>
          </a:p>
          <a:p>
            <a:r>
              <a:t>https://www.nuedc-training.com.cn/index/news/details/new_id/333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为备赛所作的技术归类，不是官方固定赛道，也不表示题号每年对应相同方向。官方2025命题原则覆盖电子电路、集成电路、嵌入式、可编程器件、射频和光电应用，赛题包括理论设计以及实际制作与调试。题目名称来自2025赛题发布页与原题。</a:t>
            </a:r>
          </a:p>
          <a:p/>
          <a:p>
            <a:r>
              <a:t>资料来源（核对日期：2026-10-06）：</a:t>
            </a:r>
          </a:p>
          <a:p>
            <a:r>
              <a:t>https://nuedc-sh.sjtu.edu.cn/post_detail.php?id=44</a:t>
            </a:r>
          </a:p>
          <a:p>
            <a:r>
              <a:t>https://nuedc-sh.sjtu.edu.cn/storage/seiee/project/nuedc/article/2025/04/b211327fd43a4749cbc3b5c584e31cb5.pdf</a:t>
            </a:r>
          </a:p>
          <a:p>
            <a:r>
              <a:t>https://www.nuedc-training.com.cn/index/news/details/new_id/335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是基于任务性质的技术准备建议。电源方向的难点常在功率回路与闭环联调，信号方向的难点常在模拟前端、噪声与采样。练习时把设计目标转成可测指标，并保留波形和测试条件。功率测试须掌握仪器接地、限流及隔离要求。</a:t>
            </a:r>
          </a:p>
          <a:p/>
          <a:p>
            <a:r>
              <a:t>资料来源（核对日期：2026-10-06）：</a:t>
            </a:r>
          </a:p>
          <a:p>
            <a:r>
              <a:t>https://nuedc-sh.sjtu.edu.cn/storage/seiee/project/nuedc/article/2025/04/b211327fd43a4749cbc3b5c584e31cb5.pdf</a:t>
            </a:r>
          </a:p>
          <a:p>
            <a:r>
              <a:t>https://nuedc-sh.sjtu.edu.cn/post_detail.php?id=44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名称很多，备赛时应围绕完整任务选择，而不是同时学习所有平台。控制系统既要能动，还要正确测量反馈并处理执行器约束。视觉系统要验证在允许条件内的表现，避免把测距任务当成单纯分类。测量题则需要明确误差来源与校准方法。本页技术路线属于教学建议。</a:t>
            </a:r>
          </a:p>
          <a:p/>
          <a:p>
            <a:r>
              <a:t>资料来源（核对日期：2026-10-06）：</a:t>
            </a:r>
          </a:p>
          <a:p>
            <a:r>
              <a:t>https://nuedc-sh.sjtu.edu.cn/storage/seiee/project/nuedc/article/2025/04/b211327fd43a4749cbc3b5c584e31cb5.pdf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2025年C题原题总分120，其中报告20、基本要求50、发挥50。目标距离范围为100至200厘米。电流测量相对误差绝对值不超过5%。本页没有列完全部任务，尤其发挥部分还有多目标、编号目标、倾斜物面及功耗等要求。供电电流测量电路不得使用商品模块。工程拆解建议：分别验证图像与几何计算、电流测量、显示和时延，再做全系统测试。</a:t>
            </a:r>
          </a:p>
          <a:p/>
          <a:p>
            <a:r>
              <a:t>资料来源（核对日期：2026-10-06）：</a:t>
            </a:r>
          </a:p>
          <a:p>
            <a:r>
              <a:t>https://nuedc.org/problems/2025_C%E9%A2%98_%E5%9F%BA%E4%BA%8E%E5%8D%95%E7%9B%AE%E8%A7%86%E8%A7%89%E7%9A%84%E7%9B%AE%E6%A0%87%E7%89%A9%E6%B5%8B%E9%87%8F%E8%A3%85%E7%BD%AE.pdf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每位队员都掌握共同基础，再形成一个主攻方向。方向专长并不替代基础测试能力，编程队员也应会看原理图与测电压，硬件队员也应理解程序状态和通信接口。最终靠系统能力把模块稳定地组合起来。该技能划分为本分享的备赛建议。</a:t>
            </a:r>
          </a:p>
          <a:p/>
          <a:p>
            <a:r>
              <a:t>资料来源（核对日期：2026-10-06）：</a:t>
            </a:r>
          </a:p>
          <a:p>
            <a:r>
              <a:t>https://nuedc-sh.sjtu.edu.cn/storage/seiee/project/nuedc/article/2025/04/b211327fd43a4749cbc3b5c584e31cb5.pdf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列的是硬件训练内容和入门任务，不是统一考试清单。先从低功率、易观测的小电路练习。示波器探头的地线与保护地相关，连接前应确认测试拓扑；功率方向应在实验室老师的赛前安全培训后操作。分析波形前先检查供电、参考地和探头设置。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平台无关的技能建议，不要求所有队伍使用同一品牌。中断处理应尽量简短，并检查共享变量与时序。算法首先要适合任务和算力约束，然后用已知输入检验结果。无论开发平台如何，作品都要符合题目的脱机、联网及器件限制。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工具名称仅作常见示例，学校现有设备与团队已掌握的平台优先。这里介绍用途，不涉及具体软件API。排障顺序是通用工程建议，可按故障调整。每次只改变一个关键条件，记录输入、输出和现象，以便复现问题。硬件修好后须重新跑系统测试，防止局部修改破坏整体。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要把第三位队员仅安排为最后写报告。测试与系统负责人应从读题开始参与，制定验收清单并持续记录。分工不是固定边界，遇到硬件或算法瓶颈时共同支援。开赛前就应约定连接器、引脚、通信格式和模块完成标准。</a:t>
            </a:r>
          </a:p>
          <a:p/>
          <a:p>
            <a:r>
              <a:t>版式与校园图片参考用户提供的西北大学蓝色模板，原模板署名：西北大学微信公众平台，图片素材来自“微西大”新媒体中心。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5" Type="http://schemas.microsoft.com/office/2007/relationships/hdphoto" Target="../media/image12.wdp"/><Relationship Id="rId4" Type="http://schemas.openxmlformats.org/officeDocument/2006/relationships/image" Target="../media/image5.png"/><Relationship Id="rId3" Type="http://schemas.microsoft.com/office/2007/relationships/hdphoto" Target="../media/image1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45" name="Freeform 509"/>
          <p:cNvSpPr>
            <a:spLocks noGrp="1"/>
          </p:cNvSpPr>
          <p:nvPr/>
        </p:nvSpPr>
        <p:spPr>
          <a:xfrm>
            <a:off x="1588" y="-104775"/>
            <a:ext cx="11485563" cy="6220715"/>
          </a:xfrm>
          <a:custGeom>
            <a:avLst/>
            <a:gdLst>
              <a:gd name="T0" fmla="*/ 0 w 7235"/>
              <a:gd name="T1" fmla="*/ 0 h 3862"/>
              <a:gd name="T2" fmla="*/ 0 w 7235"/>
              <a:gd name="T3" fmla="*/ 2873 h 3862"/>
              <a:gd name="T4" fmla="*/ 2804 w 7235"/>
              <a:gd name="T5" fmla="*/ 3862 h 3862"/>
              <a:gd name="T6" fmla="*/ 7235 w 7235"/>
              <a:gd name="T7" fmla="*/ 0 h 3862"/>
              <a:gd name="T8" fmla="*/ 0 w 7235"/>
              <a:gd name="T9" fmla="*/ 0 h 3862"/>
            </a:gdLst>
            <a:ahLst/>
            <a:cxnLst/>
            <a:rect l="0" t="0" r="r" b="b"/>
            <a:pathLst>
              <a:path w="7235" h="3862">
                <a:moveTo>
                  <a:pt x="0" y="0"/>
                </a:moveTo>
                <a:cubicBezTo>
                  <a:pt x="0" y="2873"/>
                  <a:pt x="0" y="2873"/>
                  <a:pt x="0" y="2873"/>
                </a:cubicBezTo>
                <a:cubicBezTo>
                  <a:pt x="767" y="3492"/>
                  <a:pt x="1742" y="3862"/>
                  <a:pt x="2804" y="3862"/>
                </a:cubicBezTo>
                <a:cubicBezTo>
                  <a:pt x="5067" y="3862"/>
                  <a:pt x="6938" y="2181"/>
                  <a:pt x="723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46" name="Freeform 510"/>
          <p:cNvSpPr>
            <a:spLocks noGrp="1"/>
          </p:cNvSpPr>
          <p:nvPr/>
        </p:nvSpPr>
        <p:spPr>
          <a:xfrm>
            <a:off x="3684588" y="6119395"/>
            <a:ext cx="1652588" cy="748356"/>
          </a:xfrm>
          <a:custGeom>
            <a:avLst/>
            <a:gdLst>
              <a:gd name="T0" fmla="*/ 0 w 1041"/>
              <a:gd name="T1" fmla="*/ 465 h 465"/>
              <a:gd name="T2" fmla="*/ 1041 w 1041"/>
              <a:gd name="T3" fmla="*/ 465 h 465"/>
              <a:gd name="T4" fmla="*/ 520 w 1041"/>
              <a:gd name="T5" fmla="*/ 0 h 465"/>
              <a:gd name="T6" fmla="*/ 0 w 1041"/>
              <a:gd name="T7" fmla="*/ 465 h 465"/>
            </a:gdLst>
            <a:ahLst/>
            <a:cxnLst/>
            <a:rect l="0" t="0" r="r" b="b"/>
            <a:pathLst>
              <a:path w="1041" h="465">
                <a:moveTo>
                  <a:pt x="0" y="465"/>
                </a:moveTo>
                <a:cubicBezTo>
                  <a:pt x="1041" y="465"/>
                  <a:pt x="1041" y="465"/>
                  <a:pt x="1041" y="465"/>
                </a:cubicBezTo>
                <a:cubicBezTo>
                  <a:pt x="1011" y="203"/>
                  <a:pt x="790" y="0"/>
                  <a:pt x="520" y="0"/>
                </a:cubicBezTo>
                <a:cubicBezTo>
                  <a:pt x="251" y="0"/>
                  <a:pt x="30" y="203"/>
                  <a:pt x="0" y="465"/>
                </a:cubicBezTo>
                <a:close/>
              </a:path>
            </a:pathLst>
          </a:custGeom>
          <a:gradFill>
            <a:gsLst>
              <a:gs pos="8000">
                <a:schemeClr val="accent5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47" name="Oval 511"/>
          <p:cNvSpPr>
            <a:spLocks noGrp="1"/>
          </p:cNvSpPr>
          <p:nvPr/>
        </p:nvSpPr>
        <p:spPr>
          <a:xfrm>
            <a:off x="7786688" y="2793494"/>
            <a:ext cx="2973388" cy="3016006"/>
          </a:xfrm>
          <a:prstGeom prst="ellipse">
            <a:avLst/>
          </a:prstGeom>
          <a:gradFill>
            <a:gsLst>
              <a:gs pos="8000">
                <a:schemeClr val="accent4">
                  <a:lumMod val="60000"/>
                  <a:lumOff val="40000"/>
                  <a:alpha val="30000"/>
                </a:schemeClr>
              </a:gs>
              <a:gs pos="85000">
                <a:schemeClr val="accent4">
                  <a:alpha val="30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48" name="Freeform 512"/>
          <p:cNvSpPr>
            <a:spLocks noGrp="1"/>
          </p:cNvSpPr>
          <p:nvPr/>
        </p:nvSpPr>
        <p:spPr>
          <a:xfrm>
            <a:off x="6223000" y="-104775"/>
            <a:ext cx="5970588" cy="6056205"/>
          </a:xfrm>
          <a:custGeom>
            <a:avLst/>
            <a:gdLst>
              <a:gd name="T0" fmla="*/ 3761 w 3761"/>
              <a:gd name="T1" fmla="*/ 0 h 3755"/>
              <a:gd name="T2" fmla="*/ 0 w 3761"/>
              <a:gd name="T3" fmla="*/ 0 h 3755"/>
              <a:gd name="T4" fmla="*/ 3761 w 3761"/>
              <a:gd name="T5" fmla="*/ 3755 h 3755"/>
              <a:gd name="T6" fmla="*/ 3761 w 3761"/>
              <a:gd name="T7" fmla="*/ 0 h 3755"/>
            </a:gdLst>
            <a:ahLst/>
            <a:cxnLst/>
            <a:rect l="0" t="0" r="r" b="b"/>
            <a:pathLst>
              <a:path w="3761" h="3755">
                <a:moveTo>
                  <a:pt x="3761" y="0"/>
                </a:moveTo>
                <a:lnTo>
                  <a:pt x="0" y="0"/>
                </a:lnTo>
                <a:lnTo>
                  <a:pt x="3761" y="3755"/>
                </a:lnTo>
                <a:lnTo>
                  <a:pt x="3761" y="0"/>
                </a:lnTo>
                <a:close/>
              </a:path>
            </a:pathLst>
          </a:custGeom>
          <a:gradFill>
            <a:gsLst>
              <a:gs pos="97000">
                <a:schemeClr val="accent2"/>
              </a:gs>
              <a:gs pos="28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49" name="Freeform 513"/>
          <p:cNvSpPr>
            <a:spLocks noGrp="1"/>
          </p:cNvSpPr>
          <p:nvPr/>
        </p:nvSpPr>
        <p:spPr>
          <a:xfrm>
            <a:off x="9610725" y="3148318"/>
            <a:ext cx="1450975" cy="2945041"/>
          </a:xfrm>
          <a:custGeom>
            <a:avLst/>
            <a:gdLst>
              <a:gd name="T0" fmla="*/ 914 w 914"/>
              <a:gd name="T1" fmla="*/ 1826 h 1826"/>
              <a:gd name="T2" fmla="*/ 0 w 914"/>
              <a:gd name="T3" fmla="*/ 913 h 1826"/>
              <a:gd name="T4" fmla="*/ 914 w 914"/>
              <a:gd name="T5" fmla="*/ 0 h 1826"/>
              <a:gd name="T6" fmla="*/ 914 w 914"/>
              <a:gd name="T7" fmla="*/ 1826 h 1826"/>
            </a:gdLst>
            <a:ahLst/>
            <a:cxnLst/>
            <a:rect l="0" t="0" r="r" b="b"/>
            <a:pathLst>
              <a:path w="914" h="1826">
                <a:moveTo>
                  <a:pt x="914" y="1826"/>
                </a:moveTo>
                <a:lnTo>
                  <a:pt x="0" y="913"/>
                </a:lnTo>
                <a:lnTo>
                  <a:pt x="914" y="0"/>
                </a:lnTo>
                <a:lnTo>
                  <a:pt x="914" y="1826"/>
                </a:lnTo>
                <a:close/>
              </a:path>
            </a:pathLst>
          </a:custGeom>
          <a:gradFill>
            <a:gsLst>
              <a:gs pos="6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50" name="Freeform 514"/>
          <p:cNvSpPr>
            <a:spLocks noGrp="1"/>
          </p:cNvSpPr>
          <p:nvPr/>
        </p:nvSpPr>
        <p:spPr>
          <a:xfrm>
            <a:off x="295275" y="1214526"/>
            <a:ext cx="527050" cy="598363"/>
          </a:xfrm>
          <a:custGeom>
            <a:avLst/>
            <a:gdLst>
              <a:gd name="T0" fmla="*/ 38 w 332"/>
              <a:gd name="T1" fmla="*/ 371 h 371"/>
              <a:gd name="T2" fmla="*/ 0 w 332"/>
              <a:gd name="T3" fmla="*/ 39 h 371"/>
              <a:gd name="T4" fmla="*/ 332 w 332"/>
              <a:gd name="T5" fmla="*/ 0 h 371"/>
              <a:gd name="T6" fmla="*/ 38 w 332"/>
              <a:gd name="T7" fmla="*/ 371 h 371"/>
            </a:gdLst>
            <a:ahLst/>
            <a:cxnLst/>
            <a:rect l="0" t="0" r="r" b="b"/>
            <a:pathLst>
              <a:path w="332" h="371">
                <a:moveTo>
                  <a:pt x="38" y="371"/>
                </a:moveTo>
                <a:lnTo>
                  <a:pt x="0" y="39"/>
                </a:lnTo>
                <a:lnTo>
                  <a:pt x="332" y="0"/>
                </a:lnTo>
                <a:lnTo>
                  <a:pt x="38" y="371"/>
                </a:lnTo>
                <a:close/>
              </a:path>
            </a:pathLst>
          </a:custGeom>
          <a:gradFill>
            <a:gsLst>
              <a:gs pos="8000">
                <a:schemeClr val="accent2"/>
              </a:gs>
              <a:gs pos="85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51" name="Freeform 515"/>
          <p:cNvSpPr>
            <a:spLocks noGrp="1"/>
          </p:cNvSpPr>
          <p:nvPr/>
        </p:nvSpPr>
        <p:spPr>
          <a:xfrm>
            <a:off x="5476875" y="-104775"/>
            <a:ext cx="4738688" cy="2922461"/>
          </a:xfrm>
          <a:custGeom>
            <a:avLst/>
            <a:gdLst>
              <a:gd name="T0" fmla="*/ 0 w 2985"/>
              <a:gd name="T1" fmla="*/ 323 h 1815"/>
              <a:gd name="T2" fmla="*/ 1492 w 2985"/>
              <a:gd name="T3" fmla="*/ 1815 h 1815"/>
              <a:gd name="T4" fmla="*/ 2985 w 2985"/>
              <a:gd name="T5" fmla="*/ 323 h 1815"/>
              <a:gd name="T6" fmla="*/ 2950 w 2985"/>
              <a:gd name="T7" fmla="*/ 0 h 1815"/>
              <a:gd name="T8" fmla="*/ 35 w 2985"/>
              <a:gd name="T9" fmla="*/ 0 h 1815"/>
              <a:gd name="T10" fmla="*/ 0 w 2985"/>
              <a:gd name="T11" fmla="*/ 323 h 1815"/>
            </a:gdLst>
            <a:ahLst/>
            <a:cxnLst/>
            <a:rect l="0" t="0" r="r" b="b"/>
            <a:pathLst>
              <a:path w="2985" h="1815">
                <a:moveTo>
                  <a:pt x="0" y="323"/>
                </a:moveTo>
                <a:cubicBezTo>
                  <a:pt x="0" y="1147"/>
                  <a:pt x="668" y="1815"/>
                  <a:pt x="1492" y="1815"/>
                </a:cubicBezTo>
                <a:cubicBezTo>
                  <a:pt x="2317" y="1815"/>
                  <a:pt x="2985" y="1147"/>
                  <a:pt x="2985" y="323"/>
                </a:cubicBezTo>
                <a:cubicBezTo>
                  <a:pt x="2985" y="212"/>
                  <a:pt x="2973" y="104"/>
                  <a:pt x="2950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2" y="104"/>
                  <a:pt x="0" y="212"/>
                  <a:pt x="0" y="323"/>
                </a:cubicBezTo>
                <a:close/>
              </a:path>
            </a:pathLst>
          </a:custGeom>
          <a:gradFill>
            <a:gsLst>
              <a:gs pos="8000">
                <a:schemeClr val="accent4">
                  <a:lumMod val="60000"/>
                  <a:lumOff val="40000"/>
                </a:schemeClr>
              </a:gs>
              <a:gs pos="85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52" name="Freeform 516"/>
          <p:cNvSpPr>
            <a:spLocks noGrp="1"/>
          </p:cNvSpPr>
          <p:nvPr/>
        </p:nvSpPr>
        <p:spPr>
          <a:xfrm>
            <a:off x="7513638" y="-104775"/>
            <a:ext cx="2701925" cy="2212813"/>
          </a:xfrm>
          <a:custGeom>
            <a:avLst/>
            <a:gdLst>
              <a:gd name="T0" fmla="*/ 1269 w 1702"/>
              <a:gd name="T1" fmla="*/ 1374 h 1374"/>
              <a:gd name="T2" fmla="*/ 1702 w 1702"/>
              <a:gd name="T3" fmla="*/ 323 h 1374"/>
              <a:gd name="T4" fmla="*/ 1667 w 1702"/>
              <a:gd name="T5" fmla="*/ 0 h 1374"/>
              <a:gd name="T6" fmla="*/ 0 w 1702"/>
              <a:gd name="T7" fmla="*/ 0 h 1374"/>
              <a:gd name="T8" fmla="*/ 1269 w 1702"/>
              <a:gd name="T9" fmla="*/ 1374 h 1374"/>
            </a:gdLst>
            <a:ahLst/>
            <a:cxnLst/>
            <a:rect l="0" t="0" r="r" b="b"/>
            <a:pathLst>
              <a:path w="1702" h="1374">
                <a:moveTo>
                  <a:pt x="1269" y="1374"/>
                </a:moveTo>
                <a:cubicBezTo>
                  <a:pt x="1536" y="1104"/>
                  <a:pt x="1702" y="733"/>
                  <a:pt x="1702" y="323"/>
                </a:cubicBezTo>
                <a:cubicBezTo>
                  <a:pt x="1702" y="212"/>
                  <a:pt x="1690" y="104"/>
                  <a:pt x="1667" y="0"/>
                </a:cubicBezTo>
                <a:cubicBezTo>
                  <a:pt x="0" y="0"/>
                  <a:pt x="0" y="0"/>
                  <a:pt x="0" y="0"/>
                </a:cubicBezTo>
                <a:lnTo>
                  <a:pt x="1269" y="1374"/>
                </a:lnTo>
                <a:close/>
              </a:path>
            </a:pathLst>
          </a:custGeom>
          <a:gradFill>
            <a:gsLst>
              <a:gs pos="8000">
                <a:schemeClr val="accent5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1246981" y="3006820"/>
            <a:ext cx="5627686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1246982" y="1938685"/>
            <a:ext cx="5627686" cy="1042559"/>
          </a:xfrm>
        </p:spPr>
        <p:txBody>
          <a:bodyPr anchor="ctr">
            <a:normAutofit/>
          </a:bodyPr>
          <a:lstStyle>
            <a:lvl1pPr algn="l">
              <a:buNone/>
              <a:defRPr sz="4000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2" name="文本占位符 13"/>
          <p:cNvSpPr>
            <a:spLocks noGrp="1"/>
          </p:cNvSpPr>
          <p:nvPr>
            <p:ph type="body" idx="10" hasCustomPrompt="1"/>
          </p:nvPr>
        </p:nvSpPr>
        <p:spPr>
          <a:xfrm>
            <a:off x="1251875" y="4630968"/>
            <a:ext cx="2500975" cy="296271"/>
          </a:xfrm>
          <a:prstGeom prst="roundRect">
            <a:avLst>
              <a:gd name="adj" fmla="val 50000"/>
            </a:avLst>
          </a:prstGeom>
          <a:gradFill>
            <a:gsLst>
              <a:gs pos="9000">
                <a:schemeClr val="accent2"/>
              </a:gs>
              <a:gs pos="85000">
                <a:schemeClr val="accent1"/>
              </a:gs>
            </a:gsLst>
            <a:lin ang="0" scaled="0"/>
          </a:gradFill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>
            <p:ph type="body" idx="11" hasCustomPrompt="1"/>
          </p:nvPr>
        </p:nvSpPr>
        <p:spPr>
          <a:xfrm>
            <a:off x="1246982" y="4998158"/>
            <a:ext cx="1620043" cy="296271"/>
          </a:xfrm>
          <a:prstGeom prst="roundRect">
            <a:avLst>
              <a:gd name="adj" fmla="val 50000"/>
            </a:avLst>
          </a:prstGeom>
          <a:ln>
            <a:gradFill>
              <a:gsLst>
                <a:gs pos="10000">
                  <a:schemeClr val="accent2"/>
                </a:gs>
                <a:gs pos="87000">
                  <a:schemeClr val="accent1"/>
                </a:gs>
              </a:gsLst>
              <a:lin ang="5400000" scaled="1"/>
            </a:gradFill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Date</a:t>
            </a:r>
          </a:p>
        </p:txBody>
      </p:sp>
      <p:pic>
        <p:nvPicPr>
          <p:cNvPr id="9816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69" y="40971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/>
      <p:sp>
        <p:nvSpPr>
          <p:cNvPr id="578" name="Freeform 512"/>
          <p:cNvSpPr>
            <a:spLocks noGrp="1"/>
          </p:cNvSpPr>
          <p:nvPr/>
        </p:nvSpPr>
        <p:spPr>
          <a:xfrm>
            <a:off x="8057356" y="0"/>
            <a:ext cx="4141788" cy="4135181"/>
          </a:xfrm>
          <a:custGeom>
            <a:avLst/>
            <a:gdLst>
              <a:gd name="T0" fmla="*/ 3761 w 3761"/>
              <a:gd name="T1" fmla="*/ 0 h 3755"/>
              <a:gd name="T2" fmla="*/ 0 w 3761"/>
              <a:gd name="T3" fmla="*/ 0 h 3755"/>
              <a:gd name="T4" fmla="*/ 3761 w 3761"/>
              <a:gd name="T5" fmla="*/ 3755 h 3755"/>
              <a:gd name="T6" fmla="*/ 3761 w 3761"/>
              <a:gd name="T7" fmla="*/ 0 h 3755"/>
            </a:gdLst>
            <a:ahLst/>
            <a:cxnLst/>
            <a:rect l="0" t="0" r="r" b="b"/>
            <a:pathLst>
              <a:path w="3761" h="3755">
                <a:moveTo>
                  <a:pt x="3761" y="0"/>
                </a:moveTo>
                <a:lnTo>
                  <a:pt x="0" y="0"/>
                </a:lnTo>
                <a:lnTo>
                  <a:pt x="3761" y="3755"/>
                </a:lnTo>
                <a:lnTo>
                  <a:pt x="376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79" name="Freeform 513"/>
          <p:cNvSpPr>
            <a:spLocks noGrp="1"/>
          </p:cNvSpPr>
          <p:nvPr/>
        </p:nvSpPr>
        <p:spPr>
          <a:xfrm rot="576007">
            <a:off x="822326" y="1177347"/>
            <a:ext cx="1616075" cy="3228614"/>
          </a:xfrm>
          <a:custGeom>
            <a:avLst/>
            <a:gdLst>
              <a:gd name="T0" fmla="*/ 914 w 914"/>
              <a:gd name="T1" fmla="*/ 1826 h 1826"/>
              <a:gd name="T2" fmla="*/ 0 w 914"/>
              <a:gd name="T3" fmla="*/ 913 h 1826"/>
              <a:gd name="T4" fmla="*/ 914 w 914"/>
              <a:gd name="T5" fmla="*/ 0 h 1826"/>
              <a:gd name="T6" fmla="*/ 914 w 914"/>
              <a:gd name="T7" fmla="*/ 1826 h 1826"/>
            </a:gdLst>
            <a:ahLst/>
            <a:cxnLst/>
            <a:rect l="0" t="0" r="r" b="b"/>
            <a:pathLst>
              <a:path w="914" h="1826">
                <a:moveTo>
                  <a:pt x="914" y="1826"/>
                </a:moveTo>
                <a:lnTo>
                  <a:pt x="0" y="913"/>
                </a:lnTo>
                <a:lnTo>
                  <a:pt x="914" y="0"/>
                </a:lnTo>
                <a:lnTo>
                  <a:pt x="914" y="1826"/>
                </a:lnTo>
                <a:close/>
              </a:path>
            </a:pathLst>
          </a:custGeom>
          <a:gradFill>
            <a:gsLst>
              <a:gs pos="6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80" name="Freeform 514"/>
          <p:cNvSpPr>
            <a:spLocks noGrp="1"/>
          </p:cNvSpPr>
          <p:nvPr/>
        </p:nvSpPr>
        <p:spPr>
          <a:xfrm rot="900000">
            <a:off x="1299256" y="1077560"/>
            <a:ext cx="874939" cy="977719"/>
          </a:xfrm>
          <a:custGeom>
            <a:avLst/>
            <a:gdLst>
              <a:gd name="T0" fmla="*/ 38 w 332"/>
              <a:gd name="T1" fmla="*/ 371 h 371"/>
              <a:gd name="T2" fmla="*/ 0 w 332"/>
              <a:gd name="T3" fmla="*/ 39 h 371"/>
              <a:gd name="T4" fmla="*/ 332 w 332"/>
              <a:gd name="T5" fmla="*/ 0 h 371"/>
              <a:gd name="T6" fmla="*/ 38 w 332"/>
              <a:gd name="T7" fmla="*/ 371 h 371"/>
            </a:gdLst>
            <a:ahLst/>
            <a:cxnLst/>
            <a:rect l="0" t="0" r="r" b="b"/>
            <a:pathLst>
              <a:path w="332" h="371">
                <a:moveTo>
                  <a:pt x="38" y="371"/>
                </a:moveTo>
                <a:lnTo>
                  <a:pt x="0" y="39"/>
                </a:lnTo>
                <a:lnTo>
                  <a:pt x="332" y="0"/>
                </a:lnTo>
                <a:lnTo>
                  <a:pt x="38" y="371"/>
                </a:lnTo>
                <a:close/>
              </a:path>
            </a:pathLst>
          </a:custGeom>
          <a:gradFill>
            <a:gsLst>
              <a:gs pos="8000">
                <a:schemeClr val="accent2"/>
              </a:gs>
              <a:gs pos="85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846196" y="1942131"/>
            <a:ext cx="5419185" cy="895350"/>
          </a:xfrm>
        </p:spPr>
        <p:txBody>
          <a:bodyPr anchor="b">
            <a:normAutofit/>
          </a:bodyPr>
          <a:lstStyle>
            <a:lvl1pPr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2846195" y="2837481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pic>
        <p:nvPicPr>
          <p:cNvPr id="587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46" y="362091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1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744" y="16302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11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744" y="16302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1_仅标题页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1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744" y="163026"/>
            <a:ext cx="1773181" cy="496260"/>
          </a:xfrm>
          <a:prstGeom prst="rect">
            <a:avLst/>
          </a:prstGeom>
        </p:spPr>
      </p:pic>
      <p:sp>
        <p:nvSpPr>
          <p:cNvPr id="7" name="图片占位符 6"/>
          <p:cNvSpPr>
            <a:spLocks noGrp="1"/>
          </p:cNvSpPr>
          <p:nvPr>
            <p:ph type="pic" idx="13"/>
          </p:nvPr>
        </p:nvSpPr>
        <p:spPr>
          <a:xfrm>
            <a:off x="8362950" y="1809750"/>
            <a:ext cx="2857500" cy="2438400"/>
          </a:xfrm>
          <a:prstGeom prst="rect">
            <a:avLst/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/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69" y="409716"/>
            <a:ext cx="1773181" cy="496260"/>
          </a:xfrm>
          <a:prstGeom prst="rect">
            <a:avLst/>
          </a:prstGeom>
        </p:spPr>
      </p:pic>
      <p:sp>
        <p:nvSpPr>
          <p:cNvPr id="3" name="Oval 511"/>
          <p:cNvSpPr>
            <a:spLocks noGrp="1"/>
          </p:cNvSpPr>
          <p:nvPr/>
        </p:nvSpPr>
        <p:spPr>
          <a:xfrm>
            <a:off x="9403004" y="5412016"/>
            <a:ext cx="1772996" cy="1798409"/>
          </a:xfrm>
          <a:prstGeom prst="ellipse">
            <a:avLst/>
          </a:prstGeom>
          <a:gradFill>
            <a:gsLst>
              <a:gs pos="8000">
                <a:schemeClr val="accent4">
                  <a:lumMod val="60000"/>
                  <a:lumOff val="40000"/>
                  <a:alpha val="30000"/>
                </a:schemeClr>
              </a:gs>
              <a:gs pos="85000">
                <a:schemeClr val="accent4">
                  <a:alpha val="30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6" name="Freeform 512"/>
          <p:cNvSpPr>
            <a:spLocks noGrp="1"/>
          </p:cNvSpPr>
          <p:nvPr/>
        </p:nvSpPr>
        <p:spPr>
          <a:xfrm>
            <a:off x="8057356" y="0"/>
            <a:ext cx="4141788" cy="4135181"/>
          </a:xfrm>
          <a:custGeom>
            <a:avLst/>
            <a:gdLst>
              <a:gd name="T0" fmla="*/ 3761 w 3761"/>
              <a:gd name="T1" fmla="*/ 0 h 3755"/>
              <a:gd name="T2" fmla="*/ 0 w 3761"/>
              <a:gd name="T3" fmla="*/ 0 h 3755"/>
              <a:gd name="T4" fmla="*/ 3761 w 3761"/>
              <a:gd name="T5" fmla="*/ 3755 h 3755"/>
              <a:gd name="T6" fmla="*/ 3761 w 3761"/>
              <a:gd name="T7" fmla="*/ 0 h 3755"/>
            </a:gdLst>
            <a:ahLst/>
            <a:cxnLst/>
            <a:rect l="0" t="0" r="r" b="b"/>
            <a:pathLst>
              <a:path w="3761" h="3755">
                <a:moveTo>
                  <a:pt x="3761" y="0"/>
                </a:moveTo>
                <a:lnTo>
                  <a:pt x="0" y="0"/>
                </a:lnTo>
                <a:lnTo>
                  <a:pt x="3761" y="3755"/>
                </a:lnTo>
                <a:lnTo>
                  <a:pt x="3761" y="0"/>
                </a:lnTo>
                <a:close/>
              </a:path>
            </a:pathLst>
          </a:custGeom>
          <a:blipFill rotWithShape="1">
            <a:blip r:embed="rId3"/>
            <a:srcRect/>
            <a:stretch>
              <a:fillRect l="-4000" t="-16000" r="-40000"/>
            </a:stretch>
          </a:blip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8" name="Freeform 513"/>
          <p:cNvSpPr>
            <a:spLocks noGrp="1"/>
          </p:cNvSpPr>
          <p:nvPr/>
        </p:nvSpPr>
        <p:spPr>
          <a:xfrm rot="576007">
            <a:off x="13061" y="3570518"/>
            <a:ext cx="1514633" cy="3025951"/>
          </a:xfrm>
          <a:custGeom>
            <a:avLst/>
            <a:gdLst>
              <a:gd name="T0" fmla="*/ 914 w 914"/>
              <a:gd name="T1" fmla="*/ 1826 h 1826"/>
              <a:gd name="T2" fmla="*/ 0 w 914"/>
              <a:gd name="T3" fmla="*/ 913 h 1826"/>
              <a:gd name="T4" fmla="*/ 914 w 914"/>
              <a:gd name="T5" fmla="*/ 0 h 1826"/>
              <a:gd name="T6" fmla="*/ 914 w 914"/>
              <a:gd name="T7" fmla="*/ 1826 h 1826"/>
            </a:gdLst>
            <a:ahLst/>
            <a:cxnLst/>
            <a:rect l="0" t="0" r="r" b="b"/>
            <a:pathLst>
              <a:path w="914" h="1826">
                <a:moveTo>
                  <a:pt x="914" y="1826"/>
                </a:moveTo>
                <a:lnTo>
                  <a:pt x="0" y="913"/>
                </a:lnTo>
                <a:lnTo>
                  <a:pt x="914" y="0"/>
                </a:lnTo>
                <a:lnTo>
                  <a:pt x="914" y="1826"/>
                </a:lnTo>
                <a:close/>
              </a:path>
            </a:pathLst>
          </a:custGeom>
          <a:gradFill>
            <a:gsLst>
              <a:gs pos="6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9" name="Freeform 514"/>
          <p:cNvSpPr>
            <a:spLocks noGrp="1"/>
          </p:cNvSpPr>
          <p:nvPr/>
        </p:nvSpPr>
        <p:spPr>
          <a:xfrm rot="900000">
            <a:off x="460054" y="3476994"/>
            <a:ext cx="820018" cy="916346"/>
          </a:xfrm>
          <a:custGeom>
            <a:avLst/>
            <a:gdLst>
              <a:gd name="T0" fmla="*/ 38 w 332"/>
              <a:gd name="T1" fmla="*/ 371 h 371"/>
              <a:gd name="T2" fmla="*/ 0 w 332"/>
              <a:gd name="T3" fmla="*/ 39 h 371"/>
              <a:gd name="T4" fmla="*/ 332 w 332"/>
              <a:gd name="T5" fmla="*/ 0 h 371"/>
              <a:gd name="T6" fmla="*/ 38 w 332"/>
              <a:gd name="T7" fmla="*/ 371 h 371"/>
            </a:gdLst>
            <a:ahLst/>
            <a:cxnLst/>
            <a:rect l="0" t="0" r="r" b="b"/>
            <a:pathLst>
              <a:path w="332" h="371">
                <a:moveTo>
                  <a:pt x="38" y="371"/>
                </a:moveTo>
                <a:lnTo>
                  <a:pt x="0" y="39"/>
                </a:lnTo>
                <a:lnTo>
                  <a:pt x="332" y="0"/>
                </a:lnTo>
                <a:lnTo>
                  <a:pt x="38" y="371"/>
                </a:lnTo>
                <a:close/>
              </a:path>
            </a:pathLst>
          </a:custGeom>
          <a:gradFill>
            <a:gsLst>
              <a:gs pos="8000">
                <a:schemeClr val="accent2"/>
              </a:gs>
              <a:gs pos="85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/>
      <p:sp>
        <p:nvSpPr>
          <p:cNvPr id="334" name="Freeform 509"/>
          <p:cNvSpPr>
            <a:spLocks noGrp="1"/>
          </p:cNvSpPr>
          <p:nvPr/>
        </p:nvSpPr>
        <p:spPr>
          <a:xfrm flipH="1">
            <a:off x="-1588" y="-85725"/>
            <a:ext cx="11485563" cy="6203719"/>
          </a:xfrm>
          <a:custGeom>
            <a:avLst/>
            <a:gdLst>
              <a:gd name="T0" fmla="*/ 0 w 7235"/>
              <a:gd name="T1" fmla="*/ 0 h 3862"/>
              <a:gd name="T2" fmla="*/ 0 w 7235"/>
              <a:gd name="T3" fmla="*/ 2873 h 3862"/>
              <a:gd name="T4" fmla="*/ 2804 w 7235"/>
              <a:gd name="T5" fmla="*/ 3862 h 3862"/>
              <a:gd name="T6" fmla="*/ 7235 w 7235"/>
              <a:gd name="T7" fmla="*/ 0 h 3862"/>
              <a:gd name="T8" fmla="*/ 0 w 7235"/>
              <a:gd name="T9" fmla="*/ 0 h 3862"/>
            </a:gdLst>
            <a:ahLst/>
            <a:cxnLst/>
            <a:rect l="0" t="0" r="r" b="b"/>
            <a:pathLst>
              <a:path w="7235" h="3862">
                <a:moveTo>
                  <a:pt x="0" y="0"/>
                </a:moveTo>
                <a:cubicBezTo>
                  <a:pt x="0" y="2873"/>
                  <a:pt x="0" y="2873"/>
                  <a:pt x="0" y="2873"/>
                </a:cubicBezTo>
                <a:cubicBezTo>
                  <a:pt x="767" y="3492"/>
                  <a:pt x="1742" y="3862"/>
                  <a:pt x="2804" y="3862"/>
                </a:cubicBezTo>
                <a:cubicBezTo>
                  <a:pt x="5067" y="3862"/>
                  <a:pt x="6938" y="2181"/>
                  <a:pt x="723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5" name="Freeform 510"/>
          <p:cNvSpPr>
            <a:spLocks noGrp="1"/>
          </p:cNvSpPr>
          <p:nvPr/>
        </p:nvSpPr>
        <p:spPr>
          <a:xfrm flipH="1">
            <a:off x="-3684588" y="6121440"/>
            <a:ext cx="1652588" cy="746312"/>
          </a:xfrm>
          <a:custGeom>
            <a:avLst/>
            <a:gdLst>
              <a:gd name="T0" fmla="*/ 0 w 1041"/>
              <a:gd name="T1" fmla="*/ 465 h 465"/>
              <a:gd name="T2" fmla="*/ 1041 w 1041"/>
              <a:gd name="T3" fmla="*/ 465 h 465"/>
              <a:gd name="T4" fmla="*/ 520 w 1041"/>
              <a:gd name="T5" fmla="*/ 0 h 465"/>
              <a:gd name="T6" fmla="*/ 0 w 1041"/>
              <a:gd name="T7" fmla="*/ 465 h 465"/>
            </a:gdLst>
            <a:ahLst/>
            <a:cxnLst/>
            <a:rect l="0" t="0" r="r" b="b"/>
            <a:pathLst>
              <a:path w="1041" h="465">
                <a:moveTo>
                  <a:pt x="0" y="465"/>
                </a:moveTo>
                <a:cubicBezTo>
                  <a:pt x="1041" y="465"/>
                  <a:pt x="1041" y="465"/>
                  <a:pt x="1041" y="465"/>
                </a:cubicBezTo>
                <a:cubicBezTo>
                  <a:pt x="1011" y="203"/>
                  <a:pt x="790" y="0"/>
                  <a:pt x="520" y="0"/>
                </a:cubicBezTo>
                <a:cubicBezTo>
                  <a:pt x="251" y="0"/>
                  <a:pt x="30" y="203"/>
                  <a:pt x="0" y="465"/>
                </a:cubicBezTo>
                <a:close/>
              </a:path>
            </a:pathLst>
          </a:custGeom>
          <a:gradFill>
            <a:gsLst>
              <a:gs pos="8000">
                <a:schemeClr val="accent5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6" name="Oval 511"/>
          <p:cNvSpPr>
            <a:spLocks noGrp="1"/>
          </p:cNvSpPr>
          <p:nvPr/>
        </p:nvSpPr>
        <p:spPr>
          <a:xfrm flipH="1">
            <a:off x="-7786688" y="2804626"/>
            <a:ext cx="2973388" cy="3007766"/>
          </a:xfrm>
          <a:prstGeom prst="ellipse">
            <a:avLst/>
          </a:prstGeom>
          <a:gradFill>
            <a:gsLst>
              <a:gs pos="8000">
                <a:schemeClr val="accent4">
                  <a:lumMod val="60000"/>
                  <a:lumOff val="40000"/>
                  <a:alpha val="30000"/>
                </a:schemeClr>
              </a:gs>
              <a:gs pos="85000">
                <a:schemeClr val="accent4">
                  <a:alpha val="30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7" name="Freeform 512"/>
          <p:cNvSpPr>
            <a:spLocks noGrp="1"/>
          </p:cNvSpPr>
          <p:nvPr/>
        </p:nvSpPr>
        <p:spPr>
          <a:xfrm flipH="1">
            <a:off x="-5516564" y="-85725"/>
            <a:ext cx="6677024" cy="6039659"/>
          </a:xfrm>
          <a:custGeom>
            <a:avLst/>
            <a:gdLst>
              <a:gd name="T0" fmla="*/ 3761 w 3761"/>
              <a:gd name="T1" fmla="*/ 0 h 3755"/>
              <a:gd name="T2" fmla="*/ 0 w 3761"/>
              <a:gd name="T3" fmla="*/ 0 h 3755"/>
              <a:gd name="T4" fmla="*/ 3761 w 3761"/>
              <a:gd name="T5" fmla="*/ 3755 h 3755"/>
              <a:gd name="T6" fmla="*/ 3761 w 3761"/>
              <a:gd name="T7" fmla="*/ 0 h 3755"/>
            </a:gdLst>
            <a:ahLst/>
            <a:cxnLst/>
            <a:rect l="0" t="0" r="r" b="b"/>
            <a:pathLst>
              <a:path w="3761" h="3755">
                <a:moveTo>
                  <a:pt x="3761" y="0"/>
                </a:moveTo>
                <a:lnTo>
                  <a:pt x="0" y="0"/>
                </a:lnTo>
                <a:lnTo>
                  <a:pt x="3761" y="3755"/>
                </a:lnTo>
                <a:lnTo>
                  <a:pt x="376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8" name="Freeform 513"/>
          <p:cNvSpPr>
            <a:spLocks noGrp="1"/>
          </p:cNvSpPr>
          <p:nvPr/>
        </p:nvSpPr>
        <p:spPr>
          <a:xfrm flipH="1">
            <a:off x="-9610725" y="3158481"/>
            <a:ext cx="1450975" cy="2936995"/>
          </a:xfrm>
          <a:custGeom>
            <a:avLst/>
            <a:gdLst>
              <a:gd name="T0" fmla="*/ 914 w 914"/>
              <a:gd name="T1" fmla="*/ 1826 h 1826"/>
              <a:gd name="T2" fmla="*/ 0 w 914"/>
              <a:gd name="T3" fmla="*/ 913 h 1826"/>
              <a:gd name="T4" fmla="*/ 914 w 914"/>
              <a:gd name="T5" fmla="*/ 0 h 1826"/>
              <a:gd name="T6" fmla="*/ 914 w 914"/>
              <a:gd name="T7" fmla="*/ 1826 h 1826"/>
            </a:gdLst>
            <a:ahLst/>
            <a:cxnLst/>
            <a:rect l="0" t="0" r="r" b="b"/>
            <a:pathLst>
              <a:path w="914" h="1826">
                <a:moveTo>
                  <a:pt x="914" y="1826"/>
                </a:moveTo>
                <a:lnTo>
                  <a:pt x="0" y="913"/>
                </a:lnTo>
                <a:lnTo>
                  <a:pt x="914" y="0"/>
                </a:lnTo>
                <a:lnTo>
                  <a:pt x="914" y="1826"/>
                </a:lnTo>
                <a:close/>
              </a:path>
            </a:pathLst>
          </a:custGeom>
          <a:gradFill>
            <a:gsLst>
              <a:gs pos="6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9" name="Freeform 514"/>
          <p:cNvSpPr>
            <a:spLocks noGrp="1"/>
          </p:cNvSpPr>
          <p:nvPr/>
        </p:nvSpPr>
        <p:spPr>
          <a:xfrm flipH="1">
            <a:off x="-295275" y="1229972"/>
            <a:ext cx="527050" cy="596728"/>
          </a:xfrm>
          <a:custGeom>
            <a:avLst/>
            <a:gdLst>
              <a:gd name="T0" fmla="*/ 38 w 332"/>
              <a:gd name="T1" fmla="*/ 371 h 371"/>
              <a:gd name="T2" fmla="*/ 0 w 332"/>
              <a:gd name="T3" fmla="*/ 39 h 371"/>
              <a:gd name="T4" fmla="*/ 332 w 332"/>
              <a:gd name="T5" fmla="*/ 0 h 371"/>
              <a:gd name="T6" fmla="*/ 38 w 332"/>
              <a:gd name="T7" fmla="*/ 371 h 371"/>
            </a:gdLst>
            <a:ahLst/>
            <a:cxnLst/>
            <a:rect l="0" t="0" r="r" b="b"/>
            <a:pathLst>
              <a:path w="332" h="371">
                <a:moveTo>
                  <a:pt x="38" y="371"/>
                </a:moveTo>
                <a:lnTo>
                  <a:pt x="0" y="39"/>
                </a:lnTo>
                <a:lnTo>
                  <a:pt x="332" y="0"/>
                </a:lnTo>
                <a:lnTo>
                  <a:pt x="38" y="371"/>
                </a:lnTo>
                <a:close/>
              </a:path>
            </a:pathLst>
          </a:custGeom>
          <a:gradFill>
            <a:gsLst>
              <a:gs pos="8000">
                <a:schemeClr val="accent2"/>
              </a:gs>
              <a:gs pos="85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40" name="Freeform 515"/>
          <p:cNvSpPr>
            <a:spLocks noGrp="1"/>
          </p:cNvSpPr>
          <p:nvPr/>
        </p:nvSpPr>
        <p:spPr>
          <a:xfrm flipH="1">
            <a:off x="-5476875" y="-85725"/>
            <a:ext cx="4738688" cy="2914477"/>
          </a:xfrm>
          <a:custGeom>
            <a:avLst/>
            <a:gdLst>
              <a:gd name="T0" fmla="*/ 0 w 2985"/>
              <a:gd name="T1" fmla="*/ 323 h 1815"/>
              <a:gd name="T2" fmla="*/ 1492 w 2985"/>
              <a:gd name="T3" fmla="*/ 1815 h 1815"/>
              <a:gd name="T4" fmla="*/ 2985 w 2985"/>
              <a:gd name="T5" fmla="*/ 323 h 1815"/>
              <a:gd name="T6" fmla="*/ 2950 w 2985"/>
              <a:gd name="T7" fmla="*/ 0 h 1815"/>
              <a:gd name="T8" fmla="*/ 35 w 2985"/>
              <a:gd name="T9" fmla="*/ 0 h 1815"/>
              <a:gd name="T10" fmla="*/ 0 w 2985"/>
              <a:gd name="T11" fmla="*/ 323 h 1815"/>
            </a:gdLst>
            <a:ahLst/>
            <a:cxnLst/>
            <a:rect l="0" t="0" r="r" b="b"/>
            <a:pathLst>
              <a:path w="2985" h="1815">
                <a:moveTo>
                  <a:pt x="0" y="323"/>
                </a:moveTo>
                <a:cubicBezTo>
                  <a:pt x="0" y="1147"/>
                  <a:pt x="668" y="1815"/>
                  <a:pt x="1492" y="1815"/>
                </a:cubicBezTo>
                <a:cubicBezTo>
                  <a:pt x="2317" y="1815"/>
                  <a:pt x="2985" y="1147"/>
                  <a:pt x="2985" y="323"/>
                </a:cubicBezTo>
                <a:cubicBezTo>
                  <a:pt x="2985" y="212"/>
                  <a:pt x="2973" y="104"/>
                  <a:pt x="2950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2" y="104"/>
                  <a:pt x="0" y="212"/>
                  <a:pt x="0" y="323"/>
                </a:cubicBezTo>
                <a:close/>
              </a:path>
            </a:pathLst>
          </a:custGeom>
          <a:gradFill>
            <a:gsLst>
              <a:gs pos="8000">
                <a:schemeClr val="accent4">
                  <a:lumMod val="60000"/>
                  <a:lumOff val="40000"/>
                </a:schemeClr>
              </a:gs>
              <a:gs pos="85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41" name="Freeform 516"/>
          <p:cNvSpPr>
            <a:spLocks noGrp="1"/>
          </p:cNvSpPr>
          <p:nvPr/>
        </p:nvSpPr>
        <p:spPr>
          <a:xfrm flipH="1">
            <a:off x="-7513638" y="-85725"/>
            <a:ext cx="2701925" cy="2206767"/>
          </a:xfrm>
          <a:custGeom>
            <a:avLst/>
            <a:gdLst>
              <a:gd name="T0" fmla="*/ 1269 w 1702"/>
              <a:gd name="T1" fmla="*/ 1374 h 1374"/>
              <a:gd name="T2" fmla="*/ 1702 w 1702"/>
              <a:gd name="T3" fmla="*/ 323 h 1374"/>
              <a:gd name="T4" fmla="*/ 1667 w 1702"/>
              <a:gd name="T5" fmla="*/ 0 h 1374"/>
              <a:gd name="T6" fmla="*/ 0 w 1702"/>
              <a:gd name="T7" fmla="*/ 0 h 1374"/>
              <a:gd name="T8" fmla="*/ 1269 w 1702"/>
              <a:gd name="T9" fmla="*/ 1374 h 1374"/>
            </a:gdLst>
            <a:ahLst/>
            <a:cxnLst/>
            <a:rect l="0" t="0" r="r" b="b"/>
            <a:pathLst>
              <a:path w="1702" h="1374">
                <a:moveTo>
                  <a:pt x="1269" y="1374"/>
                </a:moveTo>
                <a:cubicBezTo>
                  <a:pt x="1536" y="1104"/>
                  <a:pt x="1702" y="733"/>
                  <a:pt x="1702" y="323"/>
                </a:cubicBezTo>
                <a:cubicBezTo>
                  <a:pt x="1702" y="212"/>
                  <a:pt x="1690" y="104"/>
                  <a:pt x="1667" y="0"/>
                </a:cubicBezTo>
                <a:cubicBezTo>
                  <a:pt x="0" y="0"/>
                  <a:pt x="0" y="0"/>
                  <a:pt x="0" y="0"/>
                </a:cubicBezTo>
                <a:lnTo>
                  <a:pt x="1269" y="1374"/>
                </a:lnTo>
                <a:close/>
              </a:path>
            </a:pathLst>
          </a:custGeom>
          <a:gradFill>
            <a:gsLst>
              <a:gs pos="8000">
                <a:schemeClr val="accent5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78613" y="2070558"/>
            <a:ext cx="4604544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t>Conclusion</a:t>
            </a:r>
          </a:p>
        </p:txBody>
      </p:sp>
      <p:sp>
        <p:nvSpPr>
          <p:cNvPr id="15" name="文本占位符 62"/>
          <p:cNvSpPr>
            <a:spLocks noGrp="1"/>
          </p:cNvSpPr>
          <p:nvPr>
            <p:ph type="body" idx="18" hasCustomPrompt="1"/>
          </p:nvPr>
        </p:nvSpPr>
        <p:spPr>
          <a:xfrm>
            <a:off x="6678613" y="4376794"/>
            <a:ext cx="4604544" cy="310871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marL="228600" marR="0" lvl="0" indent="-228600">
              <a:spcAft>
                <a:spcPts val="0"/>
              </a:spcAft>
              <a:buClrTx/>
              <a:buSzTx/>
              <a:buNone/>
            </a:pPr>
            <a:r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idx="10" hasCustomPrompt="1"/>
          </p:nvPr>
        </p:nvSpPr>
        <p:spPr>
          <a:xfrm>
            <a:off x="6678614" y="4080523"/>
            <a:ext cx="4604544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Signature</a:t>
            </a:r>
          </a:p>
        </p:txBody>
      </p:sp>
      <p:pic>
        <p:nvPicPr>
          <p:cNvPr id="35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744" y="16302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/>
      <p:sp>
        <p:nvSpPr>
          <p:cNvPr id="7" name="直接连接符 6"/>
          <p:cNvSpPr>
            <a:spLocks noGrp="1"/>
          </p:cNvSpPr>
          <p:nvPr/>
        </p:nvSpPr>
        <p:spPr>
          <a:xfrm>
            <a:off x="5884982" y="1336847"/>
            <a:ext cx="0" cy="3892457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淘宝店chenying0907 13"/>
          <p:cNvSpPr>
            <a:spLocks noGrp="1"/>
          </p:cNvSpPr>
          <p:nvPr/>
        </p:nvSpPr>
        <p:spPr>
          <a:xfrm>
            <a:off x="599710" y="2624285"/>
            <a:ext cx="4754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西北大学微信公众平台</a:t>
            </a: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24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荣誉出品</a:t>
            </a: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ctr" defTabSz="457200">
              <a:lnSpc>
                <a:spcPct val="150000"/>
              </a:lnSpc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图片素材来源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“微西大”新媒体中心</a:t>
            </a:r>
            <a:endParaRPr sz="1600" b="1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版式设计</a:t>
            </a: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思望</a:t>
            </a:r>
            <a:endParaRPr sz="1600" b="1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部分素材来自网络</a:t>
            </a:r>
            <a:endParaRPr sz="1600" b="0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淘宝店chenying0907 13"/>
          <p:cNvSpPr>
            <a:spLocks noGrp="1"/>
          </p:cNvSpPr>
          <p:nvPr/>
        </p:nvSpPr>
        <p:spPr>
          <a:xfrm>
            <a:off x="6520689" y="2808951"/>
            <a:ext cx="47542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扫码关注西北大学微信公众平台</a:t>
            </a:r>
            <a:endParaRPr sz="16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公众号：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northwest1902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endParaRPr sz="24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新浪微博 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西北大学</a:t>
            </a:r>
            <a:endParaRPr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投稿邮箱 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xidaweixin@qq.com</a:t>
            </a:r>
            <a:endParaRPr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9"/>
          <p:cNvPicPr>
            <a:picLocks noChangeAspect="1"/>
          </p:cNvPicPr>
          <p:nvPr/>
        </p:nvPicPr>
        <p:blipFill rotWithShape="1">
          <a:blip r:embed="rId2"/>
          <a:srcRect l="-4"/>
          <a:stretch>
            <a:fillRect/>
          </a:stretch>
        </p:blipFill>
        <p:spPr>
          <a:xfrm>
            <a:off x="2484388" y="1336847"/>
            <a:ext cx="984925" cy="996694"/>
          </a:xfrm>
          <a:prstGeom prst="rect">
            <a:avLst/>
          </a:prstGeom>
        </p:spPr>
      </p:pic>
      <p:pic>
        <p:nvPicPr>
          <p:cNvPr id="16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BFFFF">
                  <a:alpha val="100000"/>
                </a:srgbClr>
              </a:clrFrom>
              <a:clrTo>
                <a:srgbClr val="EBFFFF">
                  <a:alpha val="100000"/>
                </a:srgbClr>
              </a:clrTo>
            </a:clrChange>
            <a:grayscl/>
            <a:lum bright="10000" contrast="-64000"/>
          </a:blip>
          <a:stretch>
            <a:fillRect/>
          </a:stretch>
        </p:blipFill>
        <p:spPr>
          <a:xfrm>
            <a:off x="8302787" y="1366772"/>
            <a:ext cx="1190086" cy="11900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/>
      <p:pic>
        <p:nvPicPr>
          <p:cNvPr id="9804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" name="直角三角形 90"/>
          <p:cNvSpPr>
            <a:spLocks noGrp="1"/>
          </p:cNvSpPr>
          <p:nvPr/>
        </p:nvSpPr>
        <p:spPr>
          <a:xfrm flipV="1">
            <a:off x="0" y="0"/>
            <a:ext cx="5029200" cy="5029200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9" name="任意多边形: 形状 98"/>
          <p:cNvSpPr>
            <a:spLocks noGrp="1"/>
          </p:cNvSpPr>
          <p:nvPr/>
        </p:nvSpPr>
        <p:spPr>
          <a:xfrm rot="18900000">
            <a:off x="715294" y="-1261557"/>
            <a:ext cx="6075124" cy="12029051"/>
          </a:xfrm>
          <a:custGeom>
            <a:avLst/>
            <a:gdLst>
              <a:gd name="connsiteX0" fmla="*/ 3744748 w 6075124"/>
              <a:gd name="connsiteY0" fmla="*/ 0 h 12029051"/>
              <a:gd name="connsiteX1" fmla="*/ 6075124 w 6075124"/>
              <a:gd name="connsiteY1" fmla="*/ 2330375 h 12029051"/>
              <a:gd name="connsiteX2" fmla="*/ 6075124 w 6075124"/>
              <a:gd name="connsiteY2" fmla="*/ 12029051 h 12029051"/>
              <a:gd name="connsiteX3" fmla="*/ 0 w 6075124"/>
              <a:gd name="connsiteY3" fmla="*/ 5953927 h 12029051"/>
              <a:gd name="connsiteX4" fmla="*/ 0 w 6075124"/>
              <a:gd name="connsiteY4" fmla="*/ 3744748 h 12029051"/>
            </a:gdLst>
            <a:ahLst/>
            <a:cxnLst/>
            <a:rect l="l" t="t" r="r" b="b"/>
            <a:pathLst>
              <a:path w="6075124" h="12029051">
                <a:moveTo>
                  <a:pt x="3744748" y="0"/>
                </a:moveTo>
                <a:lnTo>
                  <a:pt x="6075124" y="2330375"/>
                </a:lnTo>
                <a:lnTo>
                  <a:pt x="6075124" y="12029051"/>
                </a:lnTo>
                <a:lnTo>
                  <a:pt x="0" y="5953927"/>
                </a:lnTo>
                <a:lnTo>
                  <a:pt x="0" y="3744748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69925" y="3864973"/>
            <a:ext cx="5662951" cy="67718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/>
        </p:txBody>
      </p:sp>
      <p:sp>
        <p:nvSpPr>
          <p:cNvPr id="3" name="文本占位符 2"/>
          <p:cNvSpPr>
            <a:spLocks noGrp="1"/>
          </p:cNvSpPr>
          <p:nvPr>
            <p:ph type="body" idx="12" hasCustomPrompt="1"/>
          </p:nvPr>
        </p:nvSpPr>
        <p:spPr>
          <a:xfrm>
            <a:off x="669925" y="2571750"/>
            <a:ext cx="5721123" cy="126020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1" i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单机此处添加副标题</a:t>
            </a:r>
          </a:p>
        </p:txBody>
      </p:sp>
      <p:sp>
        <p:nvSpPr>
          <p:cNvPr id="12" name="文本占位符 13"/>
          <p:cNvSpPr>
            <a:spLocks noGrp="1"/>
          </p:cNvSpPr>
          <p:nvPr>
            <p:ph type="body" idx="10" hasCustomPrompt="1"/>
          </p:nvPr>
        </p:nvSpPr>
        <p:spPr>
          <a:xfrm>
            <a:off x="2332265" y="5025263"/>
            <a:ext cx="2797175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署名</a:t>
            </a:r>
          </a:p>
        </p:txBody>
      </p:sp>
      <p:sp>
        <p:nvSpPr>
          <p:cNvPr id="13" name="文本占位符 13"/>
          <p:cNvSpPr>
            <a:spLocks noGrp="1"/>
          </p:cNvSpPr>
          <p:nvPr>
            <p:ph type="body" idx="11" hasCustomPrompt="1"/>
          </p:nvPr>
        </p:nvSpPr>
        <p:spPr>
          <a:xfrm>
            <a:off x="2332265" y="5273634"/>
            <a:ext cx="2797175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日期</a:t>
            </a:r>
          </a:p>
        </p:txBody>
      </p:sp>
      <p:pic>
        <p:nvPicPr>
          <p:cNvPr id="9811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7795" y="309946"/>
            <a:ext cx="1830330" cy="5122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/>
      <p:sp>
        <p:nvSpPr>
          <p:cNvPr id="20" name="标题 1"/>
          <p:cNvSpPr>
            <a:spLocks noGrp="1"/>
          </p:cNvSpPr>
          <p:nvPr>
            <p:ph type="title" hasCustomPrompt="1"/>
          </p:nvPr>
        </p:nvSpPr>
        <p:spPr>
          <a:xfrm>
            <a:off x="1478705" y="2227942"/>
            <a:ext cx="4653643" cy="656792"/>
          </a:xfrm>
        </p:spPr>
        <p:txBody>
          <a:bodyPr anchor="ctr">
            <a:normAutofit/>
          </a:bodyPr>
          <a:lstStyle>
            <a:lvl1pPr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r>
              <a:t>单击此处添加幻灯片章节标题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1478705" y="3085406"/>
            <a:ext cx="4700690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pic>
        <p:nvPicPr>
          <p:cNvPr id="2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 </a:t>
            </a:r>
            <a:r>
              <a:t>「 让</a:t>
            </a:r>
            <a:r>
              <a:t>PPT</a:t>
            </a:r>
            <a:r>
              <a:t>设计简单起来！」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16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7" name="页脚占位符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 </a:t>
            </a:r>
            <a:r>
              <a:t>「 让</a:t>
            </a:r>
            <a:r>
              <a:t>PPT</a:t>
            </a:r>
            <a:r>
              <a:t>设计简单起来！」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14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7" name="页脚占位符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 </a:t>
            </a:r>
            <a:r>
              <a:t>「 让</a:t>
            </a:r>
            <a:r>
              <a:t>PPT</a:t>
            </a:r>
            <a:r>
              <a:t>设计简单起来！」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14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idx="13"/>
          </p:nvPr>
        </p:nvSpPr>
        <p:spPr>
          <a:xfrm>
            <a:off x="8362950" y="1809750"/>
            <a:ext cx="2857500" cy="2438400"/>
          </a:xfrm>
          <a:prstGeom prst="rect">
            <a:avLst/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/>
      <p:pic>
        <p:nvPicPr>
          <p:cNvPr id="41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直角三角形 37"/>
          <p:cNvSpPr>
            <a:spLocks noGrp="1"/>
          </p:cNvSpPr>
          <p:nvPr/>
        </p:nvSpPr>
        <p:spPr>
          <a:xfrm flipH="1" flipV="1">
            <a:off x="7162800" y="0"/>
            <a:ext cx="5029200" cy="5029200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任意多边形: 形状 38"/>
          <p:cNvSpPr>
            <a:spLocks noGrp="1"/>
          </p:cNvSpPr>
          <p:nvPr/>
        </p:nvSpPr>
        <p:spPr>
          <a:xfrm rot="2700000" flipH="1">
            <a:off x="5401582" y="-1261557"/>
            <a:ext cx="6075124" cy="12029051"/>
          </a:xfrm>
          <a:custGeom>
            <a:avLst/>
            <a:gdLst>
              <a:gd name="connsiteX0" fmla="*/ 3744748 w 6075124"/>
              <a:gd name="connsiteY0" fmla="*/ 0 h 12029051"/>
              <a:gd name="connsiteX1" fmla="*/ 6075124 w 6075124"/>
              <a:gd name="connsiteY1" fmla="*/ 2330375 h 12029051"/>
              <a:gd name="connsiteX2" fmla="*/ 6075124 w 6075124"/>
              <a:gd name="connsiteY2" fmla="*/ 12029051 h 12029051"/>
              <a:gd name="connsiteX3" fmla="*/ 0 w 6075124"/>
              <a:gd name="connsiteY3" fmla="*/ 5953927 h 12029051"/>
              <a:gd name="connsiteX4" fmla="*/ 0 w 6075124"/>
              <a:gd name="connsiteY4" fmla="*/ 3744748 h 12029051"/>
            </a:gdLst>
            <a:ahLst/>
            <a:cxnLst/>
            <a:rect l="l" t="t" r="r" b="b"/>
            <a:pathLst>
              <a:path w="6075124" h="12029051">
                <a:moveTo>
                  <a:pt x="3744748" y="0"/>
                </a:moveTo>
                <a:lnTo>
                  <a:pt x="6075124" y="2330375"/>
                </a:lnTo>
                <a:lnTo>
                  <a:pt x="6075124" y="12029051"/>
                </a:lnTo>
                <a:lnTo>
                  <a:pt x="0" y="5953927"/>
                </a:lnTo>
                <a:lnTo>
                  <a:pt x="0" y="3744748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566808" y="2504622"/>
            <a:ext cx="4215491" cy="1333499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t>结束语</a:t>
            </a:r>
          </a:p>
        </p:txBody>
      </p:sp>
      <p:sp>
        <p:nvSpPr>
          <p:cNvPr id="16" name="文本占位符 13"/>
          <p:cNvSpPr>
            <a:spLocks noGrp="1"/>
          </p:cNvSpPr>
          <p:nvPr>
            <p:ph type="body" idx="10" hasCustomPrompt="1"/>
          </p:nvPr>
        </p:nvSpPr>
        <p:spPr>
          <a:xfrm>
            <a:off x="6596134" y="3893650"/>
            <a:ext cx="4156839" cy="248371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署名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idx="11" hasCustomPrompt="1"/>
          </p:nvPr>
        </p:nvSpPr>
        <p:spPr>
          <a:xfrm>
            <a:off x="6596134" y="4154908"/>
            <a:ext cx="4156839" cy="248371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日期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/>
      <p:sp>
        <p:nvSpPr>
          <p:cNvPr id="8" name="直接连接符 7"/>
          <p:cNvSpPr>
            <a:spLocks noGrp="1"/>
          </p:cNvSpPr>
          <p:nvPr/>
        </p:nvSpPr>
        <p:spPr>
          <a:xfrm>
            <a:off x="5884982" y="1336847"/>
            <a:ext cx="0" cy="3892457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淘宝店chenying0907 13"/>
          <p:cNvSpPr>
            <a:spLocks noGrp="1"/>
          </p:cNvSpPr>
          <p:nvPr/>
        </p:nvSpPr>
        <p:spPr>
          <a:xfrm>
            <a:off x="599710" y="2624285"/>
            <a:ext cx="4754282" cy="226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西北大学微信公众平台</a:t>
            </a: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24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荣誉出品</a:t>
            </a: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ctr" defTabSz="457200">
              <a:lnSpc>
                <a:spcPct val="150000"/>
              </a:lnSpc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图片素材来源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“微西大”新媒体中心</a:t>
            </a:r>
            <a:endParaRPr sz="1600" b="1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版式设计</a:t>
            </a: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思望</a:t>
            </a:r>
            <a:endParaRPr sz="1600" b="1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部分素材来自网络</a:t>
            </a:r>
            <a:endParaRPr sz="1600" b="0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淘宝店chenying0907 13"/>
          <p:cNvSpPr>
            <a:spLocks noGrp="1"/>
          </p:cNvSpPr>
          <p:nvPr/>
        </p:nvSpPr>
        <p:spPr>
          <a:xfrm>
            <a:off x="6520689" y="2808951"/>
            <a:ext cx="47542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扫码关注西北大学微信公众平台</a:t>
            </a:r>
            <a:endParaRPr sz="16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公众号：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northwest1902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endParaRPr sz="24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新浪微博 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西北大学</a:t>
            </a:r>
            <a:endParaRPr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投稿邮箱 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xidaweixin@qq.com</a:t>
            </a:r>
            <a:endParaRPr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16"/>
          <p:cNvPicPr>
            <a:picLocks noChangeAspect="1"/>
          </p:cNvPicPr>
          <p:nvPr/>
        </p:nvPicPr>
        <p:blipFill rotWithShape="1">
          <a:blip r:embed="rId2"/>
          <a:srcRect l="-4"/>
          <a:stretch>
            <a:fillRect/>
          </a:stretch>
        </p:blipFill>
        <p:spPr>
          <a:xfrm>
            <a:off x="2484388" y="1336847"/>
            <a:ext cx="984925" cy="996694"/>
          </a:xfrm>
          <a:prstGeom prst="rect">
            <a:avLst/>
          </a:prstGeom>
        </p:spPr>
      </p:pic>
      <p:pic>
        <p:nvPicPr>
          <p:cNvPr id="23" name="图片 17"/>
          <p:cNvPicPr>
            <a:picLocks noChangeAspect="1"/>
          </p:cNvPicPr>
          <p:nvPr/>
        </p:nvPicPr>
        <p:blipFill>
          <a:blip r:embed="rId3">
            <a:clrChange>
              <a:clrFrom>
                <a:srgbClr val="EBFFFF">
                  <a:alpha val="100000"/>
                </a:srgbClr>
              </a:clrFrom>
              <a:clrTo>
                <a:srgbClr val="EBFFFF">
                  <a:alpha val="100000"/>
                </a:srgbClr>
              </a:clrTo>
            </a:clrChange>
            <a:grayscl/>
            <a:lum bright="10000" contrast="-64000"/>
          </a:blip>
          <a:stretch>
            <a:fillRect/>
          </a:stretch>
        </p:blipFill>
        <p:spPr>
          <a:xfrm>
            <a:off x="8302787" y="1366772"/>
            <a:ext cx="1190086" cy="11900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45" name="Freeform 509"/>
          <p:cNvSpPr>
            <a:spLocks noGrp="1"/>
          </p:cNvSpPr>
          <p:nvPr/>
        </p:nvSpPr>
        <p:spPr>
          <a:xfrm>
            <a:off x="1588" y="-104775"/>
            <a:ext cx="11485563" cy="6220715"/>
          </a:xfrm>
          <a:custGeom>
            <a:avLst/>
            <a:gdLst>
              <a:gd name="T0" fmla="*/ 0 w 7235"/>
              <a:gd name="T1" fmla="*/ 0 h 3862"/>
              <a:gd name="T2" fmla="*/ 0 w 7235"/>
              <a:gd name="T3" fmla="*/ 2873 h 3862"/>
              <a:gd name="T4" fmla="*/ 2804 w 7235"/>
              <a:gd name="T5" fmla="*/ 3862 h 3862"/>
              <a:gd name="T6" fmla="*/ 7235 w 7235"/>
              <a:gd name="T7" fmla="*/ 0 h 3862"/>
              <a:gd name="T8" fmla="*/ 0 w 7235"/>
              <a:gd name="T9" fmla="*/ 0 h 3862"/>
            </a:gdLst>
            <a:ahLst/>
            <a:cxnLst/>
            <a:rect l="0" t="0" r="r" b="b"/>
            <a:pathLst>
              <a:path w="7235" h="3862">
                <a:moveTo>
                  <a:pt x="0" y="0"/>
                </a:moveTo>
                <a:cubicBezTo>
                  <a:pt x="0" y="2873"/>
                  <a:pt x="0" y="2873"/>
                  <a:pt x="0" y="2873"/>
                </a:cubicBezTo>
                <a:cubicBezTo>
                  <a:pt x="767" y="3492"/>
                  <a:pt x="1742" y="3862"/>
                  <a:pt x="2804" y="3862"/>
                </a:cubicBezTo>
                <a:cubicBezTo>
                  <a:pt x="5067" y="3862"/>
                  <a:pt x="6938" y="2181"/>
                  <a:pt x="723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46" name="Freeform 510"/>
          <p:cNvSpPr>
            <a:spLocks noGrp="1"/>
          </p:cNvSpPr>
          <p:nvPr/>
        </p:nvSpPr>
        <p:spPr>
          <a:xfrm>
            <a:off x="3684588" y="6119395"/>
            <a:ext cx="1652588" cy="748356"/>
          </a:xfrm>
          <a:custGeom>
            <a:avLst/>
            <a:gdLst>
              <a:gd name="T0" fmla="*/ 0 w 1041"/>
              <a:gd name="T1" fmla="*/ 465 h 465"/>
              <a:gd name="T2" fmla="*/ 1041 w 1041"/>
              <a:gd name="T3" fmla="*/ 465 h 465"/>
              <a:gd name="T4" fmla="*/ 520 w 1041"/>
              <a:gd name="T5" fmla="*/ 0 h 465"/>
              <a:gd name="T6" fmla="*/ 0 w 1041"/>
              <a:gd name="T7" fmla="*/ 465 h 465"/>
            </a:gdLst>
            <a:ahLst/>
            <a:cxnLst/>
            <a:rect l="0" t="0" r="r" b="b"/>
            <a:pathLst>
              <a:path w="1041" h="465">
                <a:moveTo>
                  <a:pt x="0" y="465"/>
                </a:moveTo>
                <a:cubicBezTo>
                  <a:pt x="1041" y="465"/>
                  <a:pt x="1041" y="465"/>
                  <a:pt x="1041" y="465"/>
                </a:cubicBezTo>
                <a:cubicBezTo>
                  <a:pt x="1011" y="203"/>
                  <a:pt x="790" y="0"/>
                  <a:pt x="520" y="0"/>
                </a:cubicBezTo>
                <a:cubicBezTo>
                  <a:pt x="251" y="0"/>
                  <a:pt x="30" y="203"/>
                  <a:pt x="0" y="465"/>
                </a:cubicBezTo>
                <a:close/>
              </a:path>
            </a:pathLst>
          </a:custGeom>
          <a:gradFill>
            <a:gsLst>
              <a:gs pos="8000">
                <a:schemeClr val="accent5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47" name="Oval 511"/>
          <p:cNvSpPr>
            <a:spLocks noGrp="1"/>
          </p:cNvSpPr>
          <p:nvPr/>
        </p:nvSpPr>
        <p:spPr>
          <a:xfrm>
            <a:off x="7786688" y="2793494"/>
            <a:ext cx="2973388" cy="3016006"/>
          </a:xfrm>
          <a:prstGeom prst="ellipse">
            <a:avLst/>
          </a:prstGeom>
          <a:gradFill>
            <a:gsLst>
              <a:gs pos="8000">
                <a:schemeClr val="accent4">
                  <a:lumMod val="60000"/>
                  <a:lumOff val="40000"/>
                  <a:alpha val="30000"/>
                </a:schemeClr>
              </a:gs>
              <a:gs pos="85000">
                <a:schemeClr val="accent4">
                  <a:alpha val="30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48" name="Freeform 512"/>
          <p:cNvSpPr>
            <a:spLocks noGrp="1"/>
          </p:cNvSpPr>
          <p:nvPr/>
        </p:nvSpPr>
        <p:spPr>
          <a:xfrm>
            <a:off x="6223000" y="-104775"/>
            <a:ext cx="5970588" cy="6056205"/>
          </a:xfrm>
          <a:custGeom>
            <a:avLst/>
            <a:gdLst>
              <a:gd name="T0" fmla="*/ 3761 w 3761"/>
              <a:gd name="T1" fmla="*/ 0 h 3755"/>
              <a:gd name="T2" fmla="*/ 0 w 3761"/>
              <a:gd name="T3" fmla="*/ 0 h 3755"/>
              <a:gd name="T4" fmla="*/ 3761 w 3761"/>
              <a:gd name="T5" fmla="*/ 3755 h 3755"/>
              <a:gd name="T6" fmla="*/ 3761 w 3761"/>
              <a:gd name="T7" fmla="*/ 0 h 3755"/>
            </a:gdLst>
            <a:ahLst/>
            <a:cxnLst/>
            <a:rect l="0" t="0" r="r" b="b"/>
            <a:pathLst>
              <a:path w="3761" h="3755">
                <a:moveTo>
                  <a:pt x="3761" y="0"/>
                </a:moveTo>
                <a:lnTo>
                  <a:pt x="0" y="0"/>
                </a:lnTo>
                <a:lnTo>
                  <a:pt x="3761" y="3755"/>
                </a:lnTo>
                <a:lnTo>
                  <a:pt x="3761" y="0"/>
                </a:lnTo>
                <a:close/>
              </a:path>
            </a:pathLst>
          </a:custGeom>
          <a:gradFill>
            <a:gsLst>
              <a:gs pos="97000">
                <a:schemeClr val="accent2"/>
              </a:gs>
              <a:gs pos="28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49" name="Freeform 513"/>
          <p:cNvSpPr>
            <a:spLocks noGrp="1"/>
          </p:cNvSpPr>
          <p:nvPr/>
        </p:nvSpPr>
        <p:spPr>
          <a:xfrm>
            <a:off x="9610725" y="3148318"/>
            <a:ext cx="1450975" cy="2945041"/>
          </a:xfrm>
          <a:custGeom>
            <a:avLst/>
            <a:gdLst>
              <a:gd name="T0" fmla="*/ 914 w 914"/>
              <a:gd name="T1" fmla="*/ 1826 h 1826"/>
              <a:gd name="T2" fmla="*/ 0 w 914"/>
              <a:gd name="T3" fmla="*/ 913 h 1826"/>
              <a:gd name="T4" fmla="*/ 914 w 914"/>
              <a:gd name="T5" fmla="*/ 0 h 1826"/>
              <a:gd name="T6" fmla="*/ 914 w 914"/>
              <a:gd name="T7" fmla="*/ 1826 h 1826"/>
            </a:gdLst>
            <a:ahLst/>
            <a:cxnLst/>
            <a:rect l="0" t="0" r="r" b="b"/>
            <a:pathLst>
              <a:path w="914" h="1826">
                <a:moveTo>
                  <a:pt x="914" y="1826"/>
                </a:moveTo>
                <a:lnTo>
                  <a:pt x="0" y="913"/>
                </a:lnTo>
                <a:lnTo>
                  <a:pt x="914" y="0"/>
                </a:lnTo>
                <a:lnTo>
                  <a:pt x="914" y="1826"/>
                </a:lnTo>
                <a:close/>
              </a:path>
            </a:pathLst>
          </a:custGeom>
          <a:gradFill>
            <a:gsLst>
              <a:gs pos="6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50" name="Freeform 514"/>
          <p:cNvSpPr>
            <a:spLocks noGrp="1"/>
          </p:cNvSpPr>
          <p:nvPr/>
        </p:nvSpPr>
        <p:spPr>
          <a:xfrm>
            <a:off x="295275" y="1214526"/>
            <a:ext cx="527050" cy="598363"/>
          </a:xfrm>
          <a:custGeom>
            <a:avLst/>
            <a:gdLst>
              <a:gd name="T0" fmla="*/ 38 w 332"/>
              <a:gd name="T1" fmla="*/ 371 h 371"/>
              <a:gd name="T2" fmla="*/ 0 w 332"/>
              <a:gd name="T3" fmla="*/ 39 h 371"/>
              <a:gd name="T4" fmla="*/ 332 w 332"/>
              <a:gd name="T5" fmla="*/ 0 h 371"/>
              <a:gd name="T6" fmla="*/ 38 w 332"/>
              <a:gd name="T7" fmla="*/ 371 h 371"/>
            </a:gdLst>
            <a:ahLst/>
            <a:cxnLst/>
            <a:rect l="0" t="0" r="r" b="b"/>
            <a:pathLst>
              <a:path w="332" h="371">
                <a:moveTo>
                  <a:pt x="38" y="371"/>
                </a:moveTo>
                <a:lnTo>
                  <a:pt x="0" y="39"/>
                </a:lnTo>
                <a:lnTo>
                  <a:pt x="332" y="0"/>
                </a:lnTo>
                <a:lnTo>
                  <a:pt x="38" y="371"/>
                </a:lnTo>
                <a:close/>
              </a:path>
            </a:pathLst>
          </a:custGeom>
          <a:gradFill>
            <a:gsLst>
              <a:gs pos="8000">
                <a:schemeClr val="accent2"/>
              </a:gs>
              <a:gs pos="85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51" name="Freeform 515"/>
          <p:cNvSpPr>
            <a:spLocks noGrp="1"/>
          </p:cNvSpPr>
          <p:nvPr/>
        </p:nvSpPr>
        <p:spPr>
          <a:xfrm>
            <a:off x="5476875" y="-104775"/>
            <a:ext cx="4738688" cy="2922461"/>
          </a:xfrm>
          <a:custGeom>
            <a:avLst/>
            <a:gdLst>
              <a:gd name="T0" fmla="*/ 0 w 2985"/>
              <a:gd name="T1" fmla="*/ 323 h 1815"/>
              <a:gd name="T2" fmla="*/ 1492 w 2985"/>
              <a:gd name="T3" fmla="*/ 1815 h 1815"/>
              <a:gd name="T4" fmla="*/ 2985 w 2985"/>
              <a:gd name="T5" fmla="*/ 323 h 1815"/>
              <a:gd name="T6" fmla="*/ 2950 w 2985"/>
              <a:gd name="T7" fmla="*/ 0 h 1815"/>
              <a:gd name="T8" fmla="*/ 35 w 2985"/>
              <a:gd name="T9" fmla="*/ 0 h 1815"/>
              <a:gd name="T10" fmla="*/ 0 w 2985"/>
              <a:gd name="T11" fmla="*/ 323 h 1815"/>
            </a:gdLst>
            <a:ahLst/>
            <a:cxnLst/>
            <a:rect l="0" t="0" r="r" b="b"/>
            <a:pathLst>
              <a:path w="2985" h="1815">
                <a:moveTo>
                  <a:pt x="0" y="323"/>
                </a:moveTo>
                <a:cubicBezTo>
                  <a:pt x="0" y="1147"/>
                  <a:pt x="668" y="1815"/>
                  <a:pt x="1492" y="1815"/>
                </a:cubicBezTo>
                <a:cubicBezTo>
                  <a:pt x="2317" y="1815"/>
                  <a:pt x="2985" y="1147"/>
                  <a:pt x="2985" y="323"/>
                </a:cubicBezTo>
                <a:cubicBezTo>
                  <a:pt x="2985" y="212"/>
                  <a:pt x="2973" y="104"/>
                  <a:pt x="2950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2" y="104"/>
                  <a:pt x="0" y="212"/>
                  <a:pt x="0" y="323"/>
                </a:cubicBezTo>
                <a:close/>
              </a:path>
            </a:pathLst>
          </a:custGeom>
          <a:gradFill>
            <a:gsLst>
              <a:gs pos="8000">
                <a:schemeClr val="accent4">
                  <a:lumMod val="60000"/>
                  <a:lumOff val="40000"/>
                </a:schemeClr>
              </a:gs>
              <a:gs pos="85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52" name="Freeform 516"/>
          <p:cNvSpPr>
            <a:spLocks noGrp="1"/>
          </p:cNvSpPr>
          <p:nvPr/>
        </p:nvSpPr>
        <p:spPr>
          <a:xfrm>
            <a:off x="7513638" y="-104775"/>
            <a:ext cx="2701925" cy="2212813"/>
          </a:xfrm>
          <a:custGeom>
            <a:avLst/>
            <a:gdLst>
              <a:gd name="T0" fmla="*/ 1269 w 1702"/>
              <a:gd name="T1" fmla="*/ 1374 h 1374"/>
              <a:gd name="T2" fmla="*/ 1702 w 1702"/>
              <a:gd name="T3" fmla="*/ 323 h 1374"/>
              <a:gd name="T4" fmla="*/ 1667 w 1702"/>
              <a:gd name="T5" fmla="*/ 0 h 1374"/>
              <a:gd name="T6" fmla="*/ 0 w 1702"/>
              <a:gd name="T7" fmla="*/ 0 h 1374"/>
              <a:gd name="T8" fmla="*/ 1269 w 1702"/>
              <a:gd name="T9" fmla="*/ 1374 h 1374"/>
            </a:gdLst>
            <a:ahLst/>
            <a:cxnLst/>
            <a:rect l="0" t="0" r="r" b="b"/>
            <a:pathLst>
              <a:path w="1702" h="1374">
                <a:moveTo>
                  <a:pt x="1269" y="1374"/>
                </a:moveTo>
                <a:cubicBezTo>
                  <a:pt x="1536" y="1104"/>
                  <a:pt x="1702" y="733"/>
                  <a:pt x="1702" y="323"/>
                </a:cubicBezTo>
                <a:cubicBezTo>
                  <a:pt x="1702" y="212"/>
                  <a:pt x="1690" y="104"/>
                  <a:pt x="1667" y="0"/>
                </a:cubicBezTo>
                <a:cubicBezTo>
                  <a:pt x="0" y="0"/>
                  <a:pt x="0" y="0"/>
                  <a:pt x="0" y="0"/>
                </a:cubicBezTo>
                <a:lnTo>
                  <a:pt x="1269" y="1374"/>
                </a:lnTo>
                <a:close/>
              </a:path>
            </a:pathLst>
          </a:custGeom>
          <a:gradFill>
            <a:gsLst>
              <a:gs pos="8000">
                <a:schemeClr val="accent5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1246981" y="3006820"/>
            <a:ext cx="5627686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1246982" y="1938685"/>
            <a:ext cx="5627686" cy="1042559"/>
          </a:xfrm>
        </p:spPr>
        <p:txBody>
          <a:bodyPr anchor="ctr">
            <a:normAutofit/>
          </a:bodyPr>
          <a:lstStyle>
            <a:lvl1pPr algn="l">
              <a:buNone/>
              <a:defRPr sz="4000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2" name="文本占位符 13"/>
          <p:cNvSpPr>
            <a:spLocks noGrp="1"/>
          </p:cNvSpPr>
          <p:nvPr>
            <p:ph type="body" idx="10" hasCustomPrompt="1"/>
          </p:nvPr>
        </p:nvSpPr>
        <p:spPr>
          <a:xfrm>
            <a:off x="1251875" y="4630968"/>
            <a:ext cx="2500975" cy="296271"/>
          </a:xfrm>
          <a:prstGeom prst="roundRect">
            <a:avLst>
              <a:gd name="adj" fmla="val 50000"/>
            </a:avLst>
          </a:prstGeom>
          <a:gradFill>
            <a:gsLst>
              <a:gs pos="9000">
                <a:schemeClr val="accent2"/>
              </a:gs>
              <a:gs pos="85000">
                <a:schemeClr val="accent1"/>
              </a:gs>
            </a:gsLst>
            <a:lin ang="0" scaled="0"/>
          </a:gradFill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>
            <p:ph type="body" idx="11" hasCustomPrompt="1"/>
          </p:nvPr>
        </p:nvSpPr>
        <p:spPr>
          <a:xfrm>
            <a:off x="1246982" y="4998158"/>
            <a:ext cx="1620043" cy="296271"/>
          </a:xfrm>
          <a:prstGeom prst="roundRect">
            <a:avLst>
              <a:gd name="adj" fmla="val 50000"/>
            </a:avLst>
          </a:prstGeom>
          <a:ln>
            <a:gradFill>
              <a:gsLst>
                <a:gs pos="10000">
                  <a:schemeClr val="accent2"/>
                </a:gs>
                <a:gs pos="87000">
                  <a:schemeClr val="accent1"/>
                </a:gs>
              </a:gsLst>
              <a:lin ang="5400000" scaled="1"/>
            </a:gradFill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Date</a:t>
            </a:r>
          </a:p>
        </p:txBody>
      </p:sp>
      <p:pic>
        <p:nvPicPr>
          <p:cNvPr id="9816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69" y="40971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/>
      <p:sp>
        <p:nvSpPr>
          <p:cNvPr id="578" name="Freeform 512"/>
          <p:cNvSpPr>
            <a:spLocks noGrp="1"/>
          </p:cNvSpPr>
          <p:nvPr/>
        </p:nvSpPr>
        <p:spPr>
          <a:xfrm>
            <a:off x="8057356" y="0"/>
            <a:ext cx="4141788" cy="4135181"/>
          </a:xfrm>
          <a:custGeom>
            <a:avLst/>
            <a:gdLst>
              <a:gd name="T0" fmla="*/ 3761 w 3761"/>
              <a:gd name="T1" fmla="*/ 0 h 3755"/>
              <a:gd name="T2" fmla="*/ 0 w 3761"/>
              <a:gd name="T3" fmla="*/ 0 h 3755"/>
              <a:gd name="T4" fmla="*/ 3761 w 3761"/>
              <a:gd name="T5" fmla="*/ 3755 h 3755"/>
              <a:gd name="T6" fmla="*/ 3761 w 3761"/>
              <a:gd name="T7" fmla="*/ 0 h 3755"/>
            </a:gdLst>
            <a:ahLst/>
            <a:cxnLst/>
            <a:rect l="0" t="0" r="r" b="b"/>
            <a:pathLst>
              <a:path w="3761" h="3755">
                <a:moveTo>
                  <a:pt x="3761" y="0"/>
                </a:moveTo>
                <a:lnTo>
                  <a:pt x="0" y="0"/>
                </a:lnTo>
                <a:lnTo>
                  <a:pt x="3761" y="3755"/>
                </a:lnTo>
                <a:lnTo>
                  <a:pt x="376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79" name="Freeform 513"/>
          <p:cNvSpPr>
            <a:spLocks noGrp="1"/>
          </p:cNvSpPr>
          <p:nvPr/>
        </p:nvSpPr>
        <p:spPr>
          <a:xfrm rot="576007">
            <a:off x="822326" y="1177347"/>
            <a:ext cx="1616075" cy="3228614"/>
          </a:xfrm>
          <a:custGeom>
            <a:avLst/>
            <a:gdLst>
              <a:gd name="T0" fmla="*/ 914 w 914"/>
              <a:gd name="T1" fmla="*/ 1826 h 1826"/>
              <a:gd name="T2" fmla="*/ 0 w 914"/>
              <a:gd name="T3" fmla="*/ 913 h 1826"/>
              <a:gd name="T4" fmla="*/ 914 w 914"/>
              <a:gd name="T5" fmla="*/ 0 h 1826"/>
              <a:gd name="T6" fmla="*/ 914 w 914"/>
              <a:gd name="T7" fmla="*/ 1826 h 1826"/>
            </a:gdLst>
            <a:ahLst/>
            <a:cxnLst/>
            <a:rect l="0" t="0" r="r" b="b"/>
            <a:pathLst>
              <a:path w="914" h="1826">
                <a:moveTo>
                  <a:pt x="914" y="1826"/>
                </a:moveTo>
                <a:lnTo>
                  <a:pt x="0" y="913"/>
                </a:lnTo>
                <a:lnTo>
                  <a:pt x="914" y="0"/>
                </a:lnTo>
                <a:lnTo>
                  <a:pt x="914" y="1826"/>
                </a:lnTo>
                <a:close/>
              </a:path>
            </a:pathLst>
          </a:custGeom>
          <a:gradFill>
            <a:gsLst>
              <a:gs pos="6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580" name="Freeform 514"/>
          <p:cNvSpPr>
            <a:spLocks noGrp="1"/>
          </p:cNvSpPr>
          <p:nvPr/>
        </p:nvSpPr>
        <p:spPr>
          <a:xfrm rot="900000">
            <a:off x="1299256" y="1077560"/>
            <a:ext cx="874939" cy="977719"/>
          </a:xfrm>
          <a:custGeom>
            <a:avLst/>
            <a:gdLst>
              <a:gd name="T0" fmla="*/ 38 w 332"/>
              <a:gd name="T1" fmla="*/ 371 h 371"/>
              <a:gd name="T2" fmla="*/ 0 w 332"/>
              <a:gd name="T3" fmla="*/ 39 h 371"/>
              <a:gd name="T4" fmla="*/ 332 w 332"/>
              <a:gd name="T5" fmla="*/ 0 h 371"/>
              <a:gd name="T6" fmla="*/ 38 w 332"/>
              <a:gd name="T7" fmla="*/ 371 h 371"/>
            </a:gdLst>
            <a:ahLst/>
            <a:cxnLst/>
            <a:rect l="0" t="0" r="r" b="b"/>
            <a:pathLst>
              <a:path w="332" h="371">
                <a:moveTo>
                  <a:pt x="38" y="371"/>
                </a:moveTo>
                <a:lnTo>
                  <a:pt x="0" y="39"/>
                </a:lnTo>
                <a:lnTo>
                  <a:pt x="332" y="0"/>
                </a:lnTo>
                <a:lnTo>
                  <a:pt x="38" y="371"/>
                </a:lnTo>
                <a:close/>
              </a:path>
            </a:pathLst>
          </a:custGeom>
          <a:gradFill>
            <a:gsLst>
              <a:gs pos="8000">
                <a:schemeClr val="accent2"/>
              </a:gs>
              <a:gs pos="85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846196" y="1942131"/>
            <a:ext cx="5419185" cy="895350"/>
          </a:xfrm>
        </p:spPr>
        <p:txBody>
          <a:bodyPr anchor="b">
            <a:normAutofit/>
          </a:bodyPr>
          <a:lstStyle>
            <a:lvl1pPr algn="l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2846195" y="2837481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Edit Master text styles</a:t>
            </a:r>
          </a:p>
        </p:txBody>
      </p:sp>
      <p:pic>
        <p:nvPicPr>
          <p:cNvPr id="587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46" y="362091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15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744" y="16302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11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744" y="16302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1_仅标题页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www.islide.cc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13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744" y="163026"/>
            <a:ext cx="1773181" cy="496260"/>
          </a:xfrm>
          <a:prstGeom prst="rect">
            <a:avLst/>
          </a:prstGeom>
        </p:spPr>
      </p:pic>
      <p:sp>
        <p:nvSpPr>
          <p:cNvPr id="7" name="图片占位符 6"/>
          <p:cNvSpPr>
            <a:spLocks noGrp="1"/>
          </p:cNvSpPr>
          <p:nvPr>
            <p:ph type="pic" idx="13"/>
          </p:nvPr>
        </p:nvSpPr>
        <p:spPr>
          <a:xfrm>
            <a:off x="8362950" y="1809750"/>
            <a:ext cx="2857500" cy="2438400"/>
          </a:xfrm>
          <a:prstGeom prst="rect">
            <a:avLst/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/>
      <p:pic>
        <p:nvPicPr>
          <p:cNvPr id="11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69" y="409716"/>
            <a:ext cx="1773181" cy="496260"/>
          </a:xfrm>
          <a:prstGeom prst="rect">
            <a:avLst/>
          </a:prstGeom>
        </p:spPr>
      </p:pic>
      <p:sp>
        <p:nvSpPr>
          <p:cNvPr id="3" name="Oval 511"/>
          <p:cNvSpPr>
            <a:spLocks noGrp="1"/>
          </p:cNvSpPr>
          <p:nvPr/>
        </p:nvSpPr>
        <p:spPr>
          <a:xfrm>
            <a:off x="9403004" y="5412016"/>
            <a:ext cx="1772996" cy="1798409"/>
          </a:xfrm>
          <a:prstGeom prst="ellipse">
            <a:avLst/>
          </a:prstGeom>
          <a:gradFill>
            <a:gsLst>
              <a:gs pos="8000">
                <a:schemeClr val="accent4">
                  <a:lumMod val="60000"/>
                  <a:lumOff val="40000"/>
                  <a:alpha val="30000"/>
                </a:schemeClr>
              </a:gs>
              <a:gs pos="85000">
                <a:schemeClr val="accent4">
                  <a:alpha val="30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6" name="Freeform 512"/>
          <p:cNvSpPr>
            <a:spLocks noGrp="1"/>
          </p:cNvSpPr>
          <p:nvPr/>
        </p:nvSpPr>
        <p:spPr>
          <a:xfrm>
            <a:off x="8057356" y="0"/>
            <a:ext cx="4141788" cy="4135181"/>
          </a:xfrm>
          <a:custGeom>
            <a:avLst/>
            <a:gdLst>
              <a:gd name="T0" fmla="*/ 3761 w 3761"/>
              <a:gd name="T1" fmla="*/ 0 h 3755"/>
              <a:gd name="T2" fmla="*/ 0 w 3761"/>
              <a:gd name="T3" fmla="*/ 0 h 3755"/>
              <a:gd name="T4" fmla="*/ 3761 w 3761"/>
              <a:gd name="T5" fmla="*/ 3755 h 3755"/>
              <a:gd name="T6" fmla="*/ 3761 w 3761"/>
              <a:gd name="T7" fmla="*/ 0 h 3755"/>
            </a:gdLst>
            <a:ahLst/>
            <a:cxnLst/>
            <a:rect l="0" t="0" r="r" b="b"/>
            <a:pathLst>
              <a:path w="3761" h="3755">
                <a:moveTo>
                  <a:pt x="3761" y="0"/>
                </a:moveTo>
                <a:lnTo>
                  <a:pt x="0" y="0"/>
                </a:lnTo>
                <a:lnTo>
                  <a:pt x="3761" y="3755"/>
                </a:lnTo>
                <a:lnTo>
                  <a:pt x="3761" y="0"/>
                </a:lnTo>
                <a:close/>
              </a:path>
            </a:pathLst>
          </a:custGeom>
          <a:blipFill rotWithShape="1">
            <a:blip r:embed="rId3"/>
            <a:srcRect/>
            <a:stretch>
              <a:fillRect l="-4000" t="-16000" r="-40000"/>
            </a:stretch>
          </a:blip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8" name="Freeform 513"/>
          <p:cNvSpPr>
            <a:spLocks noGrp="1"/>
          </p:cNvSpPr>
          <p:nvPr/>
        </p:nvSpPr>
        <p:spPr>
          <a:xfrm rot="576007">
            <a:off x="13061" y="3570518"/>
            <a:ext cx="1514633" cy="3025951"/>
          </a:xfrm>
          <a:custGeom>
            <a:avLst/>
            <a:gdLst>
              <a:gd name="T0" fmla="*/ 914 w 914"/>
              <a:gd name="T1" fmla="*/ 1826 h 1826"/>
              <a:gd name="T2" fmla="*/ 0 w 914"/>
              <a:gd name="T3" fmla="*/ 913 h 1826"/>
              <a:gd name="T4" fmla="*/ 914 w 914"/>
              <a:gd name="T5" fmla="*/ 0 h 1826"/>
              <a:gd name="T6" fmla="*/ 914 w 914"/>
              <a:gd name="T7" fmla="*/ 1826 h 1826"/>
            </a:gdLst>
            <a:ahLst/>
            <a:cxnLst/>
            <a:rect l="0" t="0" r="r" b="b"/>
            <a:pathLst>
              <a:path w="914" h="1826">
                <a:moveTo>
                  <a:pt x="914" y="1826"/>
                </a:moveTo>
                <a:lnTo>
                  <a:pt x="0" y="913"/>
                </a:lnTo>
                <a:lnTo>
                  <a:pt x="914" y="0"/>
                </a:lnTo>
                <a:lnTo>
                  <a:pt x="914" y="1826"/>
                </a:lnTo>
                <a:close/>
              </a:path>
            </a:pathLst>
          </a:custGeom>
          <a:gradFill>
            <a:gsLst>
              <a:gs pos="6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9" name="Freeform 514"/>
          <p:cNvSpPr>
            <a:spLocks noGrp="1"/>
          </p:cNvSpPr>
          <p:nvPr/>
        </p:nvSpPr>
        <p:spPr>
          <a:xfrm rot="900000">
            <a:off x="460054" y="3476994"/>
            <a:ext cx="820018" cy="916346"/>
          </a:xfrm>
          <a:custGeom>
            <a:avLst/>
            <a:gdLst>
              <a:gd name="T0" fmla="*/ 38 w 332"/>
              <a:gd name="T1" fmla="*/ 371 h 371"/>
              <a:gd name="T2" fmla="*/ 0 w 332"/>
              <a:gd name="T3" fmla="*/ 39 h 371"/>
              <a:gd name="T4" fmla="*/ 332 w 332"/>
              <a:gd name="T5" fmla="*/ 0 h 371"/>
              <a:gd name="T6" fmla="*/ 38 w 332"/>
              <a:gd name="T7" fmla="*/ 371 h 371"/>
            </a:gdLst>
            <a:ahLst/>
            <a:cxnLst/>
            <a:rect l="0" t="0" r="r" b="b"/>
            <a:pathLst>
              <a:path w="332" h="371">
                <a:moveTo>
                  <a:pt x="38" y="371"/>
                </a:moveTo>
                <a:lnTo>
                  <a:pt x="0" y="39"/>
                </a:lnTo>
                <a:lnTo>
                  <a:pt x="332" y="0"/>
                </a:lnTo>
                <a:lnTo>
                  <a:pt x="38" y="371"/>
                </a:lnTo>
                <a:close/>
              </a:path>
            </a:pathLst>
          </a:custGeom>
          <a:gradFill>
            <a:gsLst>
              <a:gs pos="8000">
                <a:schemeClr val="accent2"/>
              </a:gs>
              <a:gs pos="85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/>
      <p:sp>
        <p:nvSpPr>
          <p:cNvPr id="334" name="Freeform 509"/>
          <p:cNvSpPr>
            <a:spLocks noGrp="1"/>
          </p:cNvSpPr>
          <p:nvPr/>
        </p:nvSpPr>
        <p:spPr>
          <a:xfrm flipH="1">
            <a:off x="-1588" y="-85725"/>
            <a:ext cx="11485563" cy="6203719"/>
          </a:xfrm>
          <a:custGeom>
            <a:avLst/>
            <a:gdLst>
              <a:gd name="T0" fmla="*/ 0 w 7235"/>
              <a:gd name="T1" fmla="*/ 0 h 3862"/>
              <a:gd name="T2" fmla="*/ 0 w 7235"/>
              <a:gd name="T3" fmla="*/ 2873 h 3862"/>
              <a:gd name="T4" fmla="*/ 2804 w 7235"/>
              <a:gd name="T5" fmla="*/ 3862 h 3862"/>
              <a:gd name="T6" fmla="*/ 7235 w 7235"/>
              <a:gd name="T7" fmla="*/ 0 h 3862"/>
              <a:gd name="T8" fmla="*/ 0 w 7235"/>
              <a:gd name="T9" fmla="*/ 0 h 3862"/>
            </a:gdLst>
            <a:ahLst/>
            <a:cxnLst/>
            <a:rect l="0" t="0" r="r" b="b"/>
            <a:pathLst>
              <a:path w="7235" h="3862">
                <a:moveTo>
                  <a:pt x="0" y="0"/>
                </a:moveTo>
                <a:cubicBezTo>
                  <a:pt x="0" y="2873"/>
                  <a:pt x="0" y="2873"/>
                  <a:pt x="0" y="2873"/>
                </a:cubicBezTo>
                <a:cubicBezTo>
                  <a:pt x="767" y="3492"/>
                  <a:pt x="1742" y="3862"/>
                  <a:pt x="2804" y="3862"/>
                </a:cubicBezTo>
                <a:cubicBezTo>
                  <a:pt x="5067" y="3862"/>
                  <a:pt x="6938" y="2181"/>
                  <a:pt x="7235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70000"/>
            </a:schemeClr>
          </a:soli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5" name="Freeform 510"/>
          <p:cNvSpPr>
            <a:spLocks noGrp="1"/>
          </p:cNvSpPr>
          <p:nvPr/>
        </p:nvSpPr>
        <p:spPr>
          <a:xfrm flipH="1">
            <a:off x="-3684588" y="6121440"/>
            <a:ext cx="1652588" cy="746312"/>
          </a:xfrm>
          <a:custGeom>
            <a:avLst/>
            <a:gdLst>
              <a:gd name="T0" fmla="*/ 0 w 1041"/>
              <a:gd name="T1" fmla="*/ 465 h 465"/>
              <a:gd name="T2" fmla="*/ 1041 w 1041"/>
              <a:gd name="T3" fmla="*/ 465 h 465"/>
              <a:gd name="T4" fmla="*/ 520 w 1041"/>
              <a:gd name="T5" fmla="*/ 0 h 465"/>
              <a:gd name="T6" fmla="*/ 0 w 1041"/>
              <a:gd name="T7" fmla="*/ 465 h 465"/>
            </a:gdLst>
            <a:ahLst/>
            <a:cxnLst/>
            <a:rect l="0" t="0" r="r" b="b"/>
            <a:pathLst>
              <a:path w="1041" h="465">
                <a:moveTo>
                  <a:pt x="0" y="465"/>
                </a:moveTo>
                <a:cubicBezTo>
                  <a:pt x="1041" y="465"/>
                  <a:pt x="1041" y="465"/>
                  <a:pt x="1041" y="465"/>
                </a:cubicBezTo>
                <a:cubicBezTo>
                  <a:pt x="1011" y="203"/>
                  <a:pt x="790" y="0"/>
                  <a:pt x="520" y="0"/>
                </a:cubicBezTo>
                <a:cubicBezTo>
                  <a:pt x="251" y="0"/>
                  <a:pt x="30" y="203"/>
                  <a:pt x="0" y="465"/>
                </a:cubicBezTo>
                <a:close/>
              </a:path>
            </a:pathLst>
          </a:custGeom>
          <a:gradFill>
            <a:gsLst>
              <a:gs pos="8000">
                <a:schemeClr val="accent5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6" name="Oval 511"/>
          <p:cNvSpPr>
            <a:spLocks noGrp="1"/>
          </p:cNvSpPr>
          <p:nvPr/>
        </p:nvSpPr>
        <p:spPr>
          <a:xfrm flipH="1">
            <a:off x="-7786688" y="2804626"/>
            <a:ext cx="2973388" cy="3007766"/>
          </a:xfrm>
          <a:prstGeom prst="ellipse">
            <a:avLst/>
          </a:prstGeom>
          <a:gradFill>
            <a:gsLst>
              <a:gs pos="8000">
                <a:schemeClr val="accent4">
                  <a:lumMod val="60000"/>
                  <a:lumOff val="40000"/>
                  <a:alpha val="30000"/>
                </a:schemeClr>
              </a:gs>
              <a:gs pos="85000">
                <a:schemeClr val="accent4">
                  <a:alpha val="30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7" name="Freeform 512"/>
          <p:cNvSpPr>
            <a:spLocks noGrp="1"/>
          </p:cNvSpPr>
          <p:nvPr/>
        </p:nvSpPr>
        <p:spPr>
          <a:xfrm flipH="1">
            <a:off x="-5516564" y="-85725"/>
            <a:ext cx="6677024" cy="6039659"/>
          </a:xfrm>
          <a:custGeom>
            <a:avLst/>
            <a:gdLst>
              <a:gd name="T0" fmla="*/ 3761 w 3761"/>
              <a:gd name="T1" fmla="*/ 0 h 3755"/>
              <a:gd name="T2" fmla="*/ 0 w 3761"/>
              <a:gd name="T3" fmla="*/ 0 h 3755"/>
              <a:gd name="T4" fmla="*/ 3761 w 3761"/>
              <a:gd name="T5" fmla="*/ 3755 h 3755"/>
              <a:gd name="T6" fmla="*/ 3761 w 3761"/>
              <a:gd name="T7" fmla="*/ 0 h 3755"/>
            </a:gdLst>
            <a:ahLst/>
            <a:cxnLst/>
            <a:rect l="0" t="0" r="r" b="b"/>
            <a:pathLst>
              <a:path w="3761" h="3755">
                <a:moveTo>
                  <a:pt x="3761" y="0"/>
                </a:moveTo>
                <a:lnTo>
                  <a:pt x="0" y="0"/>
                </a:lnTo>
                <a:lnTo>
                  <a:pt x="3761" y="3755"/>
                </a:lnTo>
                <a:lnTo>
                  <a:pt x="376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8" name="Freeform 513"/>
          <p:cNvSpPr>
            <a:spLocks noGrp="1"/>
          </p:cNvSpPr>
          <p:nvPr/>
        </p:nvSpPr>
        <p:spPr>
          <a:xfrm flipH="1">
            <a:off x="-9610725" y="3158481"/>
            <a:ext cx="1450975" cy="2936995"/>
          </a:xfrm>
          <a:custGeom>
            <a:avLst/>
            <a:gdLst>
              <a:gd name="T0" fmla="*/ 914 w 914"/>
              <a:gd name="T1" fmla="*/ 1826 h 1826"/>
              <a:gd name="T2" fmla="*/ 0 w 914"/>
              <a:gd name="T3" fmla="*/ 913 h 1826"/>
              <a:gd name="T4" fmla="*/ 914 w 914"/>
              <a:gd name="T5" fmla="*/ 0 h 1826"/>
              <a:gd name="T6" fmla="*/ 914 w 914"/>
              <a:gd name="T7" fmla="*/ 1826 h 1826"/>
            </a:gdLst>
            <a:ahLst/>
            <a:cxnLst/>
            <a:rect l="0" t="0" r="r" b="b"/>
            <a:pathLst>
              <a:path w="914" h="1826">
                <a:moveTo>
                  <a:pt x="914" y="1826"/>
                </a:moveTo>
                <a:lnTo>
                  <a:pt x="0" y="913"/>
                </a:lnTo>
                <a:lnTo>
                  <a:pt x="914" y="0"/>
                </a:lnTo>
                <a:lnTo>
                  <a:pt x="914" y="1826"/>
                </a:lnTo>
                <a:close/>
              </a:path>
            </a:pathLst>
          </a:custGeom>
          <a:gradFill>
            <a:gsLst>
              <a:gs pos="6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39" name="Freeform 514"/>
          <p:cNvSpPr>
            <a:spLocks noGrp="1"/>
          </p:cNvSpPr>
          <p:nvPr/>
        </p:nvSpPr>
        <p:spPr>
          <a:xfrm flipH="1">
            <a:off x="-295275" y="1229972"/>
            <a:ext cx="527050" cy="596728"/>
          </a:xfrm>
          <a:custGeom>
            <a:avLst/>
            <a:gdLst>
              <a:gd name="T0" fmla="*/ 38 w 332"/>
              <a:gd name="T1" fmla="*/ 371 h 371"/>
              <a:gd name="T2" fmla="*/ 0 w 332"/>
              <a:gd name="T3" fmla="*/ 39 h 371"/>
              <a:gd name="T4" fmla="*/ 332 w 332"/>
              <a:gd name="T5" fmla="*/ 0 h 371"/>
              <a:gd name="T6" fmla="*/ 38 w 332"/>
              <a:gd name="T7" fmla="*/ 371 h 371"/>
            </a:gdLst>
            <a:ahLst/>
            <a:cxnLst/>
            <a:rect l="0" t="0" r="r" b="b"/>
            <a:pathLst>
              <a:path w="332" h="371">
                <a:moveTo>
                  <a:pt x="38" y="371"/>
                </a:moveTo>
                <a:lnTo>
                  <a:pt x="0" y="39"/>
                </a:lnTo>
                <a:lnTo>
                  <a:pt x="332" y="0"/>
                </a:lnTo>
                <a:lnTo>
                  <a:pt x="38" y="371"/>
                </a:lnTo>
                <a:close/>
              </a:path>
            </a:pathLst>
          </a:custGeom>
          <a:gradFill>
            <a:gsLst>
              <a:gs pos="8000">
                <a:schemeClr val="accent2"/>
              </a:gs>
              <a:gs pos="85000">
                <a:schemeClr val="accent1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40" name="Freeform 515"/>
          <p:cNvSpPr>
            <a:spLocks noGrp="1"/>
          </p:cNvSpPr>
          <p:nvPr/>
        </p:nvSpPr>
        <p:spPr>
          <a:xfrm flipH="1">
            <a:off x="-5476875" y="-85725"/>
            <a:ext cx="4738688" cy="2914477"/>
          </a:xfrm>
          <a:custGeom>
            <a:avLst/>
            <a:gdLst>
              <a:gd name="T0" fmla="*/ 0 w 2985"/>
              <a:gd name="T1" fmla="*/ 323 h 1815"/>
              <a:gd name="T2" fmla="*/ 1492 w 2985"/>
              <a:gd name="T3" fmla="*/ 1815 h 1815"/>
              <a:gd name="T4" fmla="*/ 2985 w 2985"/>
              <a:gd name="T5" fmla="*/ 323 h 1815"/>
              <a:gd name="T6" fmla="*/ 2950 w 2985"/>
              <a:gd name="T7" fmla="*/ 0 h 1815"/>
              <a:gd name="T8" fmla="*/ 35 w 2985"/>
              <a:gd name="T9" fmla="*/ 0 h 1815"/>
              <a:gd name="T10" fmla="*/ 0 w 2985"/>
              <a:gd name="T11" fmla="*/ 323 h 1815"/>
            </a:gdLst>
            <a:ahLst/>
            <a:cxnLst/>
            <a:rect l="0" t="0" r="r" b="b"/>
            <a:pathLst>
              <a:path w="2985" h="1815">
                <a:moveTo>
                  <a:pt x="0" y="323"/>
                </a:moveTo>
                <a:cubicBezTo>
                  <a:pt x="0" y="1147"/>
                  <a:pt x="668" y="1815"/>
                  <a:pt x="1492" y="1815"/>
                </a:cubicBezTo>
                <a:cubicBezTo>
                  <a:pt x="2317" y="1815"/>
                  <a:pt x="2985" y="1147"/>
                  <a:pt x="2985" y="323"/>
                </a:cubicBezTo>
                <a:cubicBezTo>
                  <a:pt x="2985" y="212"/>
                  <a:pt x="2973" y="104"/>
                  <a:pt x="2950" y="0"/>
                </a:cubicBezTo>
                <a:cubicBezTo>
                  <a:pt x="35" y="0"/>
                  <a:pt x="35" y="0"/>
                  <a:pt x="35" y="0"/>
                </a:cubicBezTo>
                <a:cubicBezTo>
                  <a:pt x="12" y="104"/>
                  <a:pt x="0" y="212"/>
                  <a:pt x="0" y="323"/>
                </a:cubicBezTo>
                <a:close/>
              </a:path>
            </a:pathLst>
          </a:custGeom>
          <a:gradFill>
            <a:gsLst>
              <a:gs pos="8000">
                <a:schemeClr val="accent4">
                  <a:lumMod val="60000"/>
                  <a:lumOff val="40000"/>
                </a:schemeClr>
              </a:gs>
              <a:gs pos="85000">
                <a:schemeClr val="accent4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341" name="Freeform 516"/>
          <p:cNvSpPr>
            <a:spLocks noGrp="1"/>
          </p:cNvSpPr>
          <p:nvPr/>
        </p:nvSpPr>
        <p:spPr>
          <a:xfrm flipH="1">
            <a:off x="-7513638" y="-85725"/>
            <a:ext cx="2701925" cy="2206767"/>
          </a:xfrm>
          <a:custGeom>
            <a:avLst/>
            <a:gdLst>
              <a:gd name="T0" fmla="*/ 1269 w 1702"/>
              <a:gd name="T1" fmla="*/ 1374 h 1374"/>
              <a:gd name="T2" fmla="*/ 1702 w 1702"/>
              <a:gd name="T3" fmla="*/ 323 h 1374"/>
              <a:gd name="T4" fmla="*/ 1667 w 1702"/>
              <a:gd name="T5" fmla="*/ 0 h 1374"/>
              <a:gd name="T6" fmla="*/ 0 w 1702"/>
              <a:gd name="T7" fmla="*/ 0 h 1374"/>
              <a:gd name="T8" fmla="*/ 1269 w 1702"/>
              <a:gd name="T9" fmla="*/ 1374 h 1374"/>
            </a:gdLst>
            <a:ahLst/>
            <a:cxnLst/>
            <a:rect l="0" t="0" r="r" b="b"/>
            <a:pathLst>
              <a:path w="1702" h="1374">
                <a:moveTo>
                  <a:pt x="1269" y="1374"/>
                </a:moveTo>
                <a:cubicBezTo>
                  <a:pt x="1536" y="1104"/>
                  <a:pt x="1702" y="733"/>
                  <a:pt x="1702" y="323"/>
                </a:cubicBezTo>
                <a:cubicBezTo>
                  <a:pt x="1702" y="212"/>
                  <a:pt x="1690" y="104"/>
                  <a:pt x="1667" y="0"/>
                </a:cubicBezTo>
                <a:cubicBezTo>
                  <a:pt x="0" y="0"/>
                  <a:pt x="0" y="0"/>
                  <a:pt x="0" y="0"/>
                </a:cubicBezTo>
                <a:lnTo>
                  <a:pt x="1269" y="1374"/>
                </a:lnTo>
                <a:close/>
              </a:path>
            </a:pathLst>
          </a:custGeom>
          <a:gradFill>
            <a:gsLst>
              <a:gs pos="8000">
                <a:schemeClr val="accent5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anchor="t"/>
          <a:lstStyle/>
          <a:p/>
        </p:txBody>
      </p:sp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78613" y="2070558"/>
            <a:ext cx="4604544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t>Conclusion</a:t>
            </a:r>
          </a:p>
        </p:txBody>
      </p:sp>
      <p:sp>
        <p:nvSpPr>
          <p:cNvPr id="15" name="文本占位符 62"/>
          <p:cNvSpPr>
            <a:spLocks noGrp="1"/>
          </p:cNvSpPr>
          <p:nvPr>
            <p:ph type="body" idx="18" hasCustomPrompt="1"/>
          </p:nvPr>
        </p:nvSpPr>
        <p:spPr>
          <a:xfrm>
            <a:off x="6678613" y="4376794"/>
            <a:ext cx="4604544" cy="310871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marL="228600" marR="0" lvl="0" indent="-228600">
              <a:spcAft>
                <a:spcPts val="0"/>
              </a:spcAft>
              <a:buClrTx/>
              <a:buSzTx/>
              <a:buNone/>
            </a:pPr>
            <a:r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idx="10" hasCustomPrompt="1"/>
          </p:nvPr>
        </p:nvSpPr>
        <p:spPr>
          <a:xfrm>
            <a:off x="6678614" y="4080523"/>
            <a:ext cx="4604544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buNone/>
            </a:pPr>
            <a:r>
              <a:t>Signature</a:t>
            </a:r>
          </a:p>
        </p:txBody>
      </p:sp>
      <p:pic>
        <p:nvPicPr>
          <p:cNvPr id="35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744" y="16302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/>
      <p:sp>
        <p:nvSpPr>
          <p:cNvPr id="7" name="直接连接符 6"/>
          <p:cNvSpPr>
            <a:spLocks noGrp="1"/>
          </p:cNvSpPr>
          <p:nvPr/>
        </p:nvSpPr>
        <p:spPr>
          <a:xfrm>
            <a:off x="5884982" y="1336847"/>
            <a:ext cx="0" cy="3892457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淘宝店chenying0907 13"/>
          <p:cNvSpPr>
            <a:spLocks noGrp="1"/>
          </p:cNvSpPr>
          <p:nvPr/>
        </p:nvSpPr>
        <p:spPr>
          <a:xfrm>
            <a:off x="599710" y="2624285"/>
            <a:ext cx="4754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西北大学微信公众平台</a:t>
            </a: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sz="24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荣誉出品</a:t>
            </a: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endParaRPr sz="2400" b="1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ctr" defTabSz="457200">
              <a:lnSpc>
                <a:spcPct val="150000"/>
              </a:lnSpc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图片素材来源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“微西大”新媒体中心</a:t>
            </a:r>
            <a:endParaRPr sz="1600" b="1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版式设计</a:t>
            </a: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</a:t>
            </a:r>
            <a:r>
              <a:rPr sz="16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思望</a:t>
            </a:r>
            <a:endParaRPr sz="1600" b="1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 b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部分素材来自网络</a:t>
            </a:r>
            <a:endParaRPr sz="1600" b="0" kern="12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淘宝店chenying0907 13"/>
          <p:cNvSpPr>
            <a:spLocks noGrp="1"/>
          </p:cNvSpPr>
          <p:nvPr/>
        </p:nvSpPr>
        <p:spPr>
          <a:xfrm>
            <a:off x="6520689" y="2808951"/>
            <a:ext cx="47542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扫码关注西北大学微信公众平台</a:t>
            </a:r>
            <a:endParaRPr sz="160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公众号：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northwest1902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endParaRPr sz="2400" b="1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新浪微博 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西北大学</a:t>
            </a:r>
            <a:endParaRPr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sz="160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投稿邮箱 </a:t>
            </a:r>
            <a:r>
              <a:rPr sz="1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xidaweixin@qq.com</a:t>
            </a:r>
            <a:endParaRPr sz="1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9"/>
          <p:cNvPicPr>
            <a:picLocks noChangeAspect="1"/>
          </p:cNvPicPr>
          <p:nvPr/>
        </p:nvPicPr>
        <p:blipFill rotWithShape="1">
          <a:blip r:embed="rId2"/>
          <a:srcRect l="-4"/>
          <a:stretch>
            <a:fillRect/>
          </a:stretch>
        </p:blipFill>
        <p:spPr>
          <a:xfrm>
            <a:off x="2484388" y="1336847"/>
            <a:ext cx="984925" cy="996694"/>
          </a:xfrm>
          <a:prstGeom prst="rect">
            <a:avLst/>
          </a:prstGeom>
        </p:spPr>
      </p:pic>
      <p:pic>
        <p:nvPicPr>
          <p:cNvPr id="16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BFFFF">
                  <a:alpha val="100000"/>
                </a:srgbClr>
              </a:clrFrom>
              <a:clrTo>
                <a:srgbClr val="EBFFFF">
                  <a:alpha val="100000"/>
                </a:srgbClr>
              </a:clrTo>
            </a:clrChange>
            <a:grayscl/>
            <a:lum bright="10000" contrast="-64000"/>
          </a:blip>
          <a:stretch>
            <a:fillRect/>
          </a:stretch>
        </p:blipFill>
        <p:spPr>
          <a:xfrm>
            <a:off x="8302787" y="1366772"/>
            <a:ext cx="1190086" cy="11900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1" name="直角三角形 90"/>
          <p:cNvSpPr/>
          <p:nvPr userDrawn="1"/>
        </p:nvSpPr>
        <p:spPr>
          <a:xfrm flipV="1">
            <a:off x="0" y="0"/>
            <a:ext cx="5029200" cy="5029200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任意多边形: 形状 98"/>
          <p:cNvSpPr/>
          <p:nvPr userDrawn="1"/>
        </p:nvSpPr>
        <p:spPr>
          <a:xfrm rot="18900000">
            <a:off x="715294" y="-1261557"/>
            <a:ext cx="6075124" cy="12029051"/>
          </a:xfrm>
          <a:custGeom>
            <a:avLst/>
            <a:gdLst>
              <a:gd name="connsiteX0" fmla="*/ 3744748 w 6075124"/>
              <a:gd name="connsiteY0" fmla="*/ 0 h 12029051"/>
              <a:gd name="connsiteX1" fmla="*/ 6075124 w 6075124"/>
              <a:gd name="connsiteY1" fmla="*/ 2330375 h 12029051"/>
              <a:gd name="connsiteX2" fmla="*/ 6075124 w 6075124"/>
              <a:gd name="connsiteY2" fmla="*/ 12029051 h 12029051"/>
              <a:gd name="connsiteX3" fmla="*/ 0 w 6075124"/>
              <a:gd name="connsiteY3" fmla="*/ 5953927 h 12029051"/>
              <a:gd name="connsiteX4" fmla="*/ 0 w 6075124"/>
              <a:gd name="connsiteY4" fmla="*/ 3744748 h 1202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5124" h="12029051">
                <a:moveTo>
                  <a:pt x="3744748" y="0"/>
                </a:moveTo>
                <a:lnTo>
                  <a:pt x="6075124" y="2330375"/>
                </a:lnTo>
                <a:lnTo>
                  <a:pt x="6075124" y="12029051"/>
                </a:lnTo>
                <a:lnTo>
                  <a:pt x="0" y="5953927"/>
                </a:lnTo>
                <a:lnTo>
                  <a:pt x="0" y="3744748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864973"/>
            <a:ext cx="5662951" cy="67718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69925" y="2571750"/>
            <a:ext cx="5721123" cy="1260208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40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单机此处添加副标题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332265" y="5025263"/>
            <a:ext cx="2797175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332265" y="5273634"/>
            <a:ext cx="2797175" cy="2483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7795" y="309946"/>
            <a:ext cx="1830330" cy="51225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478705" y="2227942"/>
            <a:ext cx="4653643" cy="65679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1478705" y="3085406"/>
            <a:ext cx="4700690" cy="1015623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r>
              <a:rPr lang="zh-CN" altLang="en-US"/>
              <a:t>「 让</a:t>
            </a:r>
            <a:r>
              <a:rPr lang="en-US" altLang="zh-CN"/>
              <a:t>PPT</a:t>
            </a:r>
            <a:r>
              <a:rPr lang="zh-CN" altLang="en-US"/>
              <a:t>设计简单起来！」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r>
              <a:rPr lang="zh-CN" altLang="en-US"/>
              <a:t>「 让</a:t>
            </a:r>
            <a:r>
              <a:rPr lang="en-US" altLang="zh-CN"/>
              <a:t>PPT</a:t>
            </a:r>
            <a:r>
              <a:rPr lang="zh-CN" altLang="en-US"/>
              <a:t>设计简单起来！」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r>
              <a:rPr lang="zh-CN" altLang="en-US"/>
              <a:t>「 让</a:t>
            </a:r>
            <a:r>
              <a:rPr lang="en-US" altLang="zh-CN"/>
              <a:t>PPT</a:t>
            </a:r>
            <a:r>
              <a:rPr lang="zh-CN" altLang="en-US"/>
              <a:t>设计简单起来！」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idx="13"/>
          </p:nvPr>
        </p:nvSpPr>
        <p:spPr>
          <a:xfrm>
            <a:off x="8362950" y="1809750"/>
            <a:ext cx="2857500" cy="2438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244" y="238266"/>
            <a:ext cx="1773181" cy="4962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直角三角形 37"/>
          <p:cNvSpPr/>
          <p:nvPr userDrawn="1"/>
        </p:nvSpPr>
        <p:spPr>
          <a:xfrm flipH="1" flipV="1">
            <a:off x="7162800" y="0"/>
            <a:ext cx="5029200" cy="5029200"/>
          </a:xfrm>
          <a:prstGeom prst="rt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 userDrawn="1"/>
        </p:nvSpPr>
        <p:spPr>
          <a:xfrm rot="2700000" flipH="1">
            <a:off x="5401582" y="-1261557"/>
            <a:ext cx="6075124" cy="12029051"/>
          </a:xfrm>
          <a:custGeom>
            <a:avLst/>
            <a:gdLst>
              <a:gd name="connsiteX0" fmla="*/ 3744748 w 6075124"/>
              <a:gd name="connsiteY0" fmla="*/ 0 h 12029051"/>
              <a:gd name="connsiteX1" fmla="*/ 6075124 w 6075124"/>
              <a:gd name="connsiteY1" fmla="*/ 2330375 h 12029051"/>
              <a:gd name="connsiteX2" fmla="*/ 6075124 w 6075124"/>
              <a:gd name="connsiteY2" fmla="*/ 12029051 h 12029051"/>
              <a:gd name="connsiteX3" fmla="*/ 0 w 6075124"/>
              <a:gd name="connsiteY3" fmla="*/ 5953927 h 12029051"/>
              <a:gd name="connsiteX4" fmla="*/ 0 w 6075124"/>
              <a:gd name="connsiteY4" fmla="*/ 3744748 h 12029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75124" h="12029051">
                <a:moveTo>
                  <a:pt x="3744748" y="0"/>
                </a:moveTo>
                <a:lnTo>
                  <a:pt x="6075124" y="2330375"/>
                </a:lnTo>
                <a:lnTo>
                  <a:pt x="6075124" y="12029051"/>
                </a:lnTo>
                <a:lnTo>
                  <a:pt x="0" y="5953927"/>
                </a:lnTo>
                <a:lnTo>
                  <a:pt x="0" y="3744748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566808" y="2504622"/>
            <a:ext cx="4215491" cy="1333499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596134" y="3893650"/>
            <a:ext cx="4156839" cy="248371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7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596134" y="4154908"/>
            <a:ext cx="4156839" cy="248371"/>
          </a:xfrm>
        </p:spPr>
        <p:txBody>
          <a:bodyPr anchor="ctr">
            <a:noAutofit/>
          </a:bodyPr>
          <a:lstStyle>
            <a:lvl1pPr marL="0" indent="0" algn="ctr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5884982" y="1336847"/>
            <a:ext cx="0" cy="3892457"/>
          </a:xfrm>
          <a:prstGeom prst="line">
            <a:avLst/>
          </a:prstGeom>
          <a:ln w="28575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淘宝店chenying0907 13"/>
          <p:cNvSpPr txBox="1"/>
          <p:nvPr userDrawn="1"/>
        </p:nvSpPr>
        <p:spPr>
          <a:xfrm>
            <a:off x="599710" y="2624285"/>
            <a:ext cx="4754282" cy="2264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西北大学微信公众平台</a:t>
            </a:r>
            <a:endParaRPr lang="en-US" altLang="zh-CN" sz="24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/>
            <a:r>
              <a:rPr lang="zh-CN" alt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荣誉出品</a:t>
            </a:r>
            <a:endParaRPr lang="en-US" altLang="zh-CN" sz="24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/>
            <a:endParaRPr lang="en-US" altLang="zh-CN" sz="2400" b="1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algn="ctr" defTabSz="457200" rtl="0" eaLnBrk="1" latinLnBrk="0" hangingPunct="1">
              <a:lnSpc>
                <a:spcPct val="150000"/>
              </a:lnSpc>
            </a:pPr>
            <a:r>
              <a:rPr lang="zh-CN" altLang="en-US" sz="1600" b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图片素材来源</a:t>
            </a:r>
            <a:r>
              <a:rPr lang="zh-CN" altLang="en-US" sz="1600" b="1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“微西大”新媒体中心</a:t>
            </a:r>
            <a:endParaRPr lang="en-US" altLang="zh-CN" sz="1600" b="1" kern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版式设计</a:t>
            </a:r>
            <a:r>
              <a:rPr lang="zh-CN" altLang="en-US" sz="1600" b="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lang="en-US" altLang="zh-CN" sz="1600" b="1" kern="1200" baseline="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@</a:t>
            </a:r>
            <a:r>
              <a:rPr lang="zh-CN" altLang="en-US" sz="1600" b="1" kern="1200" baseline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思望</a:t>
            </a:r>
            <a:endParaRPr lang="en-US" altLang="zh-CN" sz="1600" b="1" kern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0" kern="12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部分素材来自网络</a:t>
            </a:r>
            <a:endParaRPr lang="en-US" altLang="zh-CN" sz="1600" b="0" kern="12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淘宝店chenying0907 13"/>
          <p:cNvSpPr txBox="1"/>
          <p:nvPr userDrawn="1"/>
        </p:nvSpPr>
        <p:spPr>
          <a:xfrm>
            <a:off x="6520689" y="2808951"/>
            <a:ext cx="475428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扫码关注西北大学微信公众平台</a:t>
            </a:r>
            <a:endParaRPr lang="en-US" altLang="zh-CN" sz="16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公众号：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northwest1902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>
              <a:solidFill>
                <a:schemeClr val="accent5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新浪微博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@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西北大学</a:t>
            </a:r>
            <a:endParaRPr lang="en-US" altLang="zh-CN" sz="16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投稿邮箱 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xidaweixin@qq.com</a:t>
            </a:r>
            <a:endParaRPr lang="en-US" altLang="zh-CN" sz="16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-4"/>
          <a:stretch>
            <a:fillRect/>
          </a:stretch>
        </p:blipFill>
        <p:spPr>
          <a:xfrm>
            <a:off x="2484388" y="1336847"/>
            <a:ext cx="984925" cy="99669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screen">
            <a:clrChange>
              <a:clrFrom>
                <a:srgbClr val="EBFFFF">
                  <a:alpha val="100000"/>
                </a:srgbClr>
              </a:clrFrom>
              <a:clrTo>
                <a:srgbClr val="EBFFFF">
                  <a:alpha val="100000"/>
                  <a:alpha val="0"/>
                </a:srgbClr>
              </a:clrTo>
            </a:clrChange>
            <a:grayscl/>
            <a:lum bright="10000" contrast="-64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02787" y="1366772"/>
            <a:ext cx="1190086" cy="11900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theme" Target="../theme/theme3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theme" Target="../theme/theme4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日期占位符 3"/>
          <p:cNvSpPr>
            <a:spLocks noGrp="1"/>
          </p:cNvSpPr>
          <p:nvPr>
            <p:ph type="dt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9" name="页脚占位符 4"/>
          <p:cNvSpPr>
            <a:spLocks noGrp="1"/>
          </p:cNvSpPr>
          <p:nvPr>
            <p:ph type="ft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www.islide.cc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3765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3765">
        <a:lnSpc>
          <a:spcPct val="90000"/>
        </a:lnSpc>
        <a:spcBef>
          <a:spcPts val="1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www.islide.cc </a:t>
            </a:r>
            <a:r>
              <a:t>「 让</a:t>
            </a:r>
            <a:r>
              <a:t>PPT</a:t>
            </a:r>
            <a:r>
              <a:t>设计简单起来！」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hf hdr="0" dt="0"/>
  <p:txStyles>
    <p:titleStyle>
      <a:lvl1pPr algn="l" defTabSz="913765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3765">
        <a:lnSpc>
          <a:spcPct val="90000"/>
        </a:lnSpc>
        <a:spcBef>
          <a:spcPts val="1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8" name="日期占位符 3"/>
          <p:cNvSpPr>
            <a:spLocks noGrp="1"/>
          </p:cNvSpPr>
          <p:nvPr>
            <p:ph type="dt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9" name="页脚占位符 4"/>
          <p:cNvSpPr>
            <a:spLocks noGrp="1"/>
          </p:cNvSpPr>
          <p:nvPr>
            <p:ph type="ft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t>www.islide.cc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hf hdr="0" dt="0"/>
  <p:txStyles>
    <p:titleStyle>
      <a:lvl1pPr algn="l" defTabSz="913765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3765">
        <a:lnSpc>
          <a:spcPct val="90000"/>
        </a:lnSpc>
        <a:spcBef>
          <a:spcPts val="1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2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3765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www.islide.cc </a:t>
            </a:r>
            <a:r>
              <a:rPr lang="zh-CN" altLang="en-US" dirty="0"/>
              <a:t>「 让</a:t>
            </a:r>
            <a:r>
              <a:rPr lang="en-US" altLang="zh-CN" dirty="0"/>
              <a:t>PPT</a:t>
            </a:r>
            <a:r>
              <a:rPr lang="zh-CN" altLang="en-US" dirty="0"/>
              <a:t>设计简单起来！」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</p:sldLayoutIdLst>
  <p:hf hdr="0" dt="0"/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0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notesSlide" Target="../notesSlides/notesSlide12.xml"/><Relationship Id="rId1" Type="http://schemas.openxmlformats.org/officeDocument/2006/relationships/tags" Target="../tags/tag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 l="-4000" t="-16000" r="-40000"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" name="全国大学生&#10;电子设计竞赛"/>
          <p:cNvSpPr>
            <a:spLocks noGrp="1"/>
          </p:cNvSpPr>
          <p:nvPr/>
        </p:nvSpPr>
        <p:spPr>
          <a:xfrm>
            <a:off x="723900" y="2638425"/>
            <a:ext cx="7667625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全国大学生</a:t>
            </a:r>
            <a:endParaRPr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电子设计竞</a:t>
            </a: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</a:t>
            </a: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赛制、题型与备赛入门"/>
          <p:cNvSpPr>
            <a:spLocks noGrp="1"/>
          </p:cNvSpPr>
          <p:nvPr/>
        </p:nvSpPr>
        <p:spPr>
          <a:xfrm>
            <a:off x="762000" y="4286250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赛制、题型与</a:t>
            </a:r>
            <a:r>
              <a:rPr lang="zh-CN" sz="23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r>
              <a:rPr lang="zh-CN" sz="23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endParaRPr lang="zh-CN" sz="23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面向初次参赛同学的分享"/>
          <p:cNvSpPr>
            <a:spLocks noGrp="1"/>
          </p:cNvSpPr>
          <p:nvPr/>
        </p:nvSpPr>
        <p:spPr>
          <a:xfrm>
            <a:off x="762000" y="5429250"/>
            <a:ext cx="6191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电赛选拔宣讲暨优秀作品展示</a:t>
            </a:r>
            <a:r>
              <a:rPr lang="zh-CN"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交流会</a:t>
            </a:r>
            <a:endParaRPr lang="zh-CN"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2026"/>
          <p:cNvSpPr>
            <a:spLocks noGrp="1"/>
          </p:cNvSpPr>
          <p:nvPr/>
        </p:nvSpPr>
        <p:spPr>
          <a:xfrm>
            <a:off x="9810750" y="3905250"/>
            <a:ext cx="1714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分享内容"/>
          <p:cNvSpPr>
            <a:spLocks noGrp="1"/>
          </p:cNvSpPr>
          <p:nvPr/>
        </p:nvSpPr>
        <p:spPr>
          <a:xfrm>
            <a:off x="857250" y="1619250"/>
            <a:ext cx="266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2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分享内容</a:t>
            </a:r>
            <a:endParaRPr sz="32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286250" y="176212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比赛怎样进行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238750" y="1762125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为什么要打</a:t>
            </a:r>
            <a:r>
              <a:rPr lang="zh-CN"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电赛</a:t>
            </a:r>
            <a:endParaRPr lang="zh-CN" sz="2400" b="1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0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286250" y="272415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电赛的含金量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238750" y="2724150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电赛</a:t>
            </a:r>
            <a:r>
              <a:rPr>
                <a:sym typeface="+mn-ea"/>
              </a:rPr>
              <a:t>赛</a:t>
            </a:r>
            <a:r>
              <a:rPr lang="zh-CN">
                <a:sym typeface="+mn-ea"/>
              </a:rPr>
              <a:t>制</a:t>
            </a:r>
            <a:endParaRPr sz="2400" b="1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0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286250" y="368617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题型与技能要求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5238750" y="3686175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题型与技能要求</a:t>
            </a:r>
            <a:endParaRPr sz="2400" b="1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0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286250" y="464820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组队与备赛路径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238750" y="4648200"/>
            <a:ext cx="5715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400" b="1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团队分工</a:t>
            </a:r>
            <a:endParaRPr lang="zh-CN" sz="2400" b="1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电赛的含金量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要打电赛</a:t>
            </a:r>
            <a:endParaRPr lang="zh-CN"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7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能独立完成并解释一个真实系统"/>
          <p:cNvSpPr>
            <a:spLocks noGrp="1"/>
          </p:cNvSpPr>
          <p:nvPr/>
        </p:nvSpPr>
        <p:spPr>
          <a:xfrm>
            <a:off x="666750" y="1238250"/>
            <a:ext cx="406590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）保研与综测</a:t>
            </a:r>
            <a:r>
              <a:rPr 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加分</a:t>
            </a:r>
            <a:endParaRPr lang="zh-CN" sz="315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工程能力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59485" y="193294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推免文件</a:t>
            </a:r>
            <a:endParaRPr lang="en-US" altLang="zh-CN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团队经历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355465" y="19050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综测</a:t>
            </a: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求职与科研表达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7980045" y="1932940"/>
            <a:ext cx="2954655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推动计划</a:t>
            </a:r>
            <a:r>
              <a:rPr lang="en-US" alt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竞赛</a:t>
            </a: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名录</a:t>
            </a:r>
            <a:endParaRPr lang="zh-CN" altLang="en-US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2760" y="2562860"/>
            <a:ext cx="5229225" cy="24384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" y="2432685"/>
            <a:ext cx="2954020" cy="41509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2170" y="2432685"/>
            <a:ext cx="3429635" cy="3509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电赛的含金量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要打电赛</a:t>
            </a:r>
            <a:endParaRPr lang="zh-CN"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7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能独立完成并解释一个真实系统"/>
          <p:cNvSpPr>
            <a:spLocks noGrp="1"/>
          </p:cNvSpPr>
          <p:nvPr/>
        </p:nvSpPr>
        <p:spPr>
          <a:xfrm>
            <a:off x="666750" y="1238250"/>
            <a:ext cx="406590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）实习与就业</a:t>
            </a:r>
            <a:endParaRPr lang="zh-CN" sz="315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工程能力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59485" y="193294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华为</a:t>
            </a:r>
            <a:endParaRPr lang="zh-CN" altLang="en-US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团队经历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9485" y="414909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大疆</a:t>
            </a:r>
            <a:endParaRPr lang="zh-CN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344420"/>
            <a:ext cx="8364220" cy="166624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318895" y="3315970"/>
            <a:ext cx="1863090" cy="184150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485" y="4777740"/>
            <a:ext cx="8077200" cy="179070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2910205" y="6199505"/>
            <a:ext cx="2637790" cy="2584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电赛的含金量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要打电赛</a:t>
            </a:r>
            <a:endParaRPr lang="zh-CN"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7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能独立完成并解释一个真实系统"/>
          <p:cNvSpPr>
            <a:spLocks noGrp="1"/>
          </p:cNvSpPr>
          <p:nvPr/>
        </p:nvSpPr>
        <p:spPr>
          <a:xfrm>
            <a:off x="666750" y="1238250"/>
            <a:ext cx="406590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）个人能力的</a:t>
            </a:r>
            <a:r>
              <a:rPr lang="zh-CN" sz="31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</a:t>
            </a:r>
            <a:endParaRPr lang="zh-CN" sz="315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工程能力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59485" y="193294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</a:t>
            </a: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</a:t>
            </a:r>
            <a:endParaRPr lang="zh-CN" altLang="en-US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团队经历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9485" y="414909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工程思维</a:t>
            </a:r>
            <a:endParaRPr lang="zh-CN" altLang="en-US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5200" y="2310130"/>
            <a:ext cx="350202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模电、数电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YOLO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控制算法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单片机与嵌入式编程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传感器与检测技术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自动控制原理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1865" y="4621530"/>
            <a:ext cx="39109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从题目指标出发选方案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权衡精度、速度、成本和可靠性判断哪些功能必须做好、哪些可以简化。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工程能力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191250" y="193294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自学能力</a:t>
            </a:r>
            <a:endParaRPr lang="zh-CN" altLang="en-US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191250" y="2437130"/>
            <a:ext cx="35020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面对没用过的芯片、模块或算法，能查资料、读手册、搭小实验验证，再用到系统中。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团队经历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191250" y="414909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</a:t>
            </a:r>
            <a:endParaRPr lang="zh-CN" altLang="en-US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91250" y="4748530"/>
            <a:ext cx="3910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学会分工、约定接口、同步进度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在备赛与比赛期间共同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进步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电赛概览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电赛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赛制</a:t>
            </a:r>
            <a:endParaRPr lang="zh-CN"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3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3"/>
          <p:cNvSpPr>
            <a:spLocks noGrp="1"/>
          </p:cNvSpPr>
          <p:nvPr/>
        </p:nvSpPr>
        <p:spPr>
          <a:xfrm>
            <a:off x="809625" y="1571625"/>
            <a:ext cx="3048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0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05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人一队"/>
          <p:cNvSpPr>
            <a:spLocks noGrp="1"/>
          </p:cNvSpPr>
          <p:nvPr/>
        </p:nvSpPr>
        <p:spPr>
          <a:xfrm>
            <a:off x="809625" y="28098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人一队</a:t>
            </a:r>
            <a:endParaRPr sz="202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84"/>
          <p:cNvSpPr>
            <a:spLocks noGrp="1"/>
          </p:cNvSpPr>
          <p:nvPr/>
        </p:nvSpPr>
        <p:spPr>
          <a:xfrm>
            <a:off x="4429125" y="1571625"/>
            <a:ext cx="3048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0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</a:t>
            </a:r>
            <a:endParaRPr sz="705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小时，2025 年赛期"/>
          <p:cNvSpPr>
            <a:spLocks noGrp="1"/>
          </p:cNvSpPr>
          <p:nvPr/>
        </p:nvSpPr>
        <p:spPr>
          <a:xfrm>
            <a:off x="4429125" y="28098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小时</a:t>
            </a:r>
            <a:endParaRPr sz="202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1"/>
          <p:cNvSpPr>
            <a:spLocks noGrp="1"/>
          </p:cNvSpPr>
          <p:nvPr/>
        </p:nvSpPr>
        <p:spPr>
          <a:xfrm>
            <a:off x="8048625" y="1571625"/>
            <a:ext cx="3048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70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05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05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道自选题目"/>
          <p:cNvSpPr>
            <a:spLocks noGrp="1"/>
          </p:cNvSpPr>
          <p:nvPr/>
        </p:nvSpPr>
        <p:spPr>
          <a:xfrm>
            <a:off x="8048625" y="2809875"/>
            <a:ext cx="3143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道自选题目</a:t>
            </a:r>
            <a:endParaRPr sz="202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在规定时间内完成一个能测、能演示的电子系统"/>
          <p:cNvSpPr>
            <a:spLocks noGrp="1"/>
          </p:cNvSpPr>
          <p:nvPr/>
        </p:nvSpPr>
        <p:spPr>
          <a:xfrm>
            <a:off x="809625" y="38576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在规定时间内完成一个能测、能演示的电子系统</a:t>
            </a:r>
            <a:endParaRPr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读题与方案论证　　硬件设计与制作　　程序开发与联调&#10;最终提交制作实物和"/>
          <p:cNvSpPr>
            <a:spLocks noGrp="1"/>
          </p:cNvSpPr>
          <p:nvPr/>
        </p:nvSpPr>
        <p:spPr>
          <a:xfrm>
            <a:off x="809625" y="4505325"/>
            <a:ext cx="104775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读题与方案论证　　硬件设计与制作　　程序开发与联调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最终提交制作实物和设计报告，接受</a:t>
            </a:r>
            <a:r>
              <a:rPr lang="zh-CN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</a:t>
            </a: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2025 年全国赛：7 月 30 日 8:00 至 8 月 2 日 2"/>
          <p:cNvSpPr>
            <a:spLocks noGrp="1"/>
          </p:cNvSpPr>
          <p:nvPr/>
        </p:nvSpPr>
        <p:spPr>
          <a:xfrm>
            <a:off x="714375" y="5915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</a:t>
            </a:r>
            <a:r>
              <a:rPr lang="en-US"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年</a:t>
            </a:r>
            <a:r>
              <a:rPr lang="zh-CN"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</a:t>
            </a:r>
            <a:r>
              <a: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赛：7 月 30 日 8:00 至 8 月 2 日 20:00，即四天三夜</a:t>
            </a:r>
            <a:endParaRPr sz="1275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全国赛、赛区赛与专题赛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全国赛、赛区赛与专题赛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4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14375" y="1571625"/>
          <a:ext cx="10763250" cy="3905252"/>
        </p:xfrm>
        <a:graphic>
          <a:graphicData uri="http://schemas.openxmlformats.org/drawingml/2006/table">
            <a:tbl>
              <a:tblPr/>
              <a:tblGrid>
                <a:gridCol w="2190750"/>
                <a:gridCol w="4333875"/>
                <a:gridCol w="4238625"/>
              </a:tblGrid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赛事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组织方式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需要注意</a:t>
                      </a:r>
                      <a:endParaRPr sz="17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全国赛</a:t>
                      </a:r>
                      <a:endParaRPr sz="1725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全国统一命题，分赛区实施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通常逢奇数年举办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一次竞赛，两级评奖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日期以当年通知为准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赛区独立竞赛</a:t>
                      </a:r>
                      <a:endParaRPr sz="1725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全国统一命题，</a:t>
                      </a:r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各省市</a:t>
                      </a:r>
                      <a:r>
                        <a:rPr lang="zh-CN"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可进行改动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zh-CN"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通常为偶数年</a:t>
                      </a:r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举办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省赛名称、规则与奖励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须查看本地通知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专题赛／邀请赛</a:t>
                      </a:r>
                      <a:endParaRPr sz="1725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聚焦模拟电子、嵌入式等领域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常有独立章程或邀请条件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报名资格、赛期和评审</a:t>
                      </a:r>
                      <a:endParaRPr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zh-CN"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全国赛规则</a:t>
                      </a:r>
                      <a:r>
                        <a:rPr lang="zh-CN" sz="172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有所差异</a:t>
                      </a:r>
                      <a:endParaRPr lang="zh-CN" sz="172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参赛规则与交付要求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参赛规则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与现场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lang="zh-CN"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5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参赛与独立完成"/>
          <p:cNvSpPr>
            <a:spLocks noGrp="1"/>
          </p:cNvSpPr>
          <p:nvPr/>
        </p:nvSpPr>
        <p:spPr>
          <a:xfrm>
            <a:off x="809625" y="15240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</a:t>
            </a: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规则与</a:t>
            </a: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</a:t>
            </a:r>
            <a:endParaRPr lang="zh-CN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全日制在校本、专科生，3 人组队&#10;由学校统一组织报名&#10;选题须符合本科／"/>
          <p:cNvSpPr>
            <a:spLocks noGrp="1"/>
          </p:cNvSpPr>
          <p:nvPr/>
        </p:nvSpPr>
        <p:spPr>
          <a:xfrm>
            <a:off x="809625" y="2095500"/>
            <a:ext cx="5000625" cy="33794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全日制在校本、专科生，3 人组队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由学校统一组织报名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>
                <a:sym typeface="+mn-ea"/>
              </a:rPr>
              <a:t>3.</a:t>
            </a:r>
            <a:r>
              <a:rPr>
                <a:sym typeface="+mn-ea"/>
              </a:rPr>
              <a:t>竞赛期间可查阅图书和网络技术资料</a:t>
            </a:r>
            <a:endParaRPr>
              <a:sym typeface="+mn-ea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>
                <a:sym typeface="+mn-ea"/>
              </a:rPr>
              <a:t>4.</a:t>
            </a:r>
            <a:r>
              <a:rPr lang="zh-CN" altLang="en-US">
                <a:sym typeface="+mn-ea"/>
              </a:rPr>
              <a:t>竞赛允许使用</a:t>
            </a:r>
            <a:r>
              <a:rPr lang="en-US" altLang="zh-CN">
                <a:sym typeface="+mn-ea"/>
              </a:rPr>
              <a:t>AI</a:t>
            </a:r>
            <a:endParaRPr lang="en-US" altLang="zh-CN">
              <a:sym typeface="+mn-ea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>
                <a:sym typeface="+mn-ea"/>
              </a:rPr>
              <a:t>5.</a:t>
            </a:r>
            <a:r>
              <a:rPr>
                <a:sym typeface="+mn-ea"/>
              </a:rPr>
              <a:t>开赛后不得中途更换队员</a:t>
            </a:r>
            <a:endParaRPr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竞赛期间可查阅图书和网络技术资料&#10;队内讨论，队外人员与教师须回避&#10;开赛"/>
          <p:cNvSpPr>
            <a:spLocks noGrp="1"/>
          </p:cNvSpPr>
          <p:nvPr/>
        </p:nvSpPr>
        <p:spPr>
          <a:xfrm>
            <a:off x="809625" y="3943350"/>
            <a:ext cx="5000625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交付与现场测试"/>
          <p:cNvSpPr>
            <a:spLocks noGrp="1"/>
          </p:cNvSpPr>
          <p:nvPr/>
        </p:nvSpPr>
        <p:spPr>
          <a:xfrm>
            <a:off x="6477000" y="15240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现场测试</a:t>
            </a: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时间线</a:t>
            </a:r>
            <a:endParaRPr lang="zh-CN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按时上交制作实物、设计报告、登记表&#10;作品应能按照题目要求独立运行&#10;保留"/>
          <p:cNvSpPr>
            <a:spLocks noGrp="1"/>
          </p:cNvSpPr>
          <p:nvPr/>
        </p:nvSpPr>
        <p:spPr>
          <a:xfrm>
            <a:off x="6477000" y="2095500"/>
            <a:ext cx="5000625" cy="3298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按时上交制作实物、设计报告、登记表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一般为最后一天晚八点</a:t>
            </a:r>
            <a:endParaRPr lang="zh-CN" altLang="en-US"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</a:t>
            </a:r>
            <a:r>
              <a:rPr lang="zh-CN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在封箱后送往测评学校（</a:t>
            </a:r>
            <a:r>
              <a:rPr lang="zh-CN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西邮）</a:t>
            </a:r>
            <a:endParaRPr lang="zh-CN"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现场测评在封箱两到三天后开始</a:t>
            </a:r>
            <a:endParaRPr lang="zh-CN" altLang="en-US"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</a:t>
            </a:r>
            <a:r>
              <a:rPr lang="zh-CN" altLang="en-US"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现场测评为当面向评委演示功能并现场记录</a:t>
            </a:r>
            <a:endParaRPr lang="zh-CN" altLang="en-US"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评审流程与奖项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</a:t>
            </a: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评审流程与奖项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6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赛区测试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9625" y="15240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赛区测试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测试制作实物，结合设计报告评审&#10;产生赛区一等奖、二等奖、三等奖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48000" y="1524000"/>
            <a:ext cx="8143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测试制作实物，结合设计报告评审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产生赛区一等奖、二等奖、三等奖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推荐全国评审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09625" y="27813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推荐全国评审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赛区推荐优秀队伍，按规定提交评审材料&#10;2025 年推荐比例上限为实际参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048000" y="2781300"/>
            <a:ext cx="8143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赛区推荐优秀队伍，按规定提交评审材料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推荐比例上限为实际参赛队数的 10%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全国评审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09625" y="40386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全国评审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通过综合测评、复测等环节评审&#10;全国奖设一等奖、二等奖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048000" y="4038600"/>
            <a:ext cx="8143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通过综合测评、复测等环节评审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全国奖设一等奖、二等奖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025 年全国奖总数原则上不超过全国实际参赛队总数的 8%"/>
          <p:cNvSpPr>
            <a:spLocks noGrp="1"/>
          </p:cNvSpPr>
          <p:nvPr/>
        </p:nvSpPr>
        <p:spPr>
          <a:xfrm>
            <a:off x="714375" y="5915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 年全国奖总数原则上不超过全国实际参赛队总数的 8%</a:t>
            </a:r>
            <a:endParaRPr sz="1275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常见题型与技术方向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</a:t>
            </a: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常见题型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技能要求</a:t>
            </a:r>
            <a:endParaRPr lang="zh-CN"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8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14375" y="1476375"/>
          <a:ext cx="10763250" cy="4191000"/>
        </p:xfrm>
        <a:graphic>
          <a:graphicData uri="http://schemas.openxmlformats.org/drawingml/2006/table">
            <a:tbl>
              <a:tblPr/>
              <a:tblGrid>
                <a:gridCol w="2333625"/>
                <a:gridCol w="3429000"/>
                <a:gridCol w="5000625"/>
              </a:tblGrid>
              <a:tr h="698500">
                <a:tc>
                  <a:txBody>
                    <a:bodyPr/>
                    <a:lstStyle/>
                    <a:p>
                      <a:r>
                        <a:rPr sz="16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备赛方向</a:t>
                      </a:r>
                      <a:endParaRPr sz="16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典型任务</a:t>
                      </a:r>
                      <a:endParaRPr sz="16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2025 年本科题示例</a:t>
                      </a:r>
                      <a:endParaRPr sz="161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15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电源与电力电子</a:t>
                      </a:r>
                      <a:endParaRPr sz="1615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能量变换、滤波、效率与稳定性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 能量回馈的变流器负载试验装置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 单相有源电力滤波实验装置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15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信号与通信</a:t>
                      </a:r>
                      <a:endParaRPr sz="1615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接收、滤波、频谱与参数估计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 简易自动接收机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15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测量与仪器</a:t>
                      </a:r>
                      <a:endParaRPr sz="1615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电参量测量、标定、误差分析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 简易以太网双绞线测试仪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 电路模型探究装置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15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运动与控制</a:t>
                      </a:r>
                      <a:endParaRPr sz="1615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传感、定位、闭环与执行机构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 简易自行瞄准装置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615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视觉与智能系统</a:t>
                      </a:r>
                      <a:endParaRPr sz="1615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图像处理、几何测量与任务执行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 基于单目视觉的目标物测量装置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615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 野生动物巡查系统</a:t>
                      </a:r>
                      <a:endParaRPr sz="1615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按备赛技术划分，便于选方向。官方题型分类更广，实际赛题常跨方向"/>
          <p:cNvSpPr>
            <a:spLocks noGrp="1"/>
          </p:cNvSpPr>
          <p:nvPr/>
        </p:nvSpPr>
        <p:spPr>
          <a:xfrm>
            <a:off x="714375" y="5915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按备赛技术划分，便于选方向。官方题型分类更广，实际赛题常跨方向</a:t>
            </a:r>
            <a:endParaRPr sz="1275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电源类与信号类题目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电源类与信号类题目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09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电源与电力电子"/>
          <p:cNvSpPr>
            <a:spLocks noGrp="1"/>
          </p:cNvSpPr>
          <p:nvPr/>
        </p:nvSpPr>
        <p:spPr>
          <a:xfrm>
            <a:off x="809625" y="15240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电源与</a:t>
            </a: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</a:t>
            </a:r>
            <a:endParaRPr lang="zh-CN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关注输出精度、效率、纹波&#10;以及负载变化时的稳定性"/>
          <p:cNvSpPr>
            <a:spLocks noGrp="1"/>
          </p:cNvSpPr>
          <p:nvPr/>
        </p:nvSpPr>
        <p:spPr>
          <a:xfrm>
            <a:off x="809625" y="2047875"/>
            <a:ext cx="485775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输出精度、效率、纹波</a:t>
            </a:r>
            <a:endParaRPr sz="210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负载变化时的稳定性</a:t>
            </a:r>
            <a:r>
              <a:rPr lang="zh-CN"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>
                <a:sym typeface="+mn-ea"/>
              </a:rPr>
              <a:t>信噪比、带宽、频率响应</a:t>
            </a:r>
            <a:r>
              <a:rPr lang="zh-CN">
                <a:sym typeface="+mn-ea"/>
              </a:rPr>
              <a:t>、</a:t>
            </a:r>
            <a:r>
              <a:rPr>
                <a:sym typeface="+mn-ea"/>
              </a:rPr>
              <a:t>采样和重建误差</a:t>
            </a:r>
            <a:endParaRPr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10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需要掌握"/>
          <p:cNvSpPr>
            <a:spLocks noGrp="1"/>
          </p:cNvSpPr>
          <p:nvPr/>
        </p:nvSpPr>
        <p:spPr>
          <a:xfrm>
            <a:off x="809625" y="342900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相关技术</a:t>
            </a:r>
            <a:endParaRPr lang="zh-CN"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DC/DC、逆变与功率器件&#10;驱动、电流采样、反馈补偿&#10;散热、保护和功率"/>
          <p:cNvSpPr>
            <a:spLocks noGrp="1"/>
          </p:cNvSpPr>
          <p:nvPr/>
        </p:nvSpPr>
        <p:spPr>
          <a:xfrm>
            <a:off x="809625" y="3962400"/>
            <a:ext cx="4857750" cy="21951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DC/DC、逆变与功率器件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驱动、电流采样、反馈补偿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散热、保护和功率回路布局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运放、滤波器与阻抗匹配</a:t>
            </a:r>
            <a:endParaRPr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ADC／DAC、FFT、调制解调</a:t>
            </a:r>
            <a:endParaRPr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时钟、接地与噪声排查</a:t>
            </a:r>
            <a:endParaRPr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6270" y="1205230"/>
            <a:ext cx="3424555" cy="48666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660" y="1223645"/>
            <a:ext cx="3355340" cy="47809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控制、视觉与测量类题目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控制、视觉与测量类题目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10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运动与控制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09625" y="15240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运动与控制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编码器、IMU、PWM、执行机构与 PID&#10;训练重点：闭环响应、限幅、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64870" y="1905000"/>
            <a:ext cx="8143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编码器、IMU、PWM、执行机构与 PID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训练重点：闭环响应、限幅、抗扰与重复运行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视觉与智能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09625" y="284797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视觉与智能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图像分割、轮廓提取、几何标定与通信&#10;训练重点：光照变化、坐标转换、延时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64870" y="3228975"/>
            <a:ext cx="8143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图像分割、轮廓提取、几何标定与通信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训练重点：光照变化、坐标转换、延时和可靠性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测量与仪器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09625" y="417195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测量与仪器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模拟前端、采样、量程切换和误差分析&#10;训练重点：基准、标定、精度与测试重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09625" y="4638675"/>
            <a:ext cx="814387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模拟前端、采样、量程切换和误差分析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训练重点：基准、标定、精度与测试重复性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425" y="1148080"/>
            <a:ext cx="3399790" cy="48056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8745" y="1148080"/>
            <a:ext cx="3554730" cy="5043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真实赛题：2025 年 C 题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真实赛题：2025 年 C 题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11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基于单目视觉的目标物测量装置"/>
          <p:cNvSpPr>
            <a:spLocks noGrp="1"/>
          </p:cNvSpPr>
          <p:nvPr/>
        </p:nvSpPr>
        <p:spPr>
          <a:xfrm>
            <a:off x="809625" y="138112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基于单目视觉的目标物测量装置</a:t>
            </a:r>
            <a:endParaRPr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一键测量目标距离与图形尺寸，并显示整机供电电流"/>
          <p:cNvSpPr>
            <a:spLocks noGrp="1"/>
          </p:cNvSpPr>
          <p:nvPr/>
        </p:nvSpPr>
        <p:spPr>
          <a:xfrm>
            <a:off x="809625" y="18954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一键测量目标距离与图形尺寸，并显示整机供电电流</a:t>
            </a:r>
            <a:endParaRPr sz="202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714375" y="2647950"/>
          <a:ext cx="10763250" cy="2133600"/>
        </p:xfrm>
        <a:graphic>
          <a:graphicData uri="http://schemas.openxmlformats.org/drawingml/2006/table">
            <a:tbl>
              <a:tblPr/>
              <a:tblGrid>
                <a:gridCol w="2952750"/>
                <a:gridCol w="3619500"/>
                <a:gridCol w="41910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基本要求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发挥部分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距离误差 |ΔD|</a:t>
                      </a:r>
                      <a:endParaRPr sz="180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 5 cm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 2 cm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尺寸误差 |Δx|</a:t>
                      </a:r>
                      <a:endParaRPr sz="180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 1 cm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 0.5 cm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测量时间</a:t>
                      </a:r>
                      <a:endParaRPr sz="180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一键启动至显示结果 ≤ 5 s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同左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20 分报告  +  50 分基本要求  +  50 分发挥部分"/>
          <p:cNvSpPr>
            <a:spLocks noGrp="1"/>
          </p:cNvSpPr>
          <p:nvPr/>
        </p:nvSpPr>
        <p:spPr>
          <a:xfrm>
            <a:off x="809625" y="5095875"/>
            <a:ext cx="1047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分报告  +  50 分基本要求  +  50 分发挥部分</a:t>
            </a:r>
            <a:endParaRPr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限制要点：仅一个摄像头，禁止非视觉测距，测试不得联网，不得使用 PC"/>
          <p:cNvSpPr>
            <a:spLocks noGrp="1"/>
          </p:cNvSpPr>
          <p:nvPr/>
        </p:nvSpPr>
        <p:spPr>
          <a:xfrm>
            <a:off x="714375" y="5915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限制要点：仅一个摄像头，禁止非视觉测距，测试不得联网，不得使用 PC</a:t>
            </a:r>
            <a:endParaRPr sz="1275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技能体系：共同基础与方向专长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技能体系：共同基础与方向专长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12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共同基础"/>
          <p:cNvSpPr>
            <a:spLocks noGrp="1"/>
          </p:cNvSpPr>
          <p:nvPr/>
        </p:nvSpPr>
        <p:spPr>
          <a:xfrm>
            <a:off x="809625" y="157162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共同基础</a:t>
            </a:r>
            <a:endParaRPr sz="27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电路分析、模电、数电、C 语言&#10;仪器操作、焊接、数据记录"/>
          <p:cNvSpPr>
            <a:spLocks noGrp="1"/>
          </p:cNvSpPr>
          <p:nvPr/>
        </p:nvSpPr>
        <p:spPr>
          <a:xfrm>
            <a:off x="3476625" y="1619250"/>
            <a:ext cx="790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电路分析、模电、数电、C 语言</a:t>
            </a:r>
            <a:endParaRPr sz="210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仪器操作、焊接、数据记录</a:t>
            </a:r>
            <a:endParaRPr sz="210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方向专长"/>
          <p:cNvSpPr>
            <a:spLocks noGrp="1"/>
          </p:cNvSpPr>
          <p:nvPr/>
        </p:nvSpPr>
        <p:spPr>
          <a:xfrm>
            <a:off x="809625" y="3124200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方向专长</a:t>
            </a:r>
            <a:endParaRPr sz="27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选一个主方向深入训练&#10;电源、信号、测量、控制或视觉"/>
          <p:cNvSpPr>
            <a:spLocks noGrp="1"/>
          </p:cNvSpPr>
          <p:nvPr/>
        </p:nvSpPr>
        <p:spPr>
          <a:xfrm>
            <a:off x="3476625" y="3171825"/>
            <a:ext cx="790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选一个主方向深入训练</a:t>
            </a:r>
            <a:endParaRPr sz="210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电源、信号、测量、控制或视觉</a:t>
            </a:r>
            <a:endParaRPr sz="210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系统能力"/>
          <p:cNvSpPr>
            <a:spLocks noGrp="1"/>
          </p:cNvSpPr>
          <p:nvPr/>
        </p:nvSpPr>
        <p:spPr>
          <a:xfrm>
            <a:off x="809625" y="4676775"/>
            <a:ext cx="23336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系统能力</a:t>
            </a:r>
            <a:endParaRPr sz="27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需求拆解、接口设计、联调与验证&#10;故障定位、报告撰写、现场演示"/>
          <p:cNvSpPr>
            <a:spLocks noGrp="1"/>
          </p:cNvSpPr>
          <p:nvPr/>
        </p:nvSpPr>
        <p:spPr>
          <a:xfrm>
            <a:off x="3476625" y="4724400"/>
            <a:ext cx="7905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需求拆解、接口设计、联调与验证</a:t>
            </a:r>
            <a:endParaRPr sz="210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故障定位、报告撰写、现场演示</a:t>
            </a:r>
            <a:endParaRPr sz="210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硬件能力与模拟电路基础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硬件能力与模拟电路基础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13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看懂电路"/>
          <p:cNvSpPr>
            <a:spLocks noGrp="1"/>
          </p:cNvSpPr>
          <p:nvPr/>
        </p:nvSpPr>
        <p:spPr>
          <a:xfrm>
            <a:off x="809625" y="1514475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看懂电路</a:t>
            </a:r>
            <a:endParaRPr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读数据手册，理解引脚与工作条件&#10;计算增益、滤波、偏置和反馈&#10;核对供电、"/>
          <p:cNvSpPr>
            <a:spLocks noGrp="1"/>
          </p:cNvSpPr>
          <p:nvPr/>
        </p:nvSpPr>
        <p:spPr>
          <a:xfrm>
            <a:off x="809625" y="2057400"/>
            <a:ext cx="4905375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读数据手册，理解引脚与工作条件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计算增益、滤波、偏置和反馈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核对供电、逻辑电平与接口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做出可靠硬件"/>
          <p:cNvSpPr>
            <a:spLocks noGrp="1"/>
          </p:cNvSpPr>
          <p:nvPr/>
        </p:nvSpPr>
        <p:spPr>
          <a:xfrm>
            <a:off x="6477000" y="1514475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做出可靠硬件</a:t>
            </a:r>
            <a:endParaRPr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原理图、PCB、焊接与返修&#10;去耦、接地、走线和连接固定&#10;限流、保护与故"/>
          <p:cNvSpPr>
            <a:spLocks noGrp="1"/>
          </p:cNvSpPr>
          <p:nvPr/>
        </p:nvSpPr>
        <p:spPr>
          <a:xfrm>
            <a:off x="6477000" y="2057400"/>
            <a:ext cx="4905375" cy="1438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原理图、PCB、焊接与返修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去耦、接地、走线和连接固定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限流、保护与故障隔离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用仪器验证"/>
          <p:cNvSpPr>
            <a:spLocks noGrp="1"/>
          </p:cNvSpPr>
          <p:nvPr/>
        </p:nvSpPr>
        <p:spPr>
          <a:xfrm>
            <a:off x="809625" y="409575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用仪器验证</a:t>
            </a:r>
            <a:endParaRPr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万用表确认电源与通断&#10;示波器检查波形、纹波和时序&#10;信号源提供可控测试输"/>
          <p:cNvSpPr>
            <a:spLocks noGrp="1"/>
          </p:cNvSpPr>
          <p:nvPr/>
        </p:nvSpPr>
        <p:spPr>
          <a:xfrm>
            <a:off x="809625" y="4638675"/>
            <a:ext cx="490537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万用表确认电源与通断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示波器检查波形、纹波和时序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信号源提供可控测试输入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入门练习"/>
          <p:cNvSpPr>
            <a:spLocks noGrp="1"/>
          </p:cNvSpPr>
          <p:nvPr/>
        </p:nvSpPr>
        <p:spPr>
          <a:xfrm>
            <a:off x="6477000" y="4095750"/>
            <a:ext cx="4857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入门练习</a:t>
            </a:r>
            <a:endParaRPr sz="2175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完成一个放大与低通滤波模块&#10;扫频测响应，比较计算与实测&#10;说明差异并记录"/>
          <p:cNvSpPr>
            <a:spLocks noGrp="1"/>
          </p:cNvSpPr>
          <p:nvPr/>
        </p:nvSpPr>
        <p:spPr>
          <a:xfrm>
            <a:off x="6477000" y="4638675"/>
            <a:ext cx="4905375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完成一个放大与低通滤波模块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扫频测响应，比较计算与实测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说明差异并记录排查过程</a:t>
            </a:r>
            <a:endParaRPr sz="1950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嵌入式软件与算法能力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嵌入式软件与算法能力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14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外设与接口"/>
          <p:cNvSpPr>
            <a:spLocks noGrp="1"/>
          </p:cNvSpPr>
          <p:nvPr/>
        </p:nvSpPr>
        <p:spPr>
          <a:xfrm>
            <a:off x="809625" y="153352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外设与接口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GPIO、定时器、ADC、PWM、UART、I²C、SPI&#10;能够配置外"/>
          <p:cNvSpPr>
            <a:spLocks noGrp="1"/>
          </p:cNvSpPr>
          <p:nvPr/>
        </p:nvSpPr>
        <p:spPr>
          <a:xfrm>
            <a:off x="3048000" y="1533525"/>
            <a:ext cx="8239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GPIO、定时器、ADC、PWM、UART、I²C、SPI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能够配置外设，并解释通信与采样时序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程序结构"/>
          <p:cNvSpPr>
            <a:spLocks noGrp="1"/>
          </p:cNvSpPr>
          <p:nvPr/>
        </p:nvSpPr>
        <p:spPr>
          <a:xfrm>
            <a:off x="809625" y="2857500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程序结构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状态机、定时任务、中断和异常处理&#10;模块分层，避免阻塞，保留日志与稳定版"/>
          <p:cNvSpPr>
            <a:spLocks noGrp="1"/>
          </p:cNvSpPr>
          <p:nvPr/>
        </p:nvSpPr>
        <p:spPr>
          <a:xfrm>
            <a:off x="3048000" y="2857500"/>
            <a:ext cx="8239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状态机、定时任务、中断和异常处理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模块分层，避免阻塞，保留日志与稳定版本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方向算法"/>
          <p:cNvSpPr>
            <a:spLocks noGrp="1"/>
          </p:cNvSpPr>
          <p:nvPr/>
        </p:nvSpPr>
        <p:spPr>
          <a:xfrm>
            <a:off x="809625" y="4181475"/>
            <a:ext cx="2000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方向算法</a:t>
            </a:r>
            <a:endParaRPr sz="21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控制：PID 与滤波；信号：频谱与参数估计&#10;视觉：阈值、轮廓与标定；测"/>
          <p:cNvSpPr>
            <a:spLocks noGrp="1"/>
          </p:cNvSpPr>
          <p:nvPr/>
        </p:nvSpPr>
        <p:spPr>
          <a:xfrm>
            <a:off x="3048000" y="4181475"/>
            <a:ext cx="8239125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控制：PID 与滤波；信号：频谱与参数估计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24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视觉：阈值、轮廓与标定；测量：拟合与误差分析</a:t>
            </a:r>
            <a:endParaRPr sz="1875" b="0">
              <a:solidFill>
                <a:srgbClr val="24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训练建议：先熟练一套主控平台，再根据题目补充需要的算法"/>
          <p:cNvSpPr>
            <a:spLocks noGrp="1"/>
          </p:cNvSpPr>
          <p:nvPr/>
        </p:nvSpPr>
        <p:spPr>
          <a:xfrm>
            <a:off x="714375" y="5915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训练建议：先熟练一套主控平台，再根据题目补充需要的算法</a:t>
            </a:r>
            <a:endParaRPr sz="1275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工具使用与故障定位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工具使用与故障定位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15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14375" y="1504950"/>
          <a:ext cx="10763250" cy="4095750"/>
        </p:xfrm>
        <a:graphic>
          <a:graphicData uri="http://schemas.openxmlformats.org/drawingml/2006/table">
            <a:tbl>
              <a:tblPr/>
              <a:tblGrid>
                <a:gridCol w="2047875"/>
                <a:gridCol w="3714750"/>
                <a:gridCol w="5000625"/>
              </a:tblGrid>
              <a:tr h="682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用途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常见工具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需要完成的动作</a:t>
                      </a:r>
                      <a:endParaRPr sz="16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电路设计</a:t>
                      </a:r>
                      <a:endParaRPr sz="165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嘉立创 EDA／KiCad／Altium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画原理图，检查连接与封装，输出 BOM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程序开发</a:t>
                      </a:r>
                      <a:endParaRPr sz="165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主控对应 IDE、下载器与调试器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断点、观察变量、检查异常与时序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测量分析</a:t>
                      </a:r>
                      <a:endParaRPr sz="165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示波器、信号源、逻辑分析仪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给定输入，观察输出，记录测试条件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结果整理</a:t>
                      </a:r>
                      <a:endParaRPr sz="165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Python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处理数据，画曲线，比较设计指标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版本管理</a:t>
                      </a:r>
                      <a:endParaRPr sz="165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Git 或规范的版本备份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记录修改，标记可运行版本，支持回退</a:t>
                      </a:r>
                      <a:endParaRPr sz="165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排障顺序：电源与接地、硬件连接、时序与通信、算法与参数"/>
          <p:cNvSpPr>
            <a:spLocks noGrp="1"/>
          </p:cNvSpPr>
          <p:nvPr/>
        </p:nvSpPr>
        <p:spPr>
          <a:xfrm>
            <a:off x="714375" y="59150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排障顺序：电源与接地、硬件连接、时序与通信、算法与参数</a:t>
            </a:r>
            <a:endParaRPr sz="1275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三人团队的分工与协作"/>
          <p:cNvSpPr>
            <a:spLocks noGrp="1"/>
          </p:cNvSpPr>
          <p:nvPr/>
        </p:nvSpPr>
        <p:spPr>
          <a:xfrm>
            <a:off x="666750" y="361950"/>
            <a:ext cx="9239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</a:t>
            </a:r>
            <a:r>
              <a:rPr sz="2800" b="1">
                <a:solidFill>
                  <a:srgbClr val="0144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团队分工与协作</a:t>
            </a:r>
            <a:endParaRPr sz="2800" b="1">
              <a:solidFill>
                <a:srgbClr val="0144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16"/>
          <p:cNvSpPr>
            <a:spLocks noGrp="1"/>
          </p:cNvSpPr>
          <p:nvPr/>
        </p:nvSpPr>
        <p:spPr>
          <a:xfrm>
            <a:off x="11049000" y="62388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265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0">
              <a:solidFill>
                <a:srgbClr val="5265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14375" y="1571625"/>
          <a:ext cx="10763250" cy="3590925"/>
        </p:xfrm>
        <a:graphic>
          <a:graphicData uri="http://schemas.openxmlformats.org/drawingml/2006/table">
            <a:tbl>
              <a:tblPr/>
              <a:tblGrid>
                <a:gridCol w="2571750"/>
                <a:gridCol w="4143375"/>
                <a:gridCol w="4048125"/>
              </a:tblGrid>
              <a:tr h="8977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主要职责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共同</a:t>
                      </a:r>
                      <a:r>
                        <a:rPr lang="zh-CN"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</a:t>
                      </a:r>
                      <a:endParaRPr lang="zh-CN"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01448D"/>
                    </a:solidFill>
                  </a:tcPr>
                </a:tc>
              </a:tr>
              <a:tr h="8977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硬件</a:t>
                      </a:r>
                      <a:r>
                        <a:rPr lang="zh-CN" sz="180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</a:t>
                      </a:r>
                      <a:endParaRPr lang="zh-CN" sz="180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供电、模拟电路、PCB、焊接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硬件测试与保护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接口电压、引脚定义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装配与修改记录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  <a:tr h="897731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电控手</a:t>
                      </a:r>
                      <a:endParaRPr lang="zh-CN" sz="180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驱动、通信、任务调度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算法实现与运行状态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协议、数据格式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超时与异常处理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EFF5FC"/>
                    </a:solidFill>
                  </a:tcPr>
                </a:tc>
              </a:tr>
              <a:tr h="897731">
                <a:tc>
                  <a:txBody>
                    <a:bodyPr/>
                    <a:lstStyle/>
                    <a:p>
                      <a:r>
                        <a:rPr lang="zh-CN" sz="180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</a:t>
                      </a:r>
                      <a:r>
                        <a:rPr lang="zh-CN" sz="1800" b="1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</a:t>
                      </a:r>
                      <a:endParaRPr lang="zh-CN" sz="1800" b="1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负责让摄像头识别目标、计算位置，并把结果交给主控完成动作</a:t>
                      </a:r>
                      <a:endParaRPr lang="zh-CN" altLang="en-US"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验收、测试</a:t>
                      </a:r>
                      <a:endParaRPr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zh-CN"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训练数据集与</a:t>
                      </a:r>
                      <a:r>
                        <a:rPr lang="zh-CN" sz="1800" b="0">
                          <a:solidFill>
                            <a:srgbClr val="24344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视觉模型</a:t>
                      </a:r>
                      <a:endParaRPr lang="zh-CN" sz="1800" b="0">
                        <a:solidFill>
                          <a:srgbClr val="24344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33350" marR="1333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1882983" y="3429000"/>
            <a:ext cx="4683825" cy="2035209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9" name="Freeform 5"/>
            <p:cNvSpPr/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+mn-ea"/>
                <a:cs typeface="+mn-cs"/>
              </a:endParaRPr>
            </a:p>
          </p:txBody>
        </p:sp>
        <p:sp>
          <p:nvSpPr>
            <p:cNvPr id="20" name="Freeform 6"/>
            <p:cNvSpPr/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+mn-ea"/>
                <a:cs typeface="+mn-cs"/>
              </a:endParaRPr>
            </a:p>
          </p:txBody>
        </p:sp>
        <p:sp>
          <p:nvSpPr>
            <p:cNvPr id="21" name="Freeform 7"/>
            <p:cNvSpPr/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+mn-ea"/>
                <a:cs typeface="+mn-cs"/>
              </a:endParaRPr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+mn-ea"/>
                <a:cs typeface="+mn-cs"/>
              </a:endParaRPr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ea typeface="+mn-ea"/>
                <a:cs typeface="+mn-cs"/>
              </a:endParaRPr>
            </a:p>
          </p:txBody>
        </p:sp>
      </p:grpSp>
      <p:sp>
        <p:nvSpPr>
          <p:cNvPr id="26" name="标题 4"/>
          <p:cNvSpPr>
            <a:spLocks noGrp="1"/>
          </p:cNvSpPr>
          <p:nvPr>
            <p:ph type="ctrTitle"/>
          </p:nvPr>
        </p:nvSpPr>
        <p:spPr>
          <a:xfrm>
            <a:off x="6686906" y="2635317"/>
            <a:ext cx="4604544" cy="1621509"/>
          </a:xfrm>
        </p:spPr>
        <p:txBody>
          <a:bodyPr/>
          <a:lstStyle/>
          <a:p>
            <a:pPr algn="l"/>
            <a:r>
              <a:rPr lang="zh-CN" altLang="en-US" dirty="0"/>
              <a:t>谢谢大家</a:t>
            </a:r>
            <a:endParaRPr lang="zh-CN" altLang="en-US" dirty="0"/>
          </a:p>
        </p:txBody>
      </p:sp>
      <p:sp>
        <p:nvSpPr>
          <p:cNvPr id="27" name="文本占位符 6"/>
          <p:cNvSpPr txBox="1"/>
          <p:nvPr/>
        </p:nvSpPr>
        <p:spPr>
          <a:xfrm>
            <a:off x="6686906" y="4941553"/>
            <a:ext cx="4604544" cy="310871"/>
          </a:xfrm>
          <a:prstGeom prst="rect">
            <a:avLst/>
          </a:prstGeom>
        </p:spPr>
        <p:txBody>
          <a:bodyPr/>
          <a:lstStyle>
            <a:lvl1pPr marL="228600" indent="-228600" algn="l" defTabSz="913765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chemeClr val="bg1"/>
                </a:solidFill>
              </a:rPr>
              <a:t>西北大学    </a:t>
            </a:r>
            <a:r>
              <a:rPr lang="en-US" altLang="zh-CN" sz="1600" b="1" dirty="0">
                <a:solidFill>
                  <a:schemeClr val="bg1"/>
                </a:solidFill>
              </a:rPr>
              <a:t>  </a:t>
            </a:r>
            <a:r>
              <a:rPr lang="zh-CN" altLang="en-US" sz="1600" b="1" dirty="0">
                <a:solidFill>
                  <a:schemeClr val="bg1"/>
                </a:solidFill>
              </a:rPr>
              <a:t>电子信息</a:t>
            </a:r>
            <a:r>
              <a:rPr lang="zh-CN" altLang="en-US" sz="1600" b="1" dirty="0">
                <a:solidFill>
                  <a:schemeClr val="bg1"/>
                </a:solidFill>
              </a:rPr>
              <a:t>协会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3.25,&quot;left&quot;:337.5,&quot;top&quot;:138.75,&quot;width&quot;:525}"/>
</p:tagLst>
</file>

<file path=ppt/tags/tag2.xml><?xml version="1.0" encoding="utf-8"?>
<p:tagLst xmlns:p="http://schemas.openxmlformats.org/presentationml/2006/main">
  <p:tag name="KSO_WM_DIAGRAM_VIRTUALLY_FRAME" val="{&quot;height&quot;:263.25,&quot;left&quot;:337.5,&quot;top&quot;:138.75,&quot;width&quot;:525}"/>
</p:tagLst>
</file>

<file path=ppt/tags/tag3.xml><?xml version="1.0" encoding="utf-8"?>
<p:tagLst xmlns:p="http://schemas.openxmlformats.org/presentationml/2006/main">
  <p:tag name="KSO_WM_DIAGRAM_VIRTUALLY_FRAME" val="{&quot;height&quot;:263.25,&quot;left&quot;:337.5,&quot;top&quot;:138.75,&quot;width&quot;:525}"/>
</p:tagLst>
</file>

<file path=ppt/tags/tag4.xml><?xml version="1.0" encoding="utf-8"?>
<p:tagLst xmlns:p="http://schemas.openxmlformats.org/presentationml/2006/main">
  <p:tag name="KSO_WM_DIAGRAM_VIRTUALLY_FRAME" val="{&quot;height&quot;:263.25,&quot;left&quot;:337.5,&quot;top&quot;:138.75,&quot;width&quot;:525}"/>
</p:tagLst>
</file>

<file path=ppt/tags/tag5.xml><?xml version="1.0" encoding="utf-8"?>
<p:tagLst xmlns:p="http://schemas.openxmlformats.org/presentationml/2006/main">
  <p:tag name="KSO_WM_DIAGRAM_VIRTUALLY_FRAME" val="{&quot;height&quot;:263.25,&quot;left&quot;:337.5,&quot;top&quot;:138.75,&quot;width&quot;:525}"/>
</p:tagLst>
</file>

<file path=ppt/tags/tag6.xml><?xml version="1.0" encoding="utf-8"?>
<p:tagLst xmlns:p="http://schemas.openxmlformats.org/presentationml/2006/main">
  <p:tag name="KSO_WM_DIAGRAM_VIRTUALLY_FRAME" val="{&quot;height&quot;:263.25,&quot;left&quot;:337.5,&quot;top&quot;:138.75,&quot;width&quot;:525}"/>
</p:tagLst>
</file>

<file path=ppt/tags/tag7.xml><?xml version="1.0" encoding="utf-8"?>
<p:tagLst xmlns:p="http://schemas.openxmlformats.org/presentationml/2006/main">
  <p:tag name="KSO_WM_DIAGRAM_VIRTUALLY_FRAME" val="{&quot;height&quot;:263.25,&quot;left&quot;:337.5,&quot;top&quot;:138.75,&quot;width&quot;:525}"/>
</p:tagLst>
</file>

<file path=ppt/tags/tag8.xml><?xml version="1.0" encoding="utf-8"?>
<p:tagLst xmlns:p="http://schemas.openxmlformats.org/presentationml/2006/main">
  <p:tag name="KSO_WM_DIAGRAM_VIRTUALLY_FRAME" val="{&quot;height&quot;:263.25,&quot;left&quot;:337.5,&quot;top&quot;:138.75,&quot;width&quot;:525}"/>
</p:tagLst>
</file>

<file path=ppt/tags/tag9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0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1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2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3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4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5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6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7.xml><?xml version="1.0" encoding="utf-8"?>
<p:tagLst xmlns:p="http://schemas.openxmlformats.org/presentationml/2006/main">
  <p:tag name="KSO_WM_DIAGRAM_VIRTUALLY_FRAME" val="{&quot;height&quot;:244.45,&quot;left&quot;:75.55,&quot;top&quot;:150,&quot;width&quot;:860.1}"/>
</p:tagLst>
</file>

<file path=ppt/tags/tag18.xml><?xml version="1.0" encoding="utf-8"?>
<p:tagLst xmlns:p="http://schemas.openxmlformats.org/presentationml/2006/main">
  <p:tag name="KSO_WM_DIAGRAM_VIRTUALLY_FRAME" val="{&quot;height&quot;:265.5,&quot;left&quot;:63.75,&quot;top&quot;:120,&quot;width&quot;:817.5}"/>
</p:tagLst>
</file>

<file path=ppt/tags/tag19.xml><?xml version="1.0" encoding="utf-8"?>
<p:tagLst xmlns:p="http://schemas.openxmlformats.org/presentationml/2006/main">
  <p:tag name="KSO_WM_DIAGRAM_VIRTUALLY_FRAME" val="{&quot;height&quot;:265.5,&quot;left&quot;:63.75,&quot;top&quot;:120,&quot;width&quot;:817.5}"/>
</p:tagLst>
</file>

<file path=ppt/tags/tag20.xml><?xml version="1.0" encoding="utf-8"?>
<p:tagLst xmlns:p="http://schemas.openxmlformats.org/presentationml/2006/main">
  <p:tag name="KSO_WM_DIAGRAM_VIRTUALLY_FRAME" val="{&quot;height&quot;:265.5,&quot;left&quot;:63.75,&quot;top&quot;:120,&quot;width&quot;:817.5}"/>
</p:tagLst>
</file>

<file path=ppt/tags/tag21.xml><?xml version="1.0" encoding="utf-8"?>
<p:tagLst xmlns:p="http://schemas.openxmlformats.org/presentationml/2006/main">
  <p:tag name="KSO_WM_DIAGRAM_VIRTUALLY_FRAME" val="{&quot;height&quot;:265.5,&quot;left&quot;:63.75,&quot;top&quot;:120,&quot;width&quot;:817.5}"/>
</p:tagLst>
</file>

<file path=ppt/tags/tag22.xml><?xml version="1.0" encoding="utf-8"?>
<p:tagLst xmlns:p="http://schemas.openxmlformats.org/presentationml/2006/main">
  <p:tag name="KSO_WM_DIAGRAM_VIRTUALLY_FRAME" val="{&quot;height&quot;:265.5,&quot;left&quot;:63.75,&quot;top&quot;:120,&quot;width&quot;:817.5}"/>
</p:tagLst>
</file>

<file path=ppt/tags/tag23.xml><?xml version="1.0" encoding="utf-8"?>
<p:tagLst xmlns:p="http://schemas.openxmlformats.org/presentationml/2006/main">
  <p:tag name="KSO_WM_DIAGRAM_VIRTUALLY_FRAME" val="{&quot;height&quot;:265.5,&quot;left&quot;:63.75,&quot;top&quot;:120,&quot;width&quot;:817.5}"/>
</p:tagLst>
</file>

<file path=ppt/tags/tag24.xml><?xml version="1.0" encoding="utf-8"?>
<p:tagLst xmlns:p="http://schemas.openxmlformats.org/presentationml/2006/main">
  <p:tag name="KSO_WM_DIAGRAM_VIRTUALLY_FRAME" val="{&quot;height&quot;:354.15,&quot;left&quot;:63.75,&quot;top&quot;:120,&quot;width&quot;:817.5}"/>
</p:tagLst>
</file>

<file path=ppt/tags/tag25.xml><?xml version="1.0" encoding="utf-8"?>
<p:tagLst xmlns:p="http://schemas.openxmlformats.org/presentationml/2006/main">
  <p:tag name="KSO_WM_DIAGRAM_VIRTUALLY_FRAME" val="{&quot;height&quot;:354.15,&quot;left&quot;:63.75,&quot;top&quot;:120,&quot;width&quot;:817.5}"/>
</p:tagLst>
</file>

<file path=ppt/tags/tag26.xml><?xml version="1.0" encoding="utf-8"?>
<p:tagLst xmlns:p="http://schemas.openxmlformats.org/presentationml/2006/main">
  <p:tag name="KSO_WM_DIAGRAM_VIRTUALLY_FRAME" val="{&quot;height&quot;:354.15,&quot;left&quot;:63.75,&quot;top&quot;:120,&quot;width&quot;:817.5}"/>
</p:tagLst>
</file>

<file path=ppt/tags/tag27.xml><?xml version="1.0" encoding="utf-8"?>
<p:tagLst xmlns:p="http://schemas.openxmlformats.org/presentationml/2006/main">
  <p:tag name="KSO_WM_DIAGRAM_VIRTUALLY_FRAME" val="{&quot;height&quot;:354.15,&quot;left&quot;:63.75,&quot;top&quot;:120,&quot;width&quot;:817.5}"/>
</p:tagLst>
</file>

<file path=ppt/tags/tag28.xml><?xml version="1.0" encoding="utf-8"?>
<p:tagLst xmlns:p="http://schemas.openxmlformats.org/presentationml/2006/main">
  <p:tag name="KSO_WM_DIAGRAM_VIRTUALLY_FRAME" val="{&quot;height&quot;:354.15,&quot;left&quot;:63.75,&quot;top&quot;:120,&quot;width&quot;:817.5}"/>
</p:tagLst>
</file>

<file path=ppt/tags/tag29.xml><?xml version="1.0" encoding="utf-8"?>
<p:tagLst xmlns:p="http://schemas.openxmlformats.org/presentationml/2006/main">
  <p:tag name="KSO_WM_DIAGRAM_VIRTUALLY_FRAME" val="{&quot;height&quot;:354.15,&quot;left&quot;:63.75,&quot;top&quot;:120,&quot;width&quot;:817.5}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18489B"/>
      </a:accent1>
      <a:accent2>
        <a:srgbClr val="0C62BF"/>
      </a:accent2>
      <a:accent3>
        <a:srgbClr val="1C86FC"/>
      </a:accent3>
      <a:accent4>
        <a:srgbClr val="4598F7"/>
      </a:accent4>
      <a:accent5>
        <a:srgbClr val="73B3F9"/>
      </a:accent5>
      <a:accent6>
        <a:srgbClr val="7F7F7F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房利美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主题5">
  <a:themeElements>
    <a:clrScheme name="自定义 35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448D"/>
      </a:accent1>
      <a:accent2>
        <a:srgbClr val="006DA9"/>
      </a:accent2>
      <a:accent3>
        <a:srgbClr val="38A8E0"/>
      </a:accent3>
      <a:accent4>
        <a:srgbClr val="1C94C5"/>
      </a:accent4>
      <a:accent5>
        <a:srgbClr val="005686"/>
      </a:accent5>
      <a:accent6>
        <a:srgbClr val="044A7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自定义 3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主题5">
  <a:themeElements>
    <a:clrScheme name="房利美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18489B"/>
      </a:accent1>
      <a:accent2>
        <a:srgbClr val="0C62BF"/>
      </a:accent2>
      <a:accent3>
        <a:srgbClr val="1C86FC"/>
      </a:accent3>
      <a:accent4>
        <a:srgbClr val="4598F7"/>
      </a:accent4>
      <a:accent5>
        <a:srgbClr val="73B3F9"/>
      </a:accent5>
      <a:accent6>
        <a:srgbClr val="7F7F7F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房利美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主题5">
  <a:themeElements>
    <a:clrScheme name="自定义 35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448D"/>
      </a:accent1>
      <a:accent2>
        <a:srgbClr val="006DA9"/>
      </a:accent2>
      <a:accent3>
        <a:srgbClr val="38A8E0"/>
      </a:accent3>
      <a:accent4>
        <a:srgbClr val="1C94C5"/>
      </a:accent4>
      <a:accent5>
        <a:srgbClr val="005686"/>
      </a:accent5>
      <a:accent6>
        <a:srgbClr val="044A72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18489B"/>
      </a:accent1>
      <a:accent2>
        <a:srgbClr val="0C62BF"/>
      </a:accent2>
      <a:accent3>
        <a:srgbClr val="1C86FC"/>
      </a:accent3>
      <a:accent4>
        <a:srgbClr val="4598F7"/>
      </a:accent4>
      <a:accent5>
        <a:srgbClr val="73B3F9"/>
      </a:accent5>
      <a:accent6>
        <a:srgbClr val="7F7F7F"/>
      </a:accent6>
      <a:hlink>
        <a:srgbClr val="4472C4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房利美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意大利国家电力公司">
    <a:dk1>
      <a:srgbClr val="000000"/>
    </a:dk1>
    <a:lt1>
      <a:srgbClr val="FFFFFF"/>
    </a:lt1>
    <a:dk2>
      <a:srgbClr val="768395"/>
    </a:dk2>
    <a:lt2>
      <a:srgbClr val="F0F0F0"/>
    </a:lt2>
    <a:accent1>
      <a:srgbClr val="01448D"/>
    </a:accent1>
    <a:accent2>
      <a:srgbClr val="006DA9"/>
    </a:accent2>
    <a:accent3>
      <a:srgbClr val="38A8E0"/>
    </a:accent3>
    <a:accent4>
      <a:srgbClr val="1C94C5"/>
    </a:accent4>
    <a:accent5>
      <a:srgbClr val="005686"/>
    </a:accent5>
    <a:accent6>
      <a:srgbClr val="044A72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2532</Words>
  <Application>WPS 演示</Application>
  <PresentationFormat>Converted Presentation</PresentationFormat>
  <Paragraphs>455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Arial Unicode MS</vt:lpstr>
      <vt:lpstr>主题5</vt:lpstr>
      <vt:lpstr>主题5</vt:lpstr>
      <vt:lpstr>1_主题5</vt:lpstr>
      <vt:lpstr>2_主题5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lastModifiedBy/>
  <cp:revision>2</cp:revision>
  <dcterms:created xsi:type="dcterms:W3CDTF">2026-10-06T12:49:00Z</dcterms:created>
  <dcterms:modified xsi:type="dcterms:W3CDTF">2026-10-06T13:15:58Z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AF51EA81720A42DABC05BB1763AD15F1_12</vt:lpwstr>
  </property>
</Properties>
</file>