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60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74" r:id="rId13"/>
    <p:sldId id="266" r:id="rId14"/>
    <p:sldId id="267" r:id="rId15"/>
    <p:sldId id="269" r:id="rId16"/>
    <p:sldId id="270" r:id="rId17"/>
    <p:sldId id="268" r:id="rId18"/>
    <p:sldId id="271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216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sz="1400" b="1">
                <a:solidFill>
                  <a:srgbClr val="0A3D91"/>
                </a:solidFill>
                <a:latin typeface="微软雅黑" panose="020B0503020204020204" charset="-122"/>
              </a:rPr>
              <a:t>评分构成（满分 100 分）</a:t>
            </a:r>
            <a:endParaRPr sz="1400" b="1">
              <a:solidFill>
                <a:srgbClr val="0A3D91"/>
              </a:solidFill>
              <a:latin typeface="微软雅黑" panose="020B0503020204020204" charset="-122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分值</c:v>
                </c:pt>
              </c:strCache>
            </c:strRef>
          </c:tx>
          <c:spPr>
            <a:solidFill>
              <a:srgbClr val="1E6FD9"/>
            </a:solidFill>
          </c:spPr>
          <c:invertIfNegative val="0"/>
          <c:dLbls>
            <c:numFmt formatCode="General" sourceLinked="1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8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/>
              </c:ext>
            </c:extLst>
          </c:dLbls>
          <c:cat>
            <c:strRef>
              <c:f>Sheet1!$A$2:$A$7</c:f>
              <c:strCache>
                <c:ptCount val="6"/>
                <c:pt idx="0">
                  <c:v>平时学习打卡</c:v>
                </c:pt>
                <c:pt idx="1">
                  <c:v>基本功能完成度</c:v>
                </c:pt>
                <c:pt idx="2">
                  <c:v>结构与程序逻辑</c:v>
                </c:pt>
                <c:pt idx="3">
                  <c:v>异常处理与稳定性</c:v>
                </c:pt>
                <c:pt idx="4">
                  <c:v>代码规范与组织</c:v>
                </c:pt>
                <c:pt idx="5">
                  <c:v>项目文档与总结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30</c:v>
                </c:pt>
                <c:pt idx="1">
                  <c:v>30</c:v>
                </c:pt>
                <c:pt idx="2">
                  <c:v>15</c:v>
                </c:pt>
                <c:pt idx="3">
                  <c:v>10</c:v>
                </c:pt>
                <c:pt idx="4">
                  <c:v>10</c:v>
                </c:pt>
                <c:pt idx="5">
                  <c:v>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 w="9525" cap="flat" cmpd="sng" algn="ctr">
            <a:solidFill>
              <a:srgbClr val="C9DBF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A6B85"/>
                </a:solidFill>
                <a:latin typeface="+mn-lt"/>
                <a:ea typeface="+mn-ea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C9DBF5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50" b="0" i="0" u="none" strike="noStrike" kern="1200" baseline="0">
                <a:solidFill>
                  <a:srgbClr val="5A6B85"/>
                </a:solidFill>
                <a:latin typeface="+mn-lt"/>
                <a:ea typeface="+mn-ea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60e1cf62-9413-4d3f-aa81-0f86829b286f}"/>
      </c:ext>
    </c:extLst>
  </c:chart>
  <c:txPr>
    <a:bodyPr/>
    <a:lstStyle/>
    <a:p>
      <a:pPr>
        <a:defRPr lang="zh-CN" sz="1800"/>
      </a:pPr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5E">
              <a:alpha val="3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0A2A5E">
              <a:alpha val="4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628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2500" y="571500"/>
            <a:ext cx="4762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7FB3F0"/>
                </a:solidFill>
                <a:latin typeface="微软雅黑" panose="020B0503020204020204" charset="-122"/>
                <a:ea typeface="微软雅黑" panose="020B0503020204020204" charset="-122"/>
              </a:rPr>
              <a:t>电子信息协会 · 2026</a:t>
            </a:r>
            <a:endParaRPr sz="1350" b="0">
              <a:solidFill>
                <a:srgbClr val="7FB3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2000" y="2400300"/>
            <a:ext cx="685800" cy="571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2647950"/>
            <a:ext cx="85725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全国大学生</a:t>
            </a:r>
            <a:endParaRPr sz="4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</a:pPr>
            <a:r>
              <a:rPr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电子设计竞赛</a:t>
            </a:r>
            <a:endParaRPr sz="4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4476750"/>
            <a:ext cx="6667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7FB3F0"/>
                </a:solidFill>
                <a:latin typeface="微软雅黑" panose="020B0503020204020204" charset="-122"/>
                <a:ea typeface="微软雅黑" panose="020B0503020204020204" charset="-122"/>
              </a:rPr>
              <a:t>选 拔 与 考 核 介 绍</a:t>
            </a:r>
            <a:endParaRPr sz="2200" b="0">
              <a:solidFill>
                <a:srgbClr val="7FB3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2000" y="6057900"/>
            <a:ext cx="10477500" cy="207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第一阶段 · 基础编程考核</a:t>
            </a:r>
            <a:r>
              <a:rPr sz="1100" b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  ●   </a:t>
            </a:r>
            <a:r>
              <a:rPr sz="13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第二阶段 · STM32 与循迹小车</a:t>
            </a:r>
            <a:r>
              <a:rPr sz="1100" b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   ●   </a:t>
            </a:r>
            <a:endParaRPr sz="13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40415" y="6442075"/>
            <a:ext cx="1251585" cy="3683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2026.10.11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50" y="190500"/>
            <a:ext cx="3238500" cy="6477000"/>
          </a:xfrm>
          <a:prstGeom prst="roundRect">
            <a:avLst>
              <a:gd name="adj" fmla="val 4705"/>
            </a:avLst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47750" y="647700"/>
            <a:ext cx="533400" cy="571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7750" y="838200"/>
            <a:ext cx="1905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47750" y="144780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7FB3F0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sz="1200" b="0">
              <a:solidFill>
                <a:srgbClr val="7FB3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04775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23825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7FB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28750" y="6096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7FB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1"/>
            </p:custDataLst>
          </p:nvPr>
        </p:nvSpPr>
        <p:spPr>
          <a:xfrm>
            <a:off x="4381500" y="628650"/>
            <a:ext cx="666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27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>
            <p:custDataLst>
              <p:tags r:id="rId2"/>
            </p:custDataLst>
          </p:nvPr>
        </p:nvSpPr>
        <p:spPr>
          <a:xfrm>
            <a:off x="5105400" y="666750"/>
            <a:ext cx="628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选拔总览</a:t>
            </a:r>
            <a:endParaRPr sz="19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3"/>
            </p:custDataLst>
          </p:nvPr>
        </p:nvSpPr>
        <p:spPr>
          <a:xfrm>
            <a:off x="5105400" y="1028700"/>
            <a:ext cx="628650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两阶段选拔路径与整体节奏</a:t>
            </a:r>
            <a:endParaRPr sz="12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4"/>
            </p:custDataLst>
          </p:nvPr>
        </p:nvSpPr>
        <p:spPr>
          <a:xfrm>
            <a:off x="4381500" y="1752600"/>
            <a:ext cx="7143750" cy="9525"/>
          </a:xfrm>
          <a:prstGeom prst="rect">
            <a:avLst/>
          </a:prstGeom>
          <a:solidFill>
            <a:srgbClr val="E0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5"/>
            </p:custDataLst>
          </p:nvPr>
        </p:nvSpPr>
        <p:spPr>
          <a:xfrm>
            <a:off x="4381500" y="2076450"/>
            <a:ext cx="666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27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5105400" y="2114550"/>
            <a:ext cx="628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第一次考核 · 基础编程</a:t>
            </a:r>
            <a:endParaRPr sz="19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7"/>
            </p:custDataLst>
          </p:nvPr>
        </p:nvSpPr>
        <p:spPr>
          <a:xfrm>
            <a:off x="5105400" y="2476500"/>
            <a:ext cx="6286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6 周学习打卡，独立完成学生成绩管理系统</a:t>
            </a:r>
            <a:endParaRPr sz="12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>
            <p:custDataLst>
              <p:tags r:id="rId8"/>
            </p:custDataLst>
          </p:nvPr>
        </p:nvSpPr>
        <p:spPr>
          <a:xfrm>
            <a:off x="4381500" y="3200400"/>
            <a:ext cx="7143750" cy="9525"/>
          </a:xfrm>
          <a:prstGeom prst="rect">
            <a:avLst/>
          </a:prstGeom>
          <a:solidFill>
            <a:srgbClr val="E0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4381500" y="3524250"/>
            <a:ext cx="666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27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5105400" y="3562350"/>
            <a:ext cx="628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第二次考核 · STM32 与循迹小车</a:t>
            </a:r>
            <a:endParaRPr sz="19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1"/>
            </p:custDataLst>
          </p:nvPr>
        </p:nvSpPr>
        <p:spPr>
          <a:xfrm>
            <a:off x="5105400" y="3924300"/>
            <a:ext cx="628650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8 周 STM32 学习计划</a:t>
            </a:r>
            <a:r>
              <a:rPr lang="zh-CN"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综合考核</a:t>
            </a:r>
            <a:endParaRPr sz="12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Rectangle 20"/>
          <p:cNvSpPr/>
          <p:nvPr>
            <p:custDataLst>
              <p:tags r:id="rId12"/>
            </p:custDataLst>
          </p:nvPr>
        </p:nvSpPr>
        <p:spPr>
          <a:xfrm>
            <a:off x="4381500" y="4648200"/>
            <a:ext cx="7143750" cy="9525"/>
          </a:xfrm>
          <a:prstGeom prst="rect">
            <a:avLst/>
          </a:prstGeom>
          <a:solidFill>
            <a:srgbClr val="E0E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13"/>
            </p:custDataLst>
          </p:nvPr>
        </p:nvSpPr>
        <p:spPr>
          <a:xfrm>
            <a:off x="4381500" y="4972050"/>
            <a:ext cx="66675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27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14"/>
            </p:custDataLst>
          </p:nvPr>
        </p:nvSpPr>
        <p:spPr>
          <a:xfrm>
            <a:off x="5105400" y="5010150"/>
            <a:ext cx="628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考核纪律与寄语</a:t>
            </a:r>
            <a:endParaRPr sz="19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>
            <p:custDataLst>
              <p:tags r:id="rId15"/>
            </p:custDataLst>
          </p:nvPr>
        </p:nvSpPr>
        <p:spPr>
          <a:xfrm>
            <a:off x="5105400" y="5372100"/>
            <a:ext cx="6286500" cy="1917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必须遵</a:t>
            </a:r>
            <a:r>
              <a:rPr lang="zh-CN"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守的</a:t>
            </a:r>
            <a:r>
              <a:rPr lang="zh-CN"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规则</a:t>
            </a:r>
            <a:endParaRPr lang="zh-CN" sz="12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5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428750"/>
            <a:ext cx="47625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54749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sz="9000" b="1">
              <a:solidFill>
                <a:srgbClr val="54749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100" y="2952750"/>
            <a:ext cx="685800" cy="571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200400"/>
            <a:ext cx="10668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第一次考核 · 基础编程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0100" y="40005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6 周时间，用代码证明你的逻辑与坚持</a:t>
            </a:r>
            <a:endParaRPr sz="16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40415" y="6442075"/>
            <a:ext cx="1251585" cy="3683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2026.10.11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5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428750"/>
            <a:ext cx="47625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54749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sz="9000" b="1">
              <a:solidFill>
                <a:srgbClr val="54749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100" y="2952750"/>
            <a:ext cx="685800" cy="571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200400"/>
            <a:ext cx="10668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选拔总览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0100" y="40005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先打基础、再上硬件 —— 两阶段选拔路径一览</a:t>
            </a:r>
            <a:endParaRPr sz="16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40415" y="6442075"/>
            <a:ext cx="1251585" cy="3683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2026.10.11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419100"/>
            <a:ext cx="57150" cy="419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5350" y="438150"/>
            <a:ext cx="104775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两阶段选拔路径：先基础、后综合</a:t>
            </a:r>
            <a:endParaRPr sz="26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666750" y="1333500"/>
            <a:ext cx="5191125" cy="3657600"/>
          </a:xfrm>
          <a:prstGeom prst="roundRect">
            <a:avLst>
              <a:gd name="adj" fmla="val 4166"/>
            </a:avLst>
          </a:prstGeom>
          <a:solidFill>
            <a:srgbClr val="EAF2FC"/>
          </a:solidFill>
          <a:ln w="9525">
            <a:solidFill>
              <a:srgbClr val="C9D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>
            <p:custDataLst>
              <p:tags r:id="rId2"/>
            </p:custDataLst>
          </p:nvPr>
        </p:nvSpPr>
        <p:spPr>
          <a:xfrm>
            <a:off x="952500" y="1581150"/>
            <a:ext cx="914400" cy="285750"/>
          </a:xfrm>
          <a:prstGeom prst="roundRect">
            <a:avLst>
              <a:gd name="adj" fmla="val 50000"/>
            </a:avLst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952500" y="1581150"/>
            <a:ext cx="9144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第一阶段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952500" y="1981200"/>
            <a:ext cx="4572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sz="2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 周</a:t>
            </a:r>
            <a:r>
              <a:rPr sz="1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   基础编程考核</a:t>
            </a:r>
            <a:endParaRPr sz="16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5"/>
            </p:custDataLst>
          </p:nvPr>
        </p:nvSpPr>
        <p:spPr>
          <a:xfrm>
            <a:off x="952500" y="2952750"/>
            <a:ext cx="46482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独立完成「学生成绩管理系统」（命令行交互）</a:t>
            </a:r>
            <a:endParaRPr sz="12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不限语言，建议优先 C/C++ 或 Python</a:t>
            </a:r>
            <a:endParaRPr sz="12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截止 2026.11.7，每周学习打卡计入成绩</a:t>
            </a:r>
            <a:endParaRPr sz="12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9"/>
          <p:cNvSpPr/>
          <p:nvPr>
            <p:custDataLst>
              <p:tags r:id="rId6"/>
            </p:custDataLst>
          </p:nvPr>
        </p:nvSpPr>
        <p:spPr>
          <a:xfrm>
            <a:off x="952500" y="4305300"/>
            <a:ext cx="4619625" cy="9525"/>
          </a:xfrm>
          <a:prstGeom prst="rect">
            <a:avLst/>
          </a:prstGeom>
          <a:solidFill>
            <a:srgbClr val="C9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952500" y="4438650"/>
            <a:ext cx="4648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考察重点：编程能力 · 逻辑思维 · 持续学习</a:t>
            </a:r>
            <a:endParaRPr sz="1200" b="0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>
            <p:custDataLst>
              <p:tags r:id="rId8"/>
            </p:custDataLst>
          </p:nvPr>
        </p:nvSpPr>
        <p:spPr>
          <a:xfrm>
            <a:off x="6334125" y="1333500"/>
            <a:ext cx="5191125" cy="3657600"/>
          </a:xfrm>
          <a:prstGeom prst="roundRect">
            <a:avLst>
              <a:gd name="adj" fmla="val 4166"/>
            </a:avLst>
          </a:prstGeom>
          <a:solidFill>
            <a:srgbClr val="EAF2FC"/>
          </a:solidFill>
          <a:ln w="9525">
            <a:solidFill>
              <a:srgbClr val="C9D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>
            <p:custDataLst>
              <p:tags r:id="rId9"/>
            </p:custDataLst>
          </p:nvPr>
        </p:nvSpPr>
        <p:spPr>
          <a:xfrm>
            <a:off x="6619875" y="1581150"/>
            <a:ext cx="914400" cy="285750"/>
          </a:xfrm>
          <a:prstGeom prst="roundRect">
            <a:avLst>
              <a:gd name="adj" fmla="val 50000"/>
            </a:avLst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6619875" y="1581150"/>
            <a:ext cx="91440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6619875" y="1981200"/>
            <a:ext cx="4572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sz="2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 周</a:t>
            </a:r>
            <a:r>
              <a:rPr sz="1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   STM32 + 循迹小车</a:t>
            </a:r>
            <a:endParaRPr sz="16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6619875" y="2952750"/>
            <a:ext cx="464820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8 周 STM32F103 标准库自学 + 循迹小车综合考核</a:t>
            </a:r>
            <a:endParaRPr sz="12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个人或 2–3 人小组，满分 120 分</a:t>
            </a:r>
            <a:endParaRPr sz="12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预计第二学期开学第三周组织现场测评</a:t>
            </a:r>
            <a:endParaRPr sz="12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>
            <p:custDataLst>
              <p:tags r:id="rId13"/>
            </p:custDataLst>
          </p:nvPr>
        </p:nvSpPr>
        <p:spPr>
          <a:xfrm>
            <a:off x="6619875" y="4305300"/>
            <a:ext cx="4619625" cy="9525"/>
          </a:xfrm>
          <a:prstGeom prst="rect">
            <a:avLst/>
          </a:prstGeom>
          <a:solidFill>
            <a:srgbClr val="C9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14"/>
            </p:custDataLst>
          </p:nvPr>
        </p:nvSpPr>
        <p:spPr>
          <a:xfrm>
            <a:off x="6619875" y="4438650"/>
            <a:ext cx="46482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考察重点：硬件实践 · 综合调试 · 团队协作</a:t>
            </a:r>
            <a:endParaRPr sz="1200" b="0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ight Arrow 18"/>
          <p:cNvSpPr/>
          <p:nvPr>
            <p:custDataLst>
              <p:tags r:id="rId15"/>
            </p:custDataLst>
          </p:nvPr>
        </p:nvSpPr>
        <p:spPr>
          <a:xfrm>
            <a:off x="5886450" y="2857500"/>
            <a:ext cx="419100" cy="533400"/>
          </a:xfrm>
          <a:prstGeom prst="rightArrow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66750" y="5219700"/>
            <a:ext cx="10858500" cy="1028700"/>
          </a:xfrm>
          <a:prstGeom prst="roundRect">
            <a:avLst>
              <a:gd name="adj" fmla="val 14814"/>
            </a:avLst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7750" y="5391150"/>
            <a:ext cx="10287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两阶段成绩共同构成选拔依据 —— </a:t>
            </a:r>
            <a:r>
              <a:rPr sz="16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先把代码写扎实，再把硬件调稳定</a:t>
            </a:r>
            <a:endParaRPr sz="160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47750" y="5791200"/>
            <a:ext cx="10287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选拔不只看最终作品，更看重学习连续性与问题排查能力</a:t>
            </a:r>
            <a:endParaRPr sz="120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750" y="6305550"/>
            <a:ext cx="10858500" cy="9525"/>
          </a:xfrm>
          <a:prstGeom prst="rect">
            <a:avLst/>
          </a:prstGeom>
          <a:solidFill>
            <a:srgbClr val="D5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750" y="641985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电子信息协会 · 2026 电赛选拔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20250" y="641985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04 / 16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419100"/>
            <a:ext cx="57150" cy="419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5350" y="438150"/>
            <a:ext cx="104775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考核目的与组织方式</a:t>
            </a:r>
            <a:endParaRPr sz="26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750" y="1123950"/>
            <a:ext cx="62865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3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本阶段考察四项基本能力，为后续电赛中的</a:t>
            </a:r>
            <a:r>
              <a:rPr sz="13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单片机控制、上位机通信、数据处理和机器视觉</a:t>
            </a:r>
            <a:r>
              <a:rPr sz="13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等方向学习打下基础。</a:t>
            </a:r>
            <a:endParaRPr sz="13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6750" y="18669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750" y="1866900"/>
            <a:ext cx="5334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码</a:t>
            </a:r>
            <a:endParaRPr sz="15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1847850"/>
            <a:ext cx="5619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基础编程能力</a:t>
            </a:r>
            <a:endParaRPr sz="15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71600" y="2114550"/>
            <a:ext cx="5619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熟练掌握一门语言的语法、数据组织与程序结构</a:t>
            </a:r>
            <a:endParaRPr sz="12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6750" y="28956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6750" y="2895600"/>
            <a:ext cx="5334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逻</a:t>
            </a:r>
            <a:endParaRPr sz="15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600" y="2876550"/>
            <a:ext cx="5619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逻辑思维能力</a:t>
            </a:r>
            <a:endParaRPr sz="15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600" y="3143250"/>
            <a:ext cx="5619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能把实际需求拆解为清晰、可实现的程序逻辑</a:t>
            </a:r>
            <a:endParaRPr sz="12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66750" y="39243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50" y="3924300"/>
            <a:ext cx="5334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析</a:t>
            </a:r>
            <a:endParaRPr sz="15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71600" y="3905250"/>
            <a:ext cx="5619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问题分析能力</a:t>
            </a:r>
            <a:endParaRPr sz="15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71600" y="4171950"/>
            <a:ext cx="5619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面对报错与异常，能描述现象、定位原因、验证解法</a:t>
            </a:r>
            <a:endParaRPr sz="12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66750" y="4953000"/>
            <a:ext cx="533400" cy="533400"/>
          </a:xfrm>
          <a:prstGeom prst="roundRect">
            <a:avLst>
              <a:gd name="adj" fmla="val 25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6750" y="4953000"/>
            <a:ext cx="5334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持</a:t>
            </a:r>
            <a:endParaRPr sz="15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71600" y="4933950"/>
            <a:ext cx="56197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持续学习能力</a:t>
            </a:r>
            <a:endParaRPr sz="15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71600" y="5200650"/>
            <a:ext cx="561975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6 周按周推进，保持稳定的学习节奏与真实记录</a:t>
            </a:r>
            <a:endParaRPr sz="12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258050" y="1333500"/>
            <a:ext cx="4267200" cy="4914900"/>
          </a:xfrm>
          <a:prstGeom prst="roundRect">
            <a:avLst>
              <a:gd name="adj" fmla="val 3571"/>
            </a:avLst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2850" y="1562100"/>
            <a:ext cx="3619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组织方式</a:t>
            </a:r>
            <a:endParaRPr sz="1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562850" y="1981200"/>
            <a:ext cx="36195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6 周</a:t>
            </a:r>
            <a:endParaRPr sz="300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562850" y="2419350"/>
            <a:ext cx="3619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考核周期，截止 2026.11.7</a:t>
            </a:r>
            <a:endParaRPr sz="120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562850" y="3048000"/>
            <a:ext cx="36195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1 次 / 周</a:t>
            </a:r>
            <a:endParaRPr sz="300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62850" y="3486150"/>
            <a:ext cx="3619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学习打卡，计入总成绩（30 分）</a:t>
            </a:r>
            <a:endParaRPr sz="120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62850" y="4114800"/>
            <a:ext cx="36195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独立提交</a:t>
            </a:r>
            <a:endParaRPr sz="300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562850" y="4552950"/>
            <a:ext cx="3619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最终独立提交并演示完整项目</a:t>
            </a:r>
            <a:endParaRPr sz="120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562850" y="5391150"/>
            <a:ext cx="3657600" cy="9525"/>
          </a:xfrm>
          <a:prstGeom prst="rect">
            <a:avLst/>
          </a:prstGeom>
          <a:solidFill>
            <a:srgbClr val="7FB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62850" y="5524500"/>
            <a:ext cx="36576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平时学习过程 + 最终项目成绩
共同构成第一阶段考核成绩</a:t>
            </a:r>
            <a:endParaRPr sz="11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666750" y="6305550"/>
            <a:ext cx="10858500" cy="9525"/>
          </a:xfrm>
          <a:prstGeom prst="rect">
            <a:avLst/>
          </a:prstGeom>
          <a:solidFill>
            <a:srgbClr val="D5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6750" y="641985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电子信息协会 · 2026 电赛选拔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620250" y="641985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06 / 16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419100"/>
            <a:ext cx="57150" cy="419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5350" y="438150"/>
            <a:ext cx="104775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考核题目：学生成绩管理系统</a:t>
            </a:r>
            <a:endParaRPr sz="26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750" y="1066800"/>
            <a:ext cx="68961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管理学生基本信息与多门课程成绩，实现查询、修改、统计和排序。原则上采用</a:t>
            </a:r>
            <a:r>
              <a:rPr sz="12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命令行交互</a:t>
            </a:r>
            <a:r>
              <a:rPr sz="12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，不要求图形界面或数据库；可以使用标准库与公开资料，但必须能讲清代码结构与调试过程。</a:t>
            </a:r>
            <a:endParaRPr sz="12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66750" y="1981200"/>
            <a:ext cx="2209800" cy="3924300"/>
          </a:xfrm>
          <a:prstGeom prst="roundRect">
            <a:avLst>
              <a:gd name="adj" fmla="val 6034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38200" y="2152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8200" y="215265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信息</a:t>
            </a:r>
            <a:endParaRPr sz="13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14450" y="215265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学生信息管理</a:t>
            </a:r>
            <a:endParaRPr sz="145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38200" y="2686050"/>
            <a:ext cx="1905000" cy="30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信息含学号、姓名 + 不少于三门成绩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添加 / 删除 / 修改学生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按学号查询学生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按姓名查询学生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显示全部学生信息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009900" y="1981200"/>
            <a:ext cx="2209800" cy="3924300"/>
          </a:xfrm>
          <a:prstGeom prst="roundRect">
            <a:avLst>
              <a:gd name="adj" fmla="val 6034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181350" y="2152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1350" y="215265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统计</a:t>
            </a:r>
            <a:endParaRPr sz="13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215265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成绩统计</a:t>
            </a:r>
            <a:endParaRPr sz="145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81350" y="2686050"/>
            <a:ext cx="1905000" cy="30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每人总分与平均分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各科最高 / 最低 / 平均分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及格与不及格人数统计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按总分或平均分排序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353050" y="1981200"/>
            <a:ext cx="2209800" cy="3924300"/>
          </a:xfrm>
          <a:prstGeom prst="roundRect">
            <a:avLst>
              <a:gd name="adj" fmla="val 6034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524500" y="21526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24500" y="215265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异常</a:t>
            </a:r>
            <a:endParaRPr sz="13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000750" y="215265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异常处理</a:t>
            </a:r>
            <a:endParaRPr sz="145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24500" y="2686050"/>
            <a:ext cx="1905000" cy="30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普通操作错误不得导致崩溃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学号重复 / 学生不存在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成绩超出合理范围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输入非数字内容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空数据 / 无效菜单选项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67650" y="1123950"/>
            <a:ext cx="3619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分层要求</a:t>
            </a:r>
            <a:endParaRPr sz="15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867650" y="1524000"/>
            <a:ext cx="3657600" cy="129540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5240">
            <a:solidFill>
              <a:srgbClr val="1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39100" y="1657350"/>
            <a:ext cx="3333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基础要求</a:t>
            </a:r>
            <a:endParaRPr sz="135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39100" y="1943100"/>
            <a:ext cx="33337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完成增、删、改、查；能录入成绩并计算总分与平均分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867650" y="3028950"/>
            <a:ext cx="3657600" cy="129540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5240">
            <a:solidFill>
              <a:srgbClr val="1E6F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39100" y="3162300"/>
            <a:ext cx="3333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提高要求</a:t>
            </a:r>
            <a:endParaRPr sz="135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39100" y="3448050"/>
            <a:ext cx="33337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多条件查询、多种排序、各科统计、较完整异常处理；用函数或模块合理划分代码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867650" y="4533900"/>
            <a:ext cx="3657600" cy="1295400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5240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39100" y="4667250"/>
            <a:ext cx="3333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进阶要求（可选）</a:t>
            </a:r>
            <a:endParaRPr sz="135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039100" y="4953000"/>
            <a:ext cx="333375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文件保存与读取、多文件组织、数据导出、成绩分布统计、图形或网页界面等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66750" y="6305550"/>
            <a:ext cx="10858500" cy="9525"/>
          </a:xfrm>
          <a:prstGeom prst="rect">
            <a:avLst/>
          </a:prstGeom>
          <a:solidFill>
            <a:srgbClr val="D5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6750" y="641985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电子信息协会 · 2026 电赛选拔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620250" y="641985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07 / 16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419100"/>
            <a:ext cx="57150" cy="419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5350" y="438150"/>
            <a:ext cx="104775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评分标准：100 分怎么拿</a:t>
            </a:r>
            <a:endParaRPr sz="26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6750" y="1333500"/>
            <a:ext cx="6572250" cy="5143500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9525">
            <a:solidFill>
              <a:srgbClr val="C9D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914400" y="1619250"/>
          <a:ext cx="609600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543800" y="1333500"/>
            <a:ext cx="3981450" cy="2457450"/>
          </a:xfrm>
          <a:prstGeom prst="roundRect">
            <a:avLst>
              <a:gd name="adj" fmla="val 6201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10500" y="1543050"/>
            <a:ext cx="34290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30</a:t>
            </a:r>
            <a:r>
              <a:rPr sz="20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 分</a:t>
            </a:r>
            <a:endParaRPr sz="20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0500" y="2362200"/>
            <a:ext cx="34480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平时学习打卡 —— 连续性就是分数</a:t>
            </a:r>
            <a:endParaRPr sz="140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10500" y="2686050"/>
            <a:ext cx="344805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每周至少 1 次：本周知识点 / 考核进度 / 遇到的问题与解决过程 / 下周计划，必要时附代码与截图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7543800" y="4019550"/>
            <a:ext cx="3981450" cy="2209800"/>
          </a:xfrm>
          <a:prstGeom prst="roundRect">
            <a:avLst>
              <a:gd name="adj" fmla="val 6896"/>
            </a:avLst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0500" y="4191000"/>
            <a:ext cx="3429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成果检查</a:t>
            </a:r>
            <a:endParaRPr sz="14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10500" y="4495800"/>
            <a:ext cx="3448050" cy="1619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1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运行程序并检查主要功能</a:t>
            </a:r>
            <a:endParaRPr sz="11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sz="11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审查核心代码与数据结构</a:t>
            </a:r>
            <a:endParaRPr sz="11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sz="11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审查异常情况的处理方式</a:t>
            </a:r>
            <a:endParaRPr sz="11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sz="11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AIGC 检查：明显由 AI 生成或代写，</a:t>
            </a:r>
            <a:r>
              <a:rPr sz="11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取消考核资格</a:t>
            </a:r>
            <a:endParaRPr sz="115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6750" y="6305550"/>
            <a:ext cx="10858500" cy="9525"/>
          </a:xfrm>
          <a:prstGeom prst="rect">
            <a:avLst/>
          </a:prstGeom>
          <a:solidFill>
            <a:srgbClr val="D5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6750" y="641985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电子信息协会 · 2026 电赛选拔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620250" y="641985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08 / 16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5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428750"/>
            <a:ext cx="47625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54749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sz="9000" b="1">
              <a:solidFill>
                <a:srgbClr val="54749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100" y="2952750"/>
            <a:ext cx="685800" cy="571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200400"/>
            <a:ext cx="10668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第二次考核 · STM32 与循迹小车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0100" y="40005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8 周嵌入式学习，造一辆会自己跑的小车</a:t>
            </a:r>
            <a:endParaRPr sz="16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40415" y="6442075"/>
            <a:ext cx="1251585" cy="3683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2026.10.11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419100"/>
            <a:ext cx="57150" cy="419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5350" y="438150"/>
            <a:ext cx="104775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STM32 八周学习计划总览</a:t>
            </a:r>
            <a:endParaRPr sz="26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5" name="Picture 4" descr="stm32_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0" y="1333500"/>
            <a:ext cx="5972175" cy="4914900"/>
          </a:xfrm>
          <a:prstGeom prst="rect">
            <a:avLst/>
          </a:prstGeom>
          <a:effectLst/>
        </p:spPr>
      </p:pic>
      <p:sp>
        <p:nvSpPr>
          <p:cNvPr id="6" name="Rectangle 5"/>
          <p:cNvSpPr/>
          <p:nvPr/>
        </p:nvSpPr>
        <p:spPr>
          <a:xfrm>
            <a:off x="666750" y="5448300"/>
            <a:ext cx="5972175" cy="800100"/>
          </a:xfrm>
          <a:prstGeom prst="rect">
            <a:avLst/>
          </a:prstGeom>
          <a:solidFill>
            <a:srgbClr val="0A2A5E">
              <a:alpha val="6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5350" y="5753100"/>
            <a:ext cx="5524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STM32F103C8T6 核心板 · 标准库开发 · Keil5</a:t>
            </a:r>
            <a:endParaRPr sz="11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943725" y="13335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3725" y="13335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硬</a:t>
            </a:r>
            <a:endParaRPr sz="14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53325" y="1314450"/>
            <a:ext cx="4000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硬件需求</a:t>
            </a:r>
            <a:endParaRPr sz="14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553325" y="1562100"/>
            <a:ext cx="4000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STM32F103C8T6 核心板 + 配套基础外设；按需购买不强制，可与同学共用一套</a:t>
            </a:r>
            <a:endParaRPr sz="11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943725" y="245745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3725" y="245745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软</a:t>
            </a:r>
            <a:endParaRPr sz="14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553325" y="2438400"/>
            <a:ext cx="4000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软件环境</a:t>
            </a:r>
            <a:endParaRPr sz="14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553325" y="2686050"/>
            <a:ext cx="4000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Keil5 + 标准库开发；软件配置与固件库下载可自行前往 bilibili 学习</a:t>
            </a:r>
            <a:endParaRPr sz="11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43725" y="358140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3725" y="3581400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时</a:t>
            </a:r>
            <a:endParaRPr sz="14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553325" y="3562350"/>
            <a:ext cx="40005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时间投入</a:t>
            </a:r>
            <a:endParaRPr sz="145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553325" y="3810000"/>
            <a:ext cx="4000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8 周自学，每周 </a:t>
            </a:r>
            <a:r>
              <a:rPr sz="11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6–8 小时</a:t>
            </a:r>
            <a:r>
              <a:rPr sz="11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：3–4 小时看资料 + 3–4 小时写代码做实验</a:t>
            </a:r>
            <a:endParaRPr sz="11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943725" y="4705350"/>
            <a:ext cx="4581525" cy="1543050"/>
          </a:xfrm>
          <a:prstGeom prst="roundRect">
            <a:avLst>
              <a:gd name="adj" fmla="val 8641"/>
            </a:avLst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72325" y="4819650"/>
            <a:ext cx="4095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总体目标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172325" y="5086350"/>
            <a:ext cx="4152900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独立搭建 STM32F103 工程、编译、下载、调试</a:t>
            </a:r>
            <a:endParaRPr sz="11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1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掌握 GPIO、EXTI、TIM、USART 常用外设</a:t>
            </a:r>
            <a:endParaRPr sz="11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1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完成至少一个小型综合项目</a:t>
            </a:r>
            <a:endParaRPr sz="11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5000"/>
              </a:lnSpc>
            </a:pPr>
            <a:r>
              <a:rPr sz="11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有余力的同学可自学 IIC 与 SPI 通信</a:t>
            </a:r>
            <a:endParaRPr sz="11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750" y="6305550"/>
            <a:ext cx="10858500" cy="9525"/>
          </a:xfrm>
          <a:prstGeom prst="rect">
            <a:avLst/>
          </a:prstGeom>
          <a:solidFill>
            <a:srgbClr val="D5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750" y="641985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电子信息协会 · 2026 电赛选拔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20250" y="641985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10 / 16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915660" y="5953125"/>
            <a:ext cx="723265" cy="2476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419100"/>
            <a:ext cx="57150" cy="419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5350" y="447675"/>
            <a:ext cx="10477500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sz="2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常见单片机与</a:t>
            </a:r>
            <a:r>
              <a:rPr lang="zh-CN" sz="2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主板</a:t>
            </a:r>
            <a:endParaRPr lang="zh-CN" sz="26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5350" y="5753100"/>
            <a:ext cx="5524500" cy="1765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STM32F103C8T6 核心板 · 标准库开发 · Kel5</a:t>
            </a:r>
            <a:endParaRPr sz="11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72325" y="4819650"/>
            <a:ext cx="40957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总体目标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66750" y="6305550"/>
            <a:ext cx="10858500" cy="9525"/>
          </a:xfrm>
          <a:prstGeom prst="rect">
            <a:avLst/>
          </a:prstGeom>
          <a:solidFill>
            <a:srgbClr val="D5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6750" y="641985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电子信息协会 · 2026 电赛选拔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 descr="cd5c960822ebcaec1f3c13fab9329f4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845" y="1882775"/>
            <a:ext cx="2525395" cy="2525395"/>
          </a:xfrm>
          <a:prstGeom prst="rect">
            <a:avLst/>
          </a:prstGeom>
        </p:spPr>
      </p:pic>
      <p:pic>
        <p:nvPicPr>
          <p:cNvPr id="28" name="图片 27" descr="760c7e6c4bee0325b23d54f0f93f05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6105" y="1749425"/>
            <a:ext cx="2792730" cy="2792730"/>
          </a:xfrm>
          <a:prstGeom prst="rect">
            <a:avLst/>
          </a:prstGeom>
        </p:spPr>
      </p:pic>
      <p:pic>
        <p:nvPicPr>
          <p:cNvPr id="29" name="图片 28" descr="5372a4a714b47f2fe1be73c729ce236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0780" y="1669415"/>
            <a:ext cx="2872740" cy="2872740"/>
          </a:xfrm>
          <a:prstGeom prst="rect">
            <a:avLst/>
          </a:prstGeom>
        </p:spPr>
      </p:pic>
      <p:pic>
        <p:nvPicPr>
          <p:cNvPr id="30" name="图片 29" descr="fa90e1983ff0b25e57eb039bf4edc8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6210" y="1673860"/>
            <a:ext cx="3145790" cy="3145790"/>
          </a:xfrm>
          <a:prstGeom prst="rect">
            <a:avLst/>
          </a:prstGeom>
        </p:spPr>
      </p:pic>
      <p:sp>
        <p:nvSpPr>
          <p:cNvPr id="31" name="文本框 30"/>
          <p:cNvSpPr txBox="1"/>
          <p:nvPr/>
        </p:nvSpPr>
        <p:spPr>
          <a:xfrm>
            <a:off x="895350" y="4777740"/>
            <a:ext cx="17926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STM32F103C8T6</a:t>
            </a:r>
            <a:endParaRPr lang="en-US" altLang="zh-CN"/>
          </a:p>
        </p:txBody>
      </p:sp>
      <p:sp>
        <p:nvSpPr>
          <p:cNvPr id="32" name="文本框 31"/>
          <p:cNvSpPr txBox="1"/>
          <p:nvPr/>
        </p:nvSpPr>
        <p:spPr>
          <a:xfrm>
            <a:off x="3678555" y="4777740"/>
            <a:ext cx="18707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TI MSPM0G3507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6873875" y="4777740"/>
            <a:ext cx="17919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Orange Pi 5 Pro</a:t>
            </a:r>
            <a:endParaRPr lang="en-US" altLang="zh-CN"/>
          </a:p>
        </p:txBody>
      </p:sp>
      <p:sp>
        <p:nvSpPr>
          <p:cNvPr id="34" name="文本框 33"/>
          <p:cNvSpPr txBox="1"/>
          <p:nvPr/>
        </p:nvSpPr>
        <p:spPr>
          <a:xfrm>
            <a:off x="9920605" y="4777740"/>
            <a:ext cx="1503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NVIDIA Jetson</a:t>
            </a:r>
            <a:endParaRPr lang="en-US" altLang="zh-C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419100"/>
            <a:ext cx="57150" cy="419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5350" y="438150"/>
            <a:ext cx="104775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八周学习路线：从点灯到串口</a:t>
            </a:r>
            <a:endParaRPr sz="26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6750" y="1333500"/>
            <a:ext cx="2600325" cy="190500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1333500"/>
            <a:ext cx="2600325" cy="381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1504950"/>
            <a:ext cx="2257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第 1 周</a:t>
            </a:r>
            <a:endParaRPr sz="115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8200" y="17526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环境搭建入门</a:t>
            </a:r>
            <a:endParaRPr sz="140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38200" y="2076450"/>
            <a:ext cx="22574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Keil 安装、新建工程、初识 STM32；点亮第一个 LED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419475" y="1333500"/>
            <a:ext cx="2600325" cy="190500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19475" y="1333500"/>
            <a:ext cx="2600325" cy="381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0925" y="1504950"/>
            <a:ext cx="2257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第 2 周</a:t>
            </a:r>
            <a:endParaRPr sz="115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90925" y="17526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GPIO + 时钟系统</a:t>
            </a:r>
            <a:endParaRPr sz="140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90925" y="2076450"/>
            <a:ext cx="22574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按键控制 LED、跑马灯、按键消抖与闪烁频率控制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72200" y="1333500"/>
            <a:ext cx="2600325" cy="190500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33500"/>
            <a:ext cx="2600325" cy="381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3650" y="1504950"/>
            <a:ext cx="2257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第 3 周</a:t>
            </a:r>
            <a:endParaRPr sz="115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43650" y="17526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OLED 初识</a:t>
            </a:r>
            <a:endParaRPr sz="140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343650" y="2076450"/>
            <a:ext cx="22574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了解 IIC 通信；OLED 显示数字、字母与字符串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924925" y="1333500"/>
            <a:ext cx="2600325" cy="190500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24925" y="1333500"/>
            <a:ext cx="2600325" cy="381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6375" y="1504950"/>
            <a:ext cx="2257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第 4 周</a:t>
            </a:r>
            <a:endParaRPr sz="115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9096375" y="175260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中断与 EXTI</a:t>
            </a:r>
            <a:endParaRPr sz="140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096375" y="2076450"/>
            <a:ext cx="22574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NVIC 与优先级；按键中断、长短按、红外计次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66750" y="3390900"/>
            <a:ext cx="10858500" cy="19050"/>
          </a:xfrm>
          <a:prstGeom prst="rect">
            <a:avLst/>
          </a:prstGeom>
          <a:solidFill>
            <a:srgbClr val="C9DB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hevron 25"/>
          <p:cNvSpPr/>
          <p:nvPr/>
        </p:nvSpPr>
        <p:spPr>
          <a:xfrm>
            <a:off x="5962650" y="3314700"/>
            <a:ext cx="266700" cy="171450"/>
          </a:xfrm>
          <a:prstGeom prst="chevron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66750" y="3676650"/>
            <a:ext cx="2600325" cy="190500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66750" y="3676650"/>
            <a:ext cx="2600325" cy="381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8200" y="3848100"/>
            <a:ext cx="2257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第 5 周</a:t>
            </a:r>
            <a:endParaRPr sz="115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8200" y="409575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定时器初识</a:t>
            </a:r>
            <a:endParaRPr sz="140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38200" y="4419600"/>
            <a:ext cx="22574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定时中断、PSC/CNT 时序；做简易时钟与秒表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3419475" y="3676650"/>
            <a:ext cx="2600325" cy="190500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419475" y="3676650"/>
            <a:ext cx="2600325" cy="381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90925" y="3848100"/>
            <a:ext cx="2257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第 6 周</a:t>
            </a:r>
            <a:endParaRPr sz="115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90925" y="409575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输出比较 PWM</a:t>
            </a:r>
            <a:endParaRPr sz="140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3590925" y="4419600"/>
            <a:ext cx="22574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PWM 原理与参数计算；呼吸灯、蜂鸣器音调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172200" y="3676650"/>
            <a:ext cx="2600325" cy="1905000"/>
          </a:xfrm>
          <a:prstGeom prst="roundRect">
            <a:avLst>
              <a:gd name="adj" fmla="val 7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72200" y="3676650"/>
            <a:ext cx="2600325" cy="381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3650" y="3848100"/>
            <a:ext cx="2257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第 7 周</a:t>
            </a:r>
            <a:endParaRPr sz="115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343650" y="409575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输入捕获</a:t>
            </a:r>
            <a:endParaRPr sz="140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43650" y="4419600"/>
            <a:ext cx="22574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测量信号频率与 PWM 占空比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8924925" y="3676650"/>
            <a:ext cx="2600325" cy="1905000"/>
          </a:xfrm>
          <a:prstGeom prst="roundRect">
            <a:avLst>
              <a:gd name="adj" fmla="val 7000"/>
            </a:avLst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924925" y="3676650"/>
            <a:ext cx="2600325" cy="38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6375" y="3848100"/>
            <a:ext cx="2257425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第 8 周</a:t>
            </a:r>
            <a:endParaRPr sz="115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096375" y="4095750"/>
            <a:ext cx="22574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串口通信 USART</a:t>
            </a:r>
            <a:endParaRPr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96375" y="4419600"/>
            <a:ext cx="2257425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波特率与数据帧；串口收发与调试助手综合应用</a:t>
            </a:r>
            <a:endParaRPr sz="10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66750" y="5772150"/>
            <a:ext cx="10858500" cy="419100"/>
          </a:xfrm>
          <a:prstGeom prst="roundRect">
            <a:avLst>
              <a:gd name="adj" fmla="val 27272"/>
            </a:avLst>
          </a:prstGeom>
          <a:solidFill>
            <a:srgbClr val="FDF3E0"/>
          </a:solidFill>
          <a:ln w="952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5350" y="5772150"/>
            <a:ext cx="104775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⚠ 安全提示：</a:t>
            </a:r>
            <a:r>
              <a:rPr sz="11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PWM 驱动舵机 / 风扇等外设存在烧坏串口甚至主板的风险，没有十足把握不要轻易尝试</a:t>
            </a:r>
            <a:endParaRPr sz="11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666750" y="6305550"/>
            <a:ext cx="10858500" cy="9525"/>
          </a:xfrm>
          <a:prstGeom prst="rect">
            <a:avLst/>
          </a:prstGeom>
          <a:solidFill>
            <a:srgbClr val="D5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6750" y="641985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电子信息协会 · 2026 电赛选拔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620250" y="641985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11 / 16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419100"/>
            <a:ext cx="57150" cy="4191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5350" y="438150"/>
            <a:ext cx="10477500" cy="419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考核大纲与学习资源</a:t>
            </a:r>
            <a:endParaRPr sz="26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66750" y="1333500"/>
            <a:ext cx="6896100" cy="2457450"/>
          </a:xfrm>
          <a:prstGeom prst="roundRect">
            <a:avLst>
              <a:gd name="adj" fmla="val 6201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300" y="152400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6300" y="1524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知</a:t>
            </a:r>
            <a:endParaRPr sz="13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2550" y="1524000"/>
            <a:ext cx="59055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知识目标 · 说得出、查得到</a:t>
            </a:r>
            <a:endParaRPr sz="155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300" y="2038350"/>
            <a:ext cx="6477000" cy="1619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2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说得出常用标准库结构体的作用（GPIO_InitTypeDef、USART_InitTypeDef 等）</a:t>
            </a:r>
            <a:endParaRPr sz="12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sz="12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讲得出外设工作流程：初始化 → 配置 → 使能 → 使用 → 中断处理</a:t>
            </a:r>
            <a:endParaRPr sz="12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sz="12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能在参考手册中快速定位：外设时钟所在 APB、IO 端口引脚号、常用寄存器含义</a:t>
            </a:r>
            <a:endParaRPr sz="12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66750" y="4019550"/>
            <a:ext cx="6896100" cy="2457450"/>
          </a:xfrm>
          <a:prstGeom prst="roundRect">
            <a:avLst>
              <a:gd name="adj" fmla="val 6201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6300" y="4210050"/>
            <a:ext cx="381000" cy="3810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6300" y="421005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E6FD9"/>
                </a:solidFill>
                <a:latin typeface="微软雅黑" panose="020B0503020204020204" charset="-122"/>
                <a:ea typeface="微软雅黑" panose="020B0503020204020204" charset="-122"/>
              </a:rPr>
              <a:t>能</a:t>
            </a:r>
            <a:endParaRPr sz="1300" b="1">
              <a:solidFill>
                <a:srgbClr val="1E6FD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52550" y="4210050"/>
            <a:ext cx="5905500" cy="381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能力目标 · 做得出、调得通</a:t>
            </a:r>
            <a:endParaRPr sz="155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76300" y="4724400"/>
            <a:ext cx="6477000" cy="1619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2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</a:t>
            </a:r>
            <a:r>
              <a:rPr sz="12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30 分钟</a:t>
            </a:r>
            <a:r>
              <a:rPr sz="12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内从空工程 + 标准库搭出「点灯 + 串口打印」项目</a:t>
            </a:r>
            <a:endParaRPr sz="12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sz="12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独立完成 GPIO、EXTI、TIM+PWM、USART、I2C/SPI 五类实验</a:t>
            </a:r>
            <a:endParaRPr sz="12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sz="12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完成至少一个用到 3 个以上外设的综合项目，结构清晰、代码可读、有基本注释</a:t>
            </a:r>
            <a:endParaRPr sz="12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867650" y="1409700"/>
            <a:ext cx="36576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A2332"/>
                </a:solidFill>
                <a:latin typeface="微软雅黑" panose="020B0503020204020204" charset="-122"/>
                <a:ea typeface="微软雅黑" panose="020B0503020204020204" charset="-122"/>
              </a:rPr>
              <a:t>学习资源 · B 站 UP 主推荐</a:t>
            </a:r>
            <a:endParaRPr sz="1500" b="1">
              <a:solidFill>
                <a:srgbClr val="1A233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867650" y="1809750"/>
            <a:ext cx="365760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C9D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58150" y="1943100"/>
            <a:ext cx="323850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▶ </a:t>
            </a:r>
            <a:r>
              <a:rPr sz="14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江</a:t>
            </a:r>
            <a:r>
              <a:rPr lang="zh-CN" sz="14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协</a:t>
            </a:r>
            <a:r>
              <a:rPr lang="zh-CN" sz="14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科技</a:t>
            </a:r>
            <a:endParaRPr lang="zh-CN" sz="14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58150" y="2286000"/>
            <a:ext cx="32766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实践项目较多，适合跟着动手做</a:t>
            </a:r>
            <a:endParaRPr sz="11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867650" y="3143250"/>
            <a:ext cx="365760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C9D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58150" y="3276600"/>
            <a:ext cx="3238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▶ </a:t>
            </a:r>
            <a:r>
              <a:rPr sz="14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铁头山羊</a:t>
            </a:r>
            <a:endParaRPr sz="14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058150" y="3619500"/>
            <a:ext cx="32766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基础理论讲解更胜一筹，适合打牢概念</a:t>
            </a:r>
            <a:endParaRPr sz="11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867650" y="4476750"/>
            <a:ext cx="3657600" cy="1123950"/>
          </a:xfrm>
          <a:prstGeom prst="roundRect">
            <a:avLst>
              <a:gd name="adj" fmla="val 11864"/>
            </a:avLst>
          </a:prstGeom>
          <a:solidFill>
            <a:srgbClr val="FFFFFF"/>
          </a:solidFill>
          <a:ln w="9525">
            <a:solidFill>
              <a:srgbClr val="C9D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58150" y="4610100"/>
            <a:ext cx="3238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▶ </a:t>
            </a:r>
            <a:r>
              <a:rPr sz="14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keysking</a:t>
            </a:r>
            <a:endParaRPr sz="14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58150" y="4953000"/>
            <a:ext cx="32766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动画效果最好、简单易懂，入门友好</a:t>
            </a:r>
            <a:endParaRPr sz="11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867650" y="5848350"/>
            <a:ext cx="36576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三位 UP 主风格互补，建议按自己的接受能力组合学习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666750" y="6305550"/>
            <a:ext cx="10858500" cy="9525"/>
          </a:xfrm>
          <a:prstGeom prst="rect">
            <a:avLst/>
          </a:prstGeom>
          <a:solidFill>
            <a:srgbClr val="D5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6750" y="641985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电子信息协会 · 2026 电赛选拔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620250" y="641985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12 / 16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66750" y="381000"/>
            <a:ext cx="3048000" cy="5562600"/>
          </a:xfrm>
          <a:prstGeom prst="roundRect">
            <a:avLst>
              <a:gd name="adj" fmla="val 5000"/>
            </a:avLst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2500" y="666750"/>
            <a:ext cx="2514600" cy="1047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小车怎么做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现场怎么测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</a:pPr>
            <a:r>
              <a:rPr sz="19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分数怎么评</a:t>
            </a:r>
            <a:endParaRPr sz="19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52500" y="1866900"/>
            <a:ext cx="25146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120</a:t>
            </a:r>
            <a:r>
              <a:rPr sz="2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分</a:t>
            </a:r>
            <a:endParaRPr sz="2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52500" y="2952750"/>
            <a:ext cx="25146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1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每组原则上 2 次测试机会
取成绩较好的一次</a:t>
            </a:r>
            <a:endParaRPr sz="11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52500" y="4953000"/>
            <a:ext cx="2476500" cy="9525"/>
          </a:xfrm>
          <a:prstGeom prst="rect">
            <a:avLst/>
          </a:prstGeom>
          <a:solidFill>
            <a:srgbClr val="7FB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5086350"/>
            <a:ext cx="25146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提交材料：小车实物 + 源代码与工程文件 + 项目总结或设计报告</a:t>
            </a:r>
            <a:endParaRPr sz="10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019550" y="381000"/>
            <a:ext cx="3657600" cy="2076450"/>
          </a:xfrm>
          <a:prstGeom prst="roundRect">
            <a:avLst>
              <a:gd name="adj" fmla="val 6422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10050" y="533400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制作要求</a:t>
            </a:r>
            <a:endParaRPr sz="145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210050" y="838200"/>
            <a:ext cx="33147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车身 ≤ 35 × 25 cm，轮式驱动、车载电池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灰度或红外光电模块循迹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独立启动按键 + ≤ 2 英寸显示屏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中心轴线标记唯一测试位置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主控不限，推荐 TI 系列开发板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7867650" y="381000"/>
            <a:ext cx="3657600" cy="2076450"/>
          </a:xfrm>
          <a:prstGeom prst="roundRect">
            <a:avLst>
              <a:gd name="adj" fmla="val 6422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58150" y="533400"/>
            <a:ext cx="3276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现场测试</a:t>
            </a:r>
            <a:endParaRPr sz="145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58150" y="838200"/>
            <a:ext cx="3314700" cy="15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A 点指定位置放置，按键启动计时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显示屏实时显示行驶时间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整车投影始终在轨迹内，脱离即失败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停车偏差 = 测试位置与基准线距离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7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· 空载 20 s 内、3KG 负载 30 s 内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019550" y="2647950"/>
            <a:ext cx="7505700" cy="3295650"/>
          </a:xfrm>
          <a:prstGeom prst="roundRect">
            <a:avLst>
              <a:gd name="adj" fmla="val 4046"/>
            </a:avLst>
          </a:prstGeom>
          <a:solidFill>
            <a:srgbClr val="FFFFFF"/>
          </a:solidFill>
          <a:ln w="9525">
            <a:solidFill>
              <a:srgbClr val="C9DB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48150" y="28194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评分构成（共 120 分）</a:t>
            </a:r>
            <a:endParaRPr sz="145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248150" y="3219450"/>
            <a:ext cx="1171575" cy="266700"/>
          </a:xfrm>
          <a:prstGeom prst="rect">
            <a:avLst/>
          </a:prstGeom>
          <a:solidFill>
            <a:srgbClr val="0A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19725" y="3219450"/>
            <a:ext cx="1171575" cy="266700"/>
          </a:xfrm>
          <a:prstGeom prst="rect">
            <a:avLst/>
          </a:prstGeom>
          <a:solidFill>
            <a:srgbClr val="1E6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91300" y="3219450"/>
            <a:ext cx="581025" cy="266700"/>
          </a:xfrm>
          <a:prstGeom prst="rect">
            <a:avLst/>
          </a:prstGeom>
          <a:solidFill>
            <a:srgbClr val="7FB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72325" y="3219450"/>
            <a:ext cx="581025" cy="266700"/>
          </a:xfrm>
          <a:prstGeom prst="rect">
            <a:avLst/>
          </a:prstGeom>
          <a:solidFill>
            <a:srgbClr val="2C55A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53350" y="3219450"/>
            <a:ext cx="581025" cy="266700"/>
          </a:xfrm>
          <a:prstGeom prst="rect">
            <a:avLst/>
          </a:prstGeom>
          <a:solidFill>
            <a:srgbClr val="4A8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34375" y="3219450"/>
            <a:ext cx="1762125" cy="26670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096500" y="3219450"/>
            <a:ext cx="1171575" cy="266700"/>
          </a:xfrm>
          <a:prstGeom prst="rect">
            <a:avLst/>
          </a:prstGeom>
          <a:solidFill>
            <a:srgbClr val="9CC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48150" y="3657600"/>
            <a:ext cx="7048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1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循迹完成度 20 ｜ 速度与停车精度 20 ｜ 系统稳定性 10 ｜ 项目方案 10 ｜ 现场测试 10 ｜ </a:t>
            </a:r>
            <a:r>
              <a:rPr sz="11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现场答辩 30</a:t>
            </a:r>
            <a:r>
              <a:rPr sz="11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 ｜ 学习过程记录 20</a:t>
            </a:r>
            <a:endParaRPr sz="11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48150" y="4305300"/>
            <a:ext cx="7048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A3D91"/>
                </a:solidFill>
                <a:latin typeface="微软雅黑" panose="020B0503020204020204" charset="-122"/>
                <a:ea typeface="微软雅黑" panose="020B0503020204020204" charset="-122"/>
              </a:rPr>
              <a:t>答辩 30 分为单项最高 —— 讲得清原理，比跑得快更重要</a:t>
            </a:r>
            <a:endParaRPr sz="1300" b="1">
              <a:solidFill>
                <a:srgbClr val="0A3D9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248150" y="4762500"/>
            <a:ext cx="7048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答辩要点：循迹方案与传感器布局 ｜ 电机驱动与速度调节 ｜ 程序流程与关键代码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80000"/>
              </a:lnSpc>
            </a:pPr>
            <a:r>
              <a:rPr sz="110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调试问题定位与改进 ｜ 小组分工说明 ｜ 失败情况的处理思路</a:t>
            </a:r>
            <a:endParaRPr sz="110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66750" y="6305550"/>
            <a:ext cx="10858500" cy="9525"/>
          </a:xfrm>
          <a:prstGeom prst="rect">
            <a:avLst/>
          </a:prstGeom>
          <a:solidFill>
            <a:srgbClr val="D5E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6750" y="6419850"/>
            <a:ext cx="571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电子信息协会 · 2026 电赛选拔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620250" y="6419850"/>
            <a:ext cx="1905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0">
                <a:solidFill>
                  <a:srgbClr val="5A6B85"/>
                </a:solidFill>
                <a:latin typeface="微软雅黑" panose="020B0503020204020204" charset="-122"/>
                <a:ea typeface="微软雅黑" panose="020B0503020204020204" charset="-122"/>
              </a:rPr>
              <a:t>14 / 16</a:t>
            </a:r>
            <a:endParaRPr sz="1050" b="0">
              <a:solidFill>
                <a:srgbClr val="5A6B85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5E">
              <a:alpha val="8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1428750"/>
            <a:ext cx="47625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0" b="1">
                <a:solidFill>
                  <a:srgbClr val="54749F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sz="9000" b="1">
              <a:solidFill>
                <a:srgbClr val="54749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00100" y="2952750"/>
            <a:ext cx="685800" cy="571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3200400"/>
            <a:ext cx="10668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考核纪律与寄语</a:t>
            </a:r>
            <a:endParaRPr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00100" y="4000500"/>
            <a:ext cx="10668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守住红线，才能走得更远</a:t>
            </a:r>
            <a:endParaRPr sz="16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0100" y="4629150"/>
            <a:ext cx="104775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0000"/>
              </a:lnSpc>
            </a:pPr>
            <a:r>
              <a:rPr sz="12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允许查阅公开资料、芯片手册，允许小组讨论与协作，但必须如实说明分工</a:t>
            </a:r>
            <a:endParaRPr sz="12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允许使用代码补全工具与第三方库，核心代码必须独立完成并能解释</a:t>
            </a:r>
            <a:endParaRPr sz="12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禁止测试过程中人工干预、遥控小车或借助场外人员操作</a:t>
            </a:r>
            <a:endParaRPr sz="12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90000"/>
              </a:lnSpc>
            </a:pPr>
            <a:r>
              <a:rPr sz="12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· 禁止直接使用他人完整作品冒充成果，违者取消考核资格</a:t>
            </a:r>
            <a:endParaRPr sz="12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40415" y="6442075"/>
            <a:ext cx="1251585" cy="3683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2026.10.11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robot_c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5E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429500" cy="6858000"/>
          </a:xfrm>
          <a:prstGeom prst="rect">
            <a:avLst/>
          </a:prstGeom>
          <a:solidFill>
            <a:srgbClr val="0A2A5E">
              <a:alpha val="4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666750"/>
            <a:ext cx="1809750" cy="28575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F5A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666750"/>
            <a:ext cx="1809750" cy="2857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第二次考核 · 综合任务</a:t>
            </a:r>
            <a:endParaRPr sz="1150" b="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1162050"/>
            <a:ext cx="666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循迹小车考核</a:t>
            </a:r>
            <a:endParaRPr sz="3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2000" y="1828800"/>
            <a:ext cx="59055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个人或 2–3 人小组，设计制作一台轮式循迹小车。这是传感器、驱动电路、嵌入式程序与机械结构的</a:t>
            </a:r>
            <a:r>
              <a:rPr sz="135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综合调试大考</a:t>
            </a:r>
            <a:r>
              <a:rPr sz="13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sz="13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62000" y="3048000"/>
            <a:ext cx="1028700" cy="342900"/>
          </a:xfrm>
          <a:prstGeom prst="roundRect">
            <a:avLst>
              <a:gd name="adj" fmla="val 50000"/>
            </a:avLst>
          </a:prstGeom>
          <a:solidFill>
            <a:srgbClr val="7FB3F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2000" y="3048000"/>
            <a:ext cx="10287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 点出发</a:t>
            </a:r>
            <a:endParaRPr sz="11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09750" y="3048000"/>
            <a:ext cx="2095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160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038350" y="3048000"/>
            <a:ext cx="1028700" cy="342900"/>
          </a:xfrm>
          <a:prstGeom prst="roundRect">
            <a:avLst>
              <a:gd name="adj" fmla="val 50000"/>
            </a:avLst>
          </a:prstGeom>
          <a:solidFill>
            <a:srgbClr val="7FB3F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38350" y="3048000"/>
            <a:ext cx="10287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按键启动</a:t>
            </a:r>
            <a:endParaRPr sz="11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86100" y="3048000"/>
            <a:ext cx="2095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160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3314700" y="3048000"/>
            <a:ext cx="1676400" cy="342900"/>
          </a:xfrm>
          <a:prstGeom prst="roundRect">
            <a:avLst>
              <a:gd name="adj" fmla="val 50000"/>
            </a:avLst>
          </a:prstGeom>
          <a:solidFill>
            <a:srgbClr val="7FB3F0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4700" y="3048000"/>
            <a:ext cx="167640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沿黑线顺时针一圈</a:t>
            </a:r>
            <a:endParaRPr sz="11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10150" y="3048000"/>
            <a:ext cx="2095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</a:rPr>
              <a:t>›</a:t>
            </a:r>
            <a:endParaRPr sz="1600" b="1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238750" y="3048000"/>
            <a:ext cx="1428750" cy="342900"/>
          </a:xfrm>
          <a:prstGeom prst="roundRect">
            <a:avLst>
              <a:gd name="adj" fmla="val 50000"/>
            </a:avLst>
          </a:prstGeom>
          <a:solidFill>
            <a:srgbClr val="F5A623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8750" y="3048000"/>
            <a:ext cx="1428750" cy="342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A2A5E"/>
                </a:solidFill>
                <a:latin typeface="微软雅黑" panose="020B0503020204020204" charset="-122"/>
                <a:ea typeface="微软雅黑" panose="020B0503020204020204" charset="-122"/>
              </a:rPr>
              <a:t>回到 A 点停车</a:t>
            </a:r>
            <a:endParaRPr sz="1150" b="1">
              <a:solidFill>
                <a:srgbClr val="0A2A5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62000" y="5715000"/>
            <a:ext cx="1066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赛道参照 2026 年电赛 H 题：黑线宽 1.8±0.2 cm ｜ 直线段 1.5 m × 2 ｜ 半圆弯道 R0.5 m × 2</a:t>
            </a:r>
            <a:endParaRPr sz="115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2000" y="6038850"/>
            <a:ext cx="106680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行驶全程不得遥控或人工干预 ｜ 预计第二学期开学第三周组织测评</a:t>
            </a:r>
            <a:endParaRPr sz="1150" b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0940415" y="6442075"/>
            <a:ext cx="1251585" cy="3683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2026.10.11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cover_b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effectLst/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2A5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762500" y="1714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53300" y="17145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91100" y="1647825"/>
            <a:ext cx="2209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7FB3F0"/>
                </a:solidFill>
                <a:latin typeface="微软雅黑" panose="020B0503020204020204" charset="-122"/>
                <a:ea typeface="微软雅黑" panose="020B0503020204020204" charset="-122"/>
              </a:rPr>
              <a:t>电子信息协会 · 2026 电赛选拔</a:t>
            </a:r>
            <a:endParaRPr sz="1250" b="0">
              <a:solidFill>
                <a:srgbClr val="7FB3F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33500" y="2381250"/>
            <a:ext cx="9525000" cy="1619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把每一周学扎实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40000"/>
              </a:lnSpc>
            </a:pPr>
            <a:r>
              <a:rPr sz="40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赛场自然有答案</a:t>
            </a:r>
            <a:endParaRPr sz="40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753100" y="4267200"/>
            <a:ext cx="685800" cy="57150"/>
          </a:xfrm>
          <a:prstGeom prst="rect">
            <a:avLst/>
          </a:prstGeom>
          <a:solidFill>
            <a:srgbClr val="F5A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3500" y="4629150"/>
            <a:ext cx="9525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B9CFF2"/>
                </a:solidFill>
                <a:latin typeface="微软雅黑" panose="020B0503020204020204" charset="-122"/>
                <a:ea typeface="微软雅黑" panose="020B0503020204020204" charset="-122"/>
              </a:rPr>
              <a:t>期待在赛道上见到你的作品 —— 选拔，从现在开始</a:t>
            </a:r>
            <a:endParaRPr sz="1500" b="0">
              <a:solidFill>
                <a:srgbClr val="B9CFF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40415" y="6442075"/>
            <a:ext cx="1251585" cy="36830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</a:rPr>
              <a:t>2026.10.11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2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3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4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5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6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7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8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9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10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11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12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13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14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15.xml><?xml version="1.0" encoding="utf-8"?>
<p:tagLst xmlns:p="http://schemas.openxmlformats.org/presentationml/2006/main">
  <p:tag name="KSO_WM_DIAGRAM_VIRTUALLY_FRAME" val="{&quot;height&quot;:393,&quot;left&quot;:345,&quot;top&quot;:49.5,&quot;width&quot;:562.5}"/>
</p:tagLst>
</file>

<file path=ppt/tags/tag16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17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18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19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20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21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22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23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24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25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26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27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28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29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ags/tag30.xml><?xml version="1.0" encoding="utf-8"?>
<p:tagLst xmlns:p="http://schemas.openxmlformats.org/presentationml/2006/main">
  <p:tag name="KSO_WM_DIAGRAM_VIRTUALLY_FRAME" val="{&quot;height&quot;:288,&quot;left&quot;:52.5,&quot;top&quot;:105,&quot;width&quot;:85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3686</Words>
  <Application>WPS 演示</Application>
  <PresentationFormat>On-screen Show (4:3)</PresentationFormat>
  <Paragraphs>441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/>
  <cp:revision>2</cp:revision>
  <dcterms:created xsi:type="dcterms:W3CDTF">2013-01-27T09:14:00Z</dcterms:created>
  <dcterms:modified xsi:type="dcterms:W3CDTF">2026-10-07T11:25:17Z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D75FE8B6947C4D6191C2C98C68D4CD49_12</vt:lpwstr>
  </property>
</Properties>
</file>